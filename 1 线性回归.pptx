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1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89" r:id="rId3"/>
    <p:sldId id="304" r:id="rId4"/>
    <p:sldId id="317" r:id="rId5"/>
    <p:sldId id="363" r:id="rId6"/>
    <p:sldId id="364" r:id="rId7"/>
    <p:sldId id="365" r:id="rId8"/>
    <p:sldId id="394" r:id="rId9"/>
    <p:sldId id="368" r:id="rId10"/>
    <p:sldId id="367" r:id="rId11"/>
    <p:sldId id="381" r:id="rId12"/>
    <p:sldId id="382" r:id="rId13"/>
    <p:sldId id="372" r:id="rId14"/>
    <p:sldId id="370" r:id="rId15"/>
    <p:sldId id="390" r:id="rId16"/>
    <p:sldId id="391" r:id="rId17"/>
    <p:sldId id="392" r:id="rId18"/>
    <p:sldId id="338" r:id="rId19"/>
    <p:sldId id="339" r:id="rId20"/>
    <p:sldId id="340" r:id="rId21"/>
    <p:sldId id="341" r:id="rId22"/>
    <p:sldId id="330" r:id="rId23"/>
    <p:sldId id="342" r:id="rId24"/>
    <p:sldId id="373" r:id="rId25"/>
    <p:sldId id="380" r:id="rId26"/>
    <p:sldId id="386" r:id="rId27"/>
    <p:sldId id="343" r:id="rId28"/>
    <p:sldId id="374" r:id="rId29"/>
    <p:sldId id="375" r:id="rId30"/>
    <p:sldId id="378" r:id="rId31"/>
    <p:sldId id="384" r:id="rId32"/>
    <p:sldId id="385" r:id="rId33"/>
    <p:sldId id="393" r:id="rId34"/>
    <p:sldId id="379" r:id="rId35"/>
    <p:sldId id="291" r:id="rId36"/>
    <p:sldId id="395" r:id="rId3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7" autoAdjust="0"/>
    <p:restoredTop sz="94073" autoAdjust="0"/>
  </p:normalViewPr>
  <p:slideViewPr>
    <p:cSldViewPr snapToGrid="0">
      <p:cViewPr varScale="1">
        <p:scale>
          <a:sx n="83" d="100"/>
          <a:sy n="83" d="100"/>
        </p:scale>
        <p:origin x="1200" y="4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C0D3C-9D97-48B3-A8BD-2F8412874814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F5848-695C-4954-8FA3-37BB77D7C2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75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288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47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400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048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鄭凱文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591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/>
              <a:t>Don’t worry. In linear regression, the loss function L is convex.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400" dirty="0"/>
              <a:t>No local minima</a:t>
            </a:r>
            <a:endParaRPr lang="zh-TW" altLang="en-US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400" dirty="0"/>
              <a:t>Questions: image you are playing AOC</a:t>
            </a:r>
          </a:p>
          <a:p>
            <a:endParaRPr lang="en-US" altLang="zh-TW" sz="2400" dirty="0"/>
          </a:p>
          <a:p>
            <a:r>
              <a:rPr lang="en-US" altLang="zh-TW" sz="2400" dirty="0"/>
              <a:t>A network can have millions of parameters.</a:t>
            </a:r>
          </a:p>
          <a:p>
            <a:pPr lvl="1"/>
            <a:r>
              <a:rPr lang="en-US" altLang="zh-TW" dirty="0"/>
              <a:t>Backpropagation is the way to compute the gradients efficiently (not today)</a:t>
            </a:r>
          </a:p>
          <a:p>
            <a:pPr lvl="1"/>
            <a:r>
              <a:rPr lang="en-US" altLang="zh-TW" dirty="0"/>
              <a:t>Ref: http://speech.ee.ntu.edu.tw/~tlkagk/courses/MLDS_2015_2/Lecture/DNN%20backprop.ecm.mp4/index.html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821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45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963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382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58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6588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43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http://python.ntu.edu.tw/user/tlkagk/notebooks/Gradient%20Descent%20Demo.ipynb</a:t>
            </a:r>
          </a:p>
          <a:p>
            <a:endParaRPr lang="en-US" altLang="zh-TW" dirty="0"/>
          </a:p>
          <a:p>
            <a:r>
              <a:rPr lang="en-US" altLang="zh-TW" dirty="0"/>
              <a:t>Demo?????????????????????????????????????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AF5848-695C-4954-8FA3-37BB77D7C21E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239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128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89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86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178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98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86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63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337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89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60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8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DB1B2-B2BD-4E0F-92D8-71067FCAE6E8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443B-442A-463B-BDF5-DE4EAAEF41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51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5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8.xml"/><Relationship Id="rId7" Type="http://schemas.openxmlformats.org/officeDocument/2006/relationships/image" Target="../media/image30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3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tags" Target="../tags/tag11.xml"/><Relationship Id="rId21" Type="http://schemas.openxmlformats.org/officeDocument/2006/relationships/image" Target="../media/image37.png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tags" Target="../tags/tag18.xml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8" Type="http://schemas.openxmlformats.org/officeDocument/2006/relationships/tags" Target="../tags/tag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27.xml"/><Relationship Id="rId7" Type="http://schemas.openxmlformats.org/officeDocument/2006/relationships/image" Target="../media/image35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5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51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3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tags" Target="../tags/tag34.xml"/><Relationship Id="rId7" Type="http://schemas.openxmlformats.org/officeDocument/2006/relationships/image" Target="../media/image391.png"/><Relationship Id="rId12" Type="http://schemas.openxmlformats.org/officeDocument/2006/relationships/image" Target="../media/image58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2.xml"/><Relationship Id="rId11" Type="http://schemas.openxmlformats.org/officeDocument/2006/relationships/image" Target="../media/image5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6.png"/><Relationship Id="rId4" Type="http://schemas.openxmlformats.org/officeDocument/2006/relationships/tags" Target="../tags/tag35.xml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image" Target="../media/image461.png"/><Relationship Id="rId18" Type="http://schemas.openxmlformats.org/officeDocument/2006/relationships/image" Target="../media/image63.png"/><Relationship Id="rId3" Type="http://schemas.openxmlformats.org/officeDocument/2006/relationships/tags" Target="../tags/tag38.xml"/><Relationship Id="rId21" Type="http://schemas.openxmlformats.org/officeDocument/2006/relationships/image" Target="../media/image66.png"/><Relationship Id="rId7" Type="http://schemas.openxmlformats.org/officeDocument/2006/relationships/tags" Target="../tags/tag42.xml"/><Relationship Id="rId12" Type="http://schemas.openxmlformats.org/officeDocument/2006/relationships/notesSlide" Target="../notesSlides/notesSlide3.xml"/><Relationship Id="rId17" Type="http://schemas.openxmlformats.org/officeDocument/2006/relationships/image" Target="../media/image62.png"/><Relationship Id="rId2" Type="http://schemas.openxmlformats.org/officeDocument/2006/relationships/tags" Target="../tags/tag37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tags" Target="../tags/tag45.xml"/><Relationship Id="rId19" Type="http://schemas.openxmlformats.org/officeDocument/2006/relationships/image" Target="../media/image64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1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image" Target="../media/image69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image" Target="../media/image43.png"/><Relationship Id="rId5" Type="http://schemas.openxmlformats.org/officeDocument/2006/relationships/tags" Target="../tags/tag50.xml"/><Relationship Id="rId15" Type="http://schemas.openxmlformats.org/officeDocument/2006/relationships/image" Target="../media/image70.png"/><Relationship Id="rId10" Type="http://schemas.openxmlformats.org/officeDocument/2006/relationships/image" Target="../media/image41.png"/><Relationship Id="rId4" Type="http://schemas.openxmlformats.org/officeDocument/2006/relationships/tags" Target="../tags/tag49.xml"/><Relationship Id="rId9" Type="http://schemas.openxmlformats.org/officeDocument/2006/relationships/image" Target="../media/image38.png"/><Relationship Id="rId1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00.png"/><Relationship Id="rId7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71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410.png"/><Relationship Id="rId5" Type="http://schemas.openxmlformats.org/officeDocument/2006/relationships/image" Target="../media/image71.wmf"/><Relationship Id="rId10" Type="http://schemas.openxmlformats.org/officeDocument/2006/relationships/image" Target="../media/image53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11" Type="http://schemas.openxmlformats.org/officeDocument/2006/relationships/image" Target="../media/image410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70.png"/><Relationship Id="rId4" Type="http://schemas.openxmlformats.org/officeDocument/2006/relationships/image" Target="../media/image500.png"/><Relationship Id="rId9" Type="http://schemas.openxmlformats.org/officeDocument/2006/relationships/image" Target="../media/image2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7" Type="http://schemas.openxmlformats.org/officeDocument/2006/relationships/image" Target="../media/image441.png"/><Relationship Id="rId12" Type="http://schemas.openxmlformats.org/officeDocument/2006/relationships/image" Target="../media/image4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11" Type="http://schemas.openxmlformats.org/officeDocument/2006/relationships/image" Target="../media/image450.png"/><Relationship Id="rId5" Type="http://schemas.openxmlformats.org/officeDocument/2006/relationships/image" Target="../media/image420.png"/><Relationship Id="rId10" Type="http://schemas.openxmlformats.org/officeDocument/2006/relationships/image" Target="../media/image670.png"/><Relationship Id="rId4" Type="http://schemas.openxmlformats.org/officeDocument/2006/relationships/image" Target="../media/image411.png"/><Relationship Id="rId9" Type="http://schemas.openxmlformats.org/officeDocument/2006/relationships/image" Target="../media/image6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700.png"/><Relationship Id="rId4" Type="http://schemas.openxmlformats.org/officeDocument/2006/relationships/image" Target="../media/image69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77.png"/><Relationship Id="rId18" Type="http://schemas.openxmlformats.org/officeDocument/2006/relationships/image" Target="../media/image81.pn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76.png"/><Relationship Id="rId17" Type="http://schemas.openxmlformats.org/officeDocument/2006/relationships/image" Target="../media/image80.png"/><Relationship Id="rId2" Type="http://schemas.openxmlformats.org/officeDocument/2006/relationships/tags" Target="../tags/tag54.xml"/><Relationship Id="rId16" Type="http://schemas.openxmlformats.org/officeDocument/2006/relationships/image" Target="../media/image79.png"/><Relationship Id="rId20" Type="http://schemas.openxmlformats.org/officeDocument/2006/relationships/image" Target="../media/image440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350.png"/><Relationship Id="rId5" Type="http://schemas.openxmlformats.org/officeDocument/2006/relationships/tags" Target="../tags/tag57.xml"/><Relationship Id="rId15" Type="http://schemas.openxmlformats.org/officeDocument/2006/relationships/image" Target="../media/image390.png"/><Relationship Id="rId10" Type="http://schemas.openxmlformats.org/officeDocument/2006/relationships/image" Target="../media/image75.png"/><Relationship Id="rId19" Type="http://schemas.openxmlformats.org/officeDocument/2006/relationships/image" Target="../media/image82.png"/><Relationship Id="rId4" Type="http://schemas.openxmlformats.org/officeDocument/2006/relationships/tags" Target="../tags/tag56.xml"/><Relationship Id="rId9" Type="http://schemas.openxmlformats.org/officeDocument/2006/relationships/image" Target="../media/image74.png"/><Relationship Id="rId1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86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tags" Target="../tags/tag65.xml"/><Relationship Id="rId16" Type="http://schemas.openxmlformats.org/officeDocument/2006/relationships/image" Target="../media/image92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87.png"/><Relationship Id="rId5" Type="http://schemas.openxmlformats.org/officeDocument/2006/relationships/tags" Target="../tags/tag68.xml"/><Relationship Id="rId15" Type="http://schemas.openxmlformats.org/officeDocument/2006/relationships/image" Target="../media/image91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95.pn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0.png"/><Relationship Id="rId13" Type="http://schemas.openxmlformats.org/officeDocument/2006/relationships/image" Target="../media/image750.png"/><Relationship Id="rId3" Type="http://schemas.openxmlformats.org/officeDocument/2006/relationships/image" Target="../media/image490.png"/><Relationship Id="rId7" Type="http://schemas.openxmlformats.org/officeDocument/2006/relationships/image" Target="../media/image620.png"/><Relationship Id="rId12" Type="http://schemas.openxmlformats.org/officeDocument/2006/relationships/image" Target="../media/image74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image" Target="../media/image730.png"/><Relationship Id="rId5" Type="http://schemas.openxmlformats.org/officeDocument/2006/relationships/image" Target="../media/image560.png"/><Relationship Id="rId15" Type="http://schemas.openxmlformats.org/officeDocument/2006/relationships/image" Target="../media/image770.png"/><Relationship Id="rId10" Type="http://schemas.openxmlformats.org/officeDocument/2006/relationships/image" Target="../media/image680.png"/><Relationship Id="rId4" Type="http://schemas.openxmlformats.org/officeDocument/2006/relationships/image" Target="../media/image520.png"/><Relationship Id="rId9" Type="http://schemas.openxmlformats.org/officeDocument/2006/relationships/image" Target="../media/image650.png"/><Relationship Id="rId14" Type="http://schemas.openxmlformats.org/officeDocument/2006/relationships/image" Target="../media/image7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tags" Target="../tags/tag76.xml"/><Relationship Id="rId7" Type="http://schemas.openxmlformats.org/officeDocument/2006/relationships/image" Target="../media/image10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04.png"/><Relationship Id="rId4" Type="http://schemas.openxmlformats.org/officeDocument/2006/relationships/tags" Target="../tags/tag77.xml"/><Relationship Id="rId9" Type="http://schemas.openxmlformats.org/officeDocument/2006/relationships/image" Target="../media/image10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tags" Target="../tags/tag80.xml"/><Relationship Id="rId7" Type="http://schemas.openxmlformats.org/officeDocument/2006/relationships/image" Target="../media/image105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09.png"/><Relationship Id="rId5" Type="http://schemas.openxmlformats.org/officeDocument/2006/relationships/tags" Target="../tags/tag82.xml"/><Relationship Id="rId10" Type="http://schemas.openxmlformats.org/officeDocument/2006/relationships/image" Target="../media/image108.png"/><Relationship Id="rId4" Type="http://schemas.openxmlformats.org/officeDocument/2006/relationships/tags" Target="../tags/tag81.xml"/><Relationship Id="rId9" Type="http://schemas.openxmlformats.org/officeDocument/2006/relationships/image" Target="../media/image10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3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112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11.png"/><Relationship Id="rId5" Type="http://schemas.openxmlformats.org/officeDocument/2006/relationships/tags" Target="../tags/tag87.xml"/><Relationship Id="rId15" Type="http://schemas.openxmlformats.org/officeDocument/2006/relationships/image" Target="../media/image116.png"/><Relationship Id="rId10" Type="http://schemas.openxmlformats.org/officeDocument/2006/relationships/image" Target="../media/image110.png"/><Relationship Id="rId4" Type="http://schemas.openxmlformats.org/officeDocument/2006/relationships/tags" Target="../tags/tag86.xml"/><Relationship Id="rId9" Type="http://schemas.openxmlformats.org/officeDocument/2006/relationships/notesSlide" Target="../notesSlides/notesSlide12.xml"/><Relationship Id="rId14" Type="http://schemas.openxmlformats.org/officeDocument/2006/relationships/image" Target="../media/image1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tags" Target="../tags/tag92.xml"/><Relationship Id="rId7" Type="http://schemas.openxmlformats.org/officeDocument/2006/relationships/image" Target="../media/image117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20.png"/><Relationship Id="rId4" Type="http://schemas.openxmlformats.org/officeDocument/2006/relationships/tags" Target="../tags/tag93.xml"/><Relationship Id="rId9" Type="http://schemas.openxmlformats.org/officeDocument/2006/relationships/image" Target="../media/image1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  <a:br>
              <a:rPr lang="en-US" altLang="zh-CN" dirty="0"/>
            </a:br>
            <a:r>
              <a:rPr lang="en-US" altLang="zh-TW" dirty="0"/>
              <a:t>Regression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400" dirty="0"/>
              <a:t>舒欣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6729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8504E-E0CB-CAC0-9214-07BC12C0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94" y="89169"/>
            <a:ext cx="7886700" cy="1325563"/>
          </a:xfrm>
        </p:spPr>
        <p:txBody>
          <a:bodyPr/>
          <a:lstStyle/>
          <a:p>
            <a:r>
              <a:rPr lang="zh-CN" altLang="en-US" dirty="0"/>
              <a:t>教学内容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051C7-226D-2CC3-4903-A3744665D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6754" y="3905161"/>
            <a:ext cx="4397675" cy="2133600"/>
          </a:xfrm>
        </p:spPr>
        <p:txBody>
          <a:bodyPr>
            <a:normAutofit fontScale="70000" lnSpcReduction="2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机器学习建模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机器学习模型训练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机器学习模型使用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BD04C16-8062-5EA1-3011-E9EBC6152FAA}"/>
              </a:ext>
            </a:extLst>
          </p:cNvPr>
          <p:cNvSpPr txBox="1">
            <a:spLocks/>
          </p:cNvSpPr>
          <p:nvPr/>
        </p:nvSpPr>
        <p:spPr>
          <a:xfrm>
            <a:off x="324389" y="1088366"/>
            <a:ext cx="8127161" cy="1817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数据集、特征、标记信息、训练数据、测试数据</a:t>
            </a:r>
            <a:endParaRPr lang="en-US" altLang="zh-CN" dirty="0"/>
          </a:p>
          <a:p>
            <a:r>
              <a:rPr lang="zh-CN" altLang="en-US" dirty="0"/>
              <a:t>线性回归定义、建模、求解</a:t>
            </a:r>
            <a:endParaRPr lang="en-US" altLang="zh-CN" dirty="0"/>
          </a:p>
          <a:p>
            <a:r>
              <a:rPr lang="zh-CN" altLang="en-US" dirty="0"/>
              <a:t>正则化线性回归</a:t>
            </a:r>
            <a:endParaRPr lang="en-US" altLang="zh-CN" dirty="0"/>
          </a:p>
          <a:p>
            <a:r>
              <a:rPr lang="zh-CN" altLang="en-US" dirty="0"/>
              <a:t>掌握梯度和随机梯度下降法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0BB71C2F-E2B0-982E-FE0E-79DC7ADE44EC}"/>
              </a:ext>
            </a:extLst>
          </p:cNvPr>
          <p:cNvSpPr/>
          <p:nvPr/>
        </p:nvSpPr>
        <p:spPr>
          <a:xfrm>
            <a:off x="3094007" y="3102634"/>
            <a:ext cx="1253706" cy="14607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8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线性回归 </a:t>
                </a:r>
                <a14:m>
                  <m:oMath xmlns:m="http://schemas.openxmlformats.org/officeDocument/2006/math">
                    <m:r>
                      <a:rPr lang="en-US" altLang="zh-TW" sz="4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4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: </a:t>
                </a:r>
                <a:r>
                  <a:rPr lang="zh-CN" altLang="en-US" dirty="0"/>
                  <a:t>输出一个标量值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4064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金融市场预测</a:t>
            </a:r>
            <a:endParaRPr lang="en-US" altLang="zh-TW" sz="2400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CN" altLang="en-US" sz="2400" dirty="0"/>
              <a:t>自动驾驶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sz="2400" dirty="0"/>
          </a:p>
          <a:p>
            <a:r>
              <a:rPr lang="zh-CN" altLang="en-US" sz="2400" dirty="0"/>
              <a:t>推荐系统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227006" y="2634599"/>
                <a:ext cx="33113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006" y="2634599"/>
                <a:ext cx="331135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5569327" y="2635135"/>
            <a:ext cx="1492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明日估值</a:t>
            </a:r>
            <a:endParaRPr lang="zh-TW" altLang="en-US" sz="2400" dirty="0"/>
          </a:p>
        </p:txBody>
      </p:sp>
      <p:pic>
        <p:nvPicPr>
          <p:cNvPr id="30722" name="Picture 2" descr="「股票走勢」的圖片搜尋結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182" y="2345600"/>
            <a:ext cx="1710812" cy="104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227006" y="4274051"/>
                <a:ext cx="33113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006" y="4274051"/>
                <a:ext cx="331135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2024378" y="5652410"/>
                <a:ext cx="37826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      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        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378" y="5652410"/>
                <a:ext cx="378263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24" name="Picture 4" descr="「self driving cars sensors」的圖片搜尋結果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627" y="3938162"/>
            <a:ext cx="1517922" cy="115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5569327" y="4249027"/>
            <a:ext cx="1711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方向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盘角度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612649" y="5658564"/>
            <a:ext cx="1430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使用者 </a:t>
            </a:r>
            <a:r>
              <a:rPr lang="en-US" altLang="zh-TW" sz="2400" dirty="0"/>
              <a:t>A,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967456" y="5652410"/>
            <a:ext cx="113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商品 </a:t>
            </a:r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946194" y="5632085"/>
            <a:ext cx="1711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购买可能性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7185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  <p:bldP spid="6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1147" y="116650"/>
            <a:ext cx="7886700" cy="1325563"/>
          </a:xfrm>
        </p:spPr>
        <p:txBody>
          <a:bodyPr/>
          <a:lstStyle/>
          <a:p>
            <a:r>
              <a:rPr lang="zh-CN" altLang="en-US" dirty="0"/>
              <a:t>应用案例</a:t>
            </a:r>
            <a:endParaRPr lang="zh-TW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25" y="1120846"/>
            <a:ext cx="8534400" cy="423862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92696" y="5804452"/>
            <a:ext cx="1222513" cy="487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价格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3"/>
              <p:cNvSpPr txBox="1"/>
              <p:nvPr/>
            </p:nvSpPr>
            <p:spPr>
              <a:xfrm>
                <a:off x="2630299" y="5816147"/>
                <a:ext cx="590497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                     ,       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a:rPr lang="en-US" altLang="zh-TW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299" y="5816147"/>
                <a:ext cx="590497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3462129" y="5817706"/>
            <a:ext cx="1437862" cy="487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居住面积</a:t>
            </a:r>
          </a:p>
        </p:txBody>
      </p:sp>
      <p:sp>
        <p:nvSpPr>
          <p:cNvPr id="27" name="矩形 26"/>
          <p:cNvSpPr/>
          <p:nvPr/>
        </p:nvSpPr>
        <p:spPr>
          <a:xfrm>
            <a:off x="5204791" y="5801143"/>
            <a:ext cx="1222513" cy="487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卧室数</a:t>
            </a:r>
          </a:p>
        </p:txBody>
      </p:sp>
    </p:spTree>
    <p:extLst>
      <p:ext uri="{BB962C8B-B14F-4D97-AF65-F5344CB8AC3E}">
        <p14:creationId xmlns:p14="http://schemas.microsoft.com/office/powerpoint/2010/main" val="154637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endParaRPr lang="zh-TW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87626" y="894522"/>
            <a:ext cx="834887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定义：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输出值</a:t>
            </a:r>
            <a:r>
              <a:rPr lang="zh-CN" altLang="en-US" sz="2400" dirty="0">
                <a:latin typeface="+mn-ea"/>
              </a:rPr>
              <a:t>与各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变量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特征、属性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之间是线性关系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061" y="1405882"/>
            <a:ext cx="4567379" cy="226839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871791" y="1719470"/>
            <a:ext cx="377687" cy="2782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40630" y="1742664"/>
            <a:ext cx="871327" cy="25510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83900" y="1706223"/>
            <a:ext cx="708987" cy="29154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4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endParaRPr lang="zh-TW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21146" y="788932"/>
            <a:ext cx="834887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定义：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输出值</a:t>
            </a:r>
            <a:r>
              <a:rPr lang="zh-CN" altLang="en-US" sz="2400" dirty="0">
                <a:latin typeface="+mn-ea"/>
              </a:rPr>
              <a:t>与各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变量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特征、属性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之前是线性关系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061" y="1405882"/>
            <a:ext cx="4567379" cy="226839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871791" y="1719470"/>
            <a:ext cx="377687" cy="2782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40630" y="1742664"/>
            <a:ext cx="871327" cy="25510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83900" y="1706223"/>
            <a:ext cx="708987" cy="29154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30" y="2402371"/>
            <a:ext cx="4632254" cy="30992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71" y="4303640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问题</a:t>
            </a:r>
            <a:r>
              <a:rPr lang="zh-CN" altLang="en-US" sz="2400" dirty="0"/>
              <a:t>：如何确定参数</a:t>
            </a:r>
          </a:p>
        </p:txBody>
      </p:sp>
      <p:pic>
        <p:nvPicPr>
          <p:cNvPr id="16" name="图片 15" descr="\documentclass{article}&#10;\usepackage{amsmath}&#10;\pagestyle{empty}&#10;\begin{document}&#10;&#10;&#10;$$w_1,w_2,b$$&#10;&#10;\end{document}" title="IguanaTex Bitmap Display">
            <a:extLst>
              <a:ext uri="{FF2B5EF4-FFF2-40B4-BE49-F238E27FC236}">
                <a16:creationId xmlns:a16="http://schemas.microsoft.com/office/drawing/2014/main" id="{45A8BBDF-0640-FA81-597E-B344CA4C7F6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260" y="4316982"/>
            <a:ext cx="1642972" cy="4032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38530" y="6192051"/>
            <a:ext cx="3806795" cy="36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0000"/>
                </a:solidFill>
              </a:rPr>
              <a:t>注：</a:t>
            </a:r>
            <a:r>
              <a:rPr lang="zh-CN" altLang="en-US" sz="1600" dirty="0"/>
              <a:t>特征、变量、属性  均为同一个概念</a:t>
            </a:r>
          </a:p>
        </p:txBody>
      </p:sp>
      <p:pic>
        <p:nvPicPr>
          <p:cNvPr id="10" name="图片 9" descr="\documentclass{article}&#10;\usepackage{amsmath}&#10;\pagestyle{empty}&#10;\begin{document}&#10;&#10;$&#10;y=w_1*x^{(1)}+w_2*x^{(2)}+b&#10;$&#10;&#10;&#10;\end{document}" title="IguanaTex Bitmap Display">
            <a:extLst>
              <a:ext uri="{FF2B5EF4-FFF2-40B4-BE49-F238E27FC236}">
                <a16:creationId xmlns:a16="http://schemas.microsoft.com/office/drawing/2014/main" id="{1FD22338-80CF-83BF-87B0-5DD323B8CA5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77" y="3144559"/>
            <a:ext cx="3087238" cy="27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8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\documentclass{article}&#10;\usepackage{amsmath}&#10;\pagestyle{empty}&#10;\begin{document}&#10;&#10;&#10;$\begin{array}{l}&#10;X=[x_1,x_2,\cdots,x_n]\in\mathbf{R}^{d\times n}\\&#10;y=[y_1,y_2,\cdots,y_n]^T\in\mathbf{R}^n&#10;\end{array}&#10;$&#10;\end{document}" title="IguanaTex Bitmap Display">
            <a:extLst>
              <a:ext uri="{FF2B5EF4-FFF2-40B4-BE49-F238E27FC236}">
                <a16:creationId xmlns:a16="http://schemas.microsoft.com/office/drawing/2014/main" id="{564C1A89-8BB5-1710-80C9-147C1AC3B7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32" y="5123387"/>
            <a:ext cx="4373880" cy="81290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DB47BCB-1749-4D75-9EE3-36151D10B84D}"/>
              </a:ext>
            </a:extLst>
          </p:cNvPr>
          <p:cNvCxnSpPr>
            <a:cxnSpLocks/>
          </p:cNvCxnSpPr>
          <p:nvPr/>
        </p:nvCxnSpPr>
        <p:spPr>
          <a:xfrm flipV="1">
            <a:off x="5899780" y="4918606"/>
            <a:ext cx="468352" cy="7398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E30CFC1-7359-71E8-6942-71B8CDEEC51A}"/>
              </a:ext>
            </a:extLst>
          </p:cNvPr>
          <p:cNvSpPr/>
          <p:nvPr/>
        </p:nvSpPr>
        <p:spPr>
          <a:xfrm>
            <a:off x="6368132" y="4664628"/>
            <a:ext cx="1048214" cy="324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数据矩阵</a:t>
            </a:r>
          </a:p>
        </p:txBody>
      </p:sp>
      <p:sp>
        <p:nvSpPr>
          <p:cNvPr id="10" name="右大括号 9">
            <a:extLst>
              <a:ext uri="{FF2B5EF4-FFF2-40B4-BE49-F238E27FC236}">
                <a16:creationId xmlns:a16="http://schemas.microsoft.com/office/drawing/2014/main" id="{6369881E-29F2-4CB7-8D08-FFA8BF30393A}"/>
              </a:ext>
            </a:extLst>
          </p:cNvPr>
          <p:cNvSpPr/>
          <p:nvPr/>
        </p:nvSpPr>
        <p:spPr>
          <a:xfrm>
            <a:off x="5696669" y="5113054"/>
            <a:ext cx="270815" cy="877229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266045A-688D-119A-F178-0230907A452C}"/>
              </a:ext>
            </a:extLst>
          </p:cNvPr>
          <p:cNvCxnSpPr/>
          <p:nvPr/>
        </p:nvCxnSpPr>
        <p:spPr>
          <a:xfrm>
            <a:off x="5147094" y="5486400"/>
            <a:ext cx="813217" cy="10696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2507359-CB06-565B-C50F-A30D9F74DE98}"/>
              </a:ext>
            </a:extLst>
          </p:cNvPr>
          <p:cNvSpPr/>
          <p:nvPr/>
        </p:nvSpPr>
        <p:spPr>
          <a:xfrm>
            <a:off x="5975600" y="6393711"/>
            <a:ext cx="1402860" cy="3924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维数</a:t>
            </a:r>
            <a:r>
              <a:rPr lang="en-US" altLang="zh-CN" sz="1400" dirty="0"/>
              <a:t>/</a:t>
            </a:r>
            <a:r>
              <a:rPr lang="zh-CN" altLang="en-US" sz="1400" dirty="0"/>
              <a:t>属性个数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789F0E-523F-911A-A745-11D96FF714E5}"/>
              </a:ext>
            </a:extLst>
          </p:cNvPr>
          <p:cNvSpPr/>
          <p:nvPr/>
        </p:nvSpPr>
        <p:spPr>
          <a:xfrm>
            <a:off x="4859544" y="6411580"/>
            <a:ext cx="769825" cy="3603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样本数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61FAC0D-2968-3533-6135-2E925D1B9A7D}"/>
              </a:ext>
            </a:extLst>
          </p:cNvPr>
          <p:cNvCxnSpPr>
            <a:cxnSpLocks/>
          </p:cNvCxnSpPr>
          <p:nvPr/>
        </p:nvCxnSpPr>
        <p:spPr>
          <a:xfrm>
            <a:off x="5138825" y="5782544"/>
            <a:ext cx="91262" cy="611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E7528A-0F3C-8D51-8C93-D185055F611A}"/>
                  </a:ext>
                </a:extLst>
              </p:cNvPr>
              <p:cNvSpPr txBox="1"/>
              <p:nvPr/>
            </p:nvSpPr>
            <p:spPr>
              <a:xfrm>
                <a:off x="205740" y="543523"/>
                <a:ext cx="8869680" cy="712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一个输入的样本，称为实例，通常使用特征向量来描述</a:t>
                </a:r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    其中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dirty="0"/>
                  <a:t>样本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的第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个特征。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/>
                  <a:t>为特征数目，称为维数</a:t>
                </a:r>
                <a:r>
                  <a:rPr lang="en-US" altLang="zh-CN" dirty="0"/>
                  <a:t>(dimension)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实例的输出通常记为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dirty="0"/>
                  <a:t>，其取值可以为离散值，也可以为连续值</a:t>
                </a: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通常将数据集分为训练集和测试集，训练集常记为</a:t>
                </a: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,⋯,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分别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dirty="0"/>
                  <a:t>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个样本及对应的输出，第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个样本的特征向量表示</a:t>
                </a:r>
                <a:endParaRPr lang="en-US" altLang="zh-CN" dirty="0"/>
              </a:p>
              <a:p>
                <a:endParaRPr lang="en-US" altLang="zh-CN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,⋯,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            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EE7528A-0F3C-8D51-8C93-D185055F6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543523"/>
                <a:ext cx="8869680" cy="7126566"/>
              </a:xfrm>
              <a:prstGeom prst="rect">
                <a:avLst/>
              </a:prstGeom>
              <a:blipFill>
                <a:blip r:embed="rId4"/>
                <a:stretch>
                  <a:fillRect l="-481" t="-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DAA83918-D95F-8A7F-FAD6-DA5DC7058116}"/>
              </a:ext>
            </a:extLst>
          </p:cNvPr>
          <p:cNvSpPr/>
          <p:nvPr/>
        </p:nvSpPr>
        <p:spPr>
          <a:xfrm>
            <a:off x="132273" y="86026"/>
            <a:ext cx="1826067" cy="3787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基本概念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D1821A-E7A2-8252-35F7-46E1B61CB40C}"/>
              </a:ext>
            </a:extLst>
          </p:cNvPr>
          <p:cNvSpPr txBox="1"/>
          <p:nvPr/>
        </p:nvSpPr>
        <p:spPr>
          <a:xfrm>
            <a:off x="5618778" y="753372"/>
            <a:ext cx="179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</a:t>
            </a:r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88B542-5632-09DB-EC13-2D668F3B9B64}"/>
              </a:ext>
            </a:extLst>
          </p:cNvPr>
          <p:cNvSpPr txBox="1"/>
          <p:nvPr/>
        </p:nvSpPr>
        <p:spPr>
          <a:xfrm>
            <a:off x="5680432" y="3851814"/>
            <a:ext cx="179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5911AF-35FF-55D4-781A-B9D690A97E77}"/>
              </a:ext>
            </a:extLst>
          </p:cNvPr>
          <p:cNvSpPr/>
          <p:nvPr/>
        </p:nvSpPr>
        <p:spPr>
          <a:xfrm>
            <a:off x="3910641" y="5302370"/>
            <a:ext cx="235789" cy="1897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42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03DE145-6747-3CB0-81B2-CDA701BA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1" y="974082"/>
            <a:ext cx="8855335" cy="43980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A88225-E5EC-89B4-51F1-E880BDFA6E9D}"/>
                  </a:ext>
                </a:extLst>
              </p:cNvPr>
              <p:cNvSpPr txBox="1"/>
              <p:nvPr/>
            </p:nvSpPr>
            <p:spPr>
              <a:xfrm>
                <a:off x="285750" y="2159000"/>
                <a:ext cx="419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A88225-E5EC-89B4-51F1-E880BDFA6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2159000"/>
                <a:ext cx="4191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9F4E29-8B11-5B90-165E-A5FB81B9E8FA}"/>
                  </a:ext>
                </a:extLst>
              </p:cNvPr>
              <p:cNvSpPr txBox="1"/>
              <p:nvPr/>
            </p:nvSpPr>
            <p:spPr>
              <a:xfrm>
                <a:off x="2133600" y="214630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C9F4E29-8B11-5B90-165E-A5FB81B9E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2146300"/>
                <a:ext cx="419100" cy="438262"/>
              </a:xfrm>
              <a:prstGeom prst="rect">
                <a:avLst/>
              </a:prstGeom>
              <a:blipFill>
                <a:blip r:embed="rId4"/>
                <a:stretch>
                  <a:fillRect r="-30435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298D49-D891-32C1-3CB4-B0826D96530C}"/>
                  </a:ext>
                </a:extLst>
              </p:cNvPr>
              <p:cNvSpPr txBox="1"/>
              <p:nvPr/>
            </p:nvSpPr>
            <p:spPr>
              <a:xfrm>
                <a:off x="4953000" y="210185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298D49-D891-32C1-3CB4-B0826D96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101850"/>
                <a:ext cx="419100" cy="438262"/>
              </a:xfrm>
              <a:prstGeom prst="rect">
                <a:avLst/>
              </a:prstGeom>
              <a:blipFill>
                <a:blip r:embed="rId5"/>
                <a:stretch>
                  <a:fillRect r="-32353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6256C1E-AC5D-6EBE-F0A5-BA9860A5181D}"/>
                  </a:ext>
                </a:extLst>
              </p:cNvPr>
              <p:cNvSpPr txBox="1"/>
              <p:nvPr/>
            </p:nvSpPr>
            <p:spPr>
              <a:xfrm>
                <a:off x="241300" y="2705100"/>
                <a:ext cx="419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6256C1E-AC5D-6EBE-F0A5-BA9860A51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2705100"/>
                <a:ext cx="419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502404-A0B5-FD42-C7DA-91273F5EDFCB}"/>
                  </a:ext>
                </a:extLst>
              </p:cNvPr>
              <p:cNvSpPr txBox="1"/>
              <p:nvPr/>
            </p:nvSpPr>
            <p:spPr>
              <a:xfrm>
                <a:off x="2089150" y="269240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502404-A0B5-FD42-C7DA-91273F5ED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150" y="2692400"/>
                <a:ext cx="419100" cy="438262"/>
              </a:xfrm>
              <a:prstGeom prst="rect">
                <a:avLst/>
              </a:prstGeom>
              <a:blipFill>
                <a:blip r:embed="rId7"/>
                <a:stretch>
                  <a:fillRect r="-32353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7D9771-5AE4-D668-B7BF-A8AE5BCB37B3}"/>
                  </a:ext>
                </a:extLst>
              </p:cNvPr>
              <p:cNvSpPr txBox="1"/>
              <p:nvPr/>
            </p:nvSpPr>
            <p:spPr>
              <a:xfrm>
                <a:off x="4908550" y="264795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7D9771-5AE4-D668-B7BF-A8AE5BCB3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550" y="2647950"/>
                <a:ext cx="419100" cy="438262"/>
              </a:xfrm>
              <a:prstGeom prst="rect">
                <a:avLst/>
              </a:prstGeom>
              <a:blipFill>
                <a:blip r:embed="rId8"/>
                <a:stretch>
                  <a:fillRect r="-3188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4D1A60-AE61-F488-A034-25ADEF8CB4A6}"/>
                  </a:ext>
                </a:extLst>
              </p:cNvPr>
              <p:cNvSpPr txBox="1"/>
              <p:nvPr/>
            </p:nvSpPr>
            <p:spPr>
              <a:xfrm>
                <a:off x="184150" y="3200400"/>
                <a:ext cx="419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74D1A60-AE61-F488-A034-25ADEF8C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3200400"/>
                <a:ext cx="419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E1D6749-DFC5-CDEA-94D3-710CCECA0C35}"/>
                  </a:ext>
                </a:extLst>
              </p:cNvPr>
              <p:cNvSpPr txBox="1"/>
              <p:nvPr/>
            </p:nvSpPr>
            <p:spPr>
              <a:xfrm>
                <a:off x="2032000" y="318770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E1D6749-DFC5-CDEA-94D3-710CCECA0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3187700"/>
                <a:ext cx="419100" cy="438262"/>
              </a:xfrm>
              <a:prstGeom prst="rect">
                <a:avLst/>
              </a:prstGeom>
              <a:blipFill>
                <a:blip r:embed="rId10"/>
                <a:stretch>
                  <a:fillRect r="-3188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FDD488-5848-CAD5-0D0F-83390E0A56F3}"/>
                  </a:ext>
                </a:extLst>
              </p:cNvPr>
              <p:cNvSpPr txBox="1"/>
              <p:nvPr/>
            </p:nvSpPr>
            <p:spPr>
              <a:xfrm>
                <a:off x="4851400" y="314325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BFDD488-5848-CAD5-0D0F-83390E0A5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00" y="3143250"/>
                <a:ext cx="419100" cy="438262"/>
              </a:xfrm>
              <a:prstGeom prst="rect">
                <a:avLst/>
              </a:prstGeom>
              <a:blipFill>
                <a:blip r:embed="rId11"/>
                <a:stretch>
                  <a:fillRect r="-30435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DC2335E-9F2D-E586-D47E-D1FB1FA31C2E}"/>
                  </a:ext>
                </a:extLst>
              </p:cNvPr>
              <p:cNvSpPr txBox="1"/>
              <p:nvPr/>
            </p:nvSpPr>
            <p:spPr>
              <a:xfrm>
                <a:off x="203200" y="3632200"/>
                <a:ext cx="419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DC2335E-9F2D-E586-D47E-D1FB1FA31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3632200"/>
                <a:ext cx="4191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5F953D-EB48-4310-E768-AC6791BE2AE6}"/>
                  </a:ext>
                </a:extLst>
              </p:cNvPr>
              <p:cNvSpPr txBox="1"/>
              <p:nvPr/>
            </p:nvSpPr>
            <p:spPr>
              <a:xfrm>
                <a:off x="2051050" y="361950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55F953D-EB48-4310-E768-AC6791BE2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50" y="3619500"/>
                <a:ext cx="419100" cy="438262"/>
              </a:xfrm>
              <a:prstGeom prst="rect">
                <a:avLst/>
              </a:prstGeom>
              <a:blipFill>
                <a:blip r:embed="rId13"/>
                <a:stretch>
                  <a:fillRect r="-3188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CDC595-225B-BDD7-21D7-556DD407EFD2}"/>
                  </a:ext>
                </a:extLst>
              </p:cNvPr>
              <p:cNvSpPr txBox="1"/>
              <p:nvPr/>
            </p:nvSpPr>
            <p:spPr>
              <a:xfrm>
                <a:off x="4870450" y="357505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CDC595-225B-BDD7-21D7-556DD407E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450" y="3575050"/>
                <a:ext cx="419100" cy="438262"/>
              </a:xfrm>
              <a:prstGeom prst="rect">
                <a:avLst/>
              </a:prstGeom>
              <a:blipFill>
                <a:blip r:embed="rId14"/>
                <a:stretch>
                  <a:fillRect r="-30435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E905ED9-6627-93F9-6F58-B1979B093BF8}"/>
                  </a:ext>
                </a:extLst>
              </p:cNvPr>
              <p:cNvSpPr txBox="1"/>
              <p:nvPr/>
            </p:nvSpPr>
            <p:spPr>
              <a:xfrm>
                <a:off x="190500" y="4083050"/>
                <a:ext cx="419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E905ED9-6627-93F9-6F58-B1979B093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4083050"/>
                <a:ext cx="4191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7FCC8B6-38F4-49FA-9E97-31773194EE3E}"/>
                  </a:ext>
                </a:extLst>
              </p:cNvPr>
              <p:cNvSpPr txBox="1"/>
              <p:nvPr/>
            </p:nvSpPr>
            <p:spPr>
              <a:xfrm>
                <a:off x="2038350" y="407035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7FCC8B6-38F4-49FA-9E97-31773194E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350" y="4070350"/>
                <a:ext cx="419100" cy="438262"/>
              </a:xfrm>
              <a:prstGeom prst="rect">
                <a:avLst/>
              </a:prstGeom>
              <a:blipFill>
                <a:blip r:embed="rId16"/>
                <a:stretch>
                  <a:fillRect r="-31884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5BF45F4-6024-478F-FC8B-159387865EB4}"/>
                  </a:ext>
                </a:extLst>
              </p:cNvPr>
              <p:cNvSpPr txBox="1"/>
              <p:nvPr/>
            </p:nvSpPr>
            <p:spPr>
              <a:xfrm>
                <a:off x="4857750" y="4025900"/>
                <a:ext cx="419100" cy="43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5BF45F4-6024-478F-FC8B-159387865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0" y="4025900"/>
                <a:ext cx="419100" cy="438262"/>
              </a:xfrm>
              <a:prstGeom prst="rect">
                <a:avLst/>
              </a:prstGeom>
              <a:blipFill>
                <a:blip r:embed="rId17"/>
                <a:stretch>
                  <a:fillRect r="-30435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76A50AB2-0FE3-ACA9-C696-BB7FCF45BC0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6392" y="2199152"/>
            <a:ext cx="547174" cy="230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6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线性回归模型</a:t>
            </a:r>
            <a:endParaRPr lang="zh-TW" altLang="en-US" dirty="0"/>
          </a:p>
        </p:txBody>
      </p:sp>
      <p:pic>
        <p:nvPicPr>
          <p:cNvPr id="13" name="图片 12" descr="\documentclass{article}&#10;\usepackage{amsmath}&#10;\pagestyle{empty}&#10;\begin{document}&#10;$$&#10;\begin{array}{ll}&#10;f(w,b;x)&amp;=w_1*x^{(1)}+w_2*x^{(2)}+b\\&#10;\end{array}&#10;$$&#10;\end{document}" title="IguanaTex Bitmap Display">
            <a:extLst>
              <a:ext uri="{FF2B5EF4-FFF2-40B4-BE49-F238E27FC236}">
                <a16:creationId xmlns:a16="http://schemas.microsoft.com/office/drawing/2014/main" id="{7CAE8A2E-13E5-596F-B2F0-63E1262484F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6" y="850898"/>
            <a:ext cx="7457828" cy="51840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343ED56-5AB6-3E64-FB85-6B50A41540C4}"/>
              </a:ext>
            </a:extLst>
          </p:cNvPr>
          <p:cNvCxnSpPr>
            <a:cxnSpLocks/>
          </p:cNvCxnSpPr>
          <p:nvPr/>
        </p:nvCxnSpPr>
        <p:spPr>
          <a:xfrm flipV="1">
            <a:off x="5003180" y="483218"/>
            <a:ext cx="341971" cy="518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B61CE1E-845B-66D8-0512-BCCB6953BDB0}"/>
              </a:ext>
            </a:extLst>
          </p:cNvPr>
          <p:cNvSpPr/>
          <p:nvPr/>
        </p:nvSpPr>
        <p:spPr>
          <a:xfrm>
            <a:off x="5367453" y="308511"/>
            <a:ext cx="988742" cy="3159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</a:t>
            </a:r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B8EE39C-BC89-AD7E-02E5-8A9A4B5E4209}"/>
              </a:ext>
            </a:extLst>
          </p:cNvPr>
          <p:cNvCxnSpPr>
            <a:cxnSpLocks/>
          </p:cNvCxnSpPr>
          <p:nvPr/>
        </p:nvCxnSpPr>
        <p:spPr>
          <a:xfrm flipV="1">
            <a:off x="7214830" y="501806"/>
            <a:ext cx="341971" cy="518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D3A4A1-E3DA-62BA-ACD1-91BC907542A9}"/>
              </a:ext>
            </a:extLst>
          </p:cNvPr>
          <p:cNvSpPr/>
          <p:nvPr/>
        </p:nvSpPr>
        <p:spPr>
          <a:xfrm>
            <a:off x="7579103" y="341967"/>
            <a:ext cx="988742" cy="3159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</a:t>
            </a:r>
            <a:r>
              <a:rPr lang="en-US" altLang="zh-CN" dirty="0"/>
              <a:t>2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E2184DD-143A-742C-77BB-523DFFCF658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8564132" y="1286107"/>
            <a:ext cx="3713" cy="531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FF8503F-46F9-7959-4032-549B72D456CA}"/>
              </a:ext>
            </a:extLst>
          </p:cNvPr>
          <p:cNvSpPr/>
          <p:nvPr/>
        </p:nvSpPr>
        <p:spPr>
          <a:xfrm>
            <a:off x="7999141" y="1817644"/>
            <a:ext cx="1129981" cy="3159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偏置</a:t>
            </a:r>
            <a:r>
              <a:rPr lang="en-US" altLang="zh-CN" dirty="0"/>
              <a:t>(bias)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05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模型</a:t>
            </a:r>
            <a:endParaRPr lang="zh-TW" altLang="en-US" dirty="0"/>
          </a:p>
        </p:txBody>
      </p:sp>
      <p:pic>
        <p:nvPicPr>
          <p:cNvPr id="4" name="图片 3" descr="\documentclass{article}&#10;\usepackage{amsmath}&#10;\pagestyle{empty}&#10;\begin{document}&#10;$$&#10;\begin{array}{ll}&#10;f(w,b;x)&amp;=w_1*x^{(1)}+w_2*x^{(2)}+b&#10;\end{array}&#10;$$&#10;\end{document}" title="IguanaTex Bitmap Display">
            <a:extLst>
              <a:ext uri="{FF2B5EF4-FFF2-40B4-BE49-F238E27FC236}">
                <a16:creationId xmlns:a16="http://schemas.microsoft.com/office/drawing/2014/main" id="{BAADE4F9-619C-7CFB-0074-504ACABB41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7" y="850899"/>
            <a:ext cx="7457831" cy="51840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3810000" y="1435100"/>
            <a:ext cx="469900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083300" y="1371600"/>
            <a:ext cx="469900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11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线性回归</a:t>
            </a:r>
            <a:endParaRPr lang="zh-TW" altLang="en-US" dirty="0"/>
          </a:p>
        </p:txBody>
      </p:sp>
      <p:pic>
        <p:nvPicPr>
          <p:cNvPr id="8" name="图片 7" descr="\documentclass{article}&#10;\usepackage{amsmath}&#10;\pagestyle{empty}&#10;\begin{document}&#10;$$&#10;\begin{array}{ll}&#10;f(w,b;x)&amp;=w_1*x^{(1)}+w_2*x^{(2)}+b\\&#10;&amp;=[w_1,w_2]*\left[\begin{array}{l}&#10;                    x^{(1)}\\&#10;x^{(2)}\end{array}\right]+b\\&#10;&amp;=w^Tx+b&#10;\end{array}&#10;$$&#10;\end{document}" title="IguanaTex Bitmap Display">
            <a:extLst>
              <a:ext uri="{FF2B5EF4-FFF2-40B4-BE49-F238E27FC236}">
                <a16:creationId xmlns:a16="http://schemas.microsoft.com/office/drawing/2014/main" id="{920DF9F7-EC8F-F498-DF16-B29D4824A8F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17" y="850900"/>
            <a:ext cx="7457831" cy="2122973"/>
          </a:xfrm>
          <a:prstGeom prst="rect">
            <a:avLst/>
          </a:prstGeom>
        </p:spPr>
      </p:pic>
      <p:sp>
        <p:nvSpPr>
          <p:cNvPr id="19" name="標題 1 2"/>
          <p:cNvSpPr txBox="1">
            <a:spLocks/>
          </p:cNvSpPr>
          <p:nvPr/>
        </p:nvSpPr>
        <p:spPr>
          <a:xfrm>
            <a:off x="233846" y="3266250"/>
            <a:ext cx="8097905" cy="540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其中</a:t>
            </a:r>
            <a:endParaRPr lang="zh-TW" altLang="en-US" dirty="0"/>
          </a:p>
        </p:txBody>
      </p:sp>
      <p:cxnSp>
        <p:nvCxnSpPr>
          <p:cNvPr id="21" name="直接连接符 20"/>
          <p:cNvCxnSpPr/>
          <p:nvPr/>
        </p:nvCxnSpPr>
        <p:spPr>
          <a:xfrm>
            <a:off x="3810000" y="1435100"/>
            <a:ext cx="469900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083300" y="1371600"/>
            <a:ext cx="469900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 descr="\documentclass{article}&#10;\usepackage{amsmath}&#10;\pagestyle{empty}&#10;\begin{document}&#10;&#10;$&#10;w=\left[\begin{array}{l}&#10;w_1\\&#10;w_2&#10;\end{array}&#10;\right]&#10;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1" y="3530600"/>
            <a:ext cx="2287829" cy="1094537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&#10;x=\left[\begin{array}{l}&#10;                    x^{(1)}\\&#10;x^{(2)}\end{array}\right]&#10;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1" y="3479800"/>
            <a:ext cx="2427732" cy="1116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117393" y="4808707"/>
                <a:ext cx="6959808" cy="60511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3600" dirty="0">
                    <a:solidFill>
                      <a:schemeClr val="tx1"/>
                    </a:solidFill>
                  </a:rPr>
                  <a:t>线性回归 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393" y="4808707"/>
                <a:ext cx="6959808" cy="605115"/>
              </a:xfrm>
              <a:prstGeom prst="rect">
                <a:avLst/>
              </a:prstGeom>
              <a:blipFill>
                <a:blip r:embed="rId9"/>
                <a:stretch>
                  <a:fillRect l="-2535" t="-22772" b="-34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253EC43-89FF-C038-D516-9A093B177091}"/>
                  </a:ext>
                </a:extLst>
              </p:cNvPr>
              <p:cNvSpPr/>
              <p:nvPr/>
            </p:nvSpPr>
            <p:spPr>
              <a:xfrm>
                <a:off x="1304703" y="5829784"/>
                <a:ext cx="6772498" cy="60511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3600" dirty="0">
                    <a:solidFill>
                      <a:schemeClr val="tx1"/>
                    </a:solidFill>
                  </a:rPr>
                  <a:t>线性回归的最优参数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？</m:t>
                    </m:r>
                  </m:oMath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253EC43-89FF-C038-D516-9A093B1770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703" y="5829784"/>
                <a:ext cx="6772498" cy="605115"/>
              </a:xfrm>
              <a:prstGeom prst="rect">
                <a:avLst/>
              </a:prstGeom>
              <a:blipFill>
                <a:blip r:embed="rId10"/>
                <a:stretch>
                  <a:fillRect l="-2606" t="-21569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90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策略</a:t>
            </a:r>
            <a:endParaRPr lang="zh-TW" altLang="en-US" dirty="0"/>
          </a:p>
        </p:txBody>
      </p:sp>
      <p:sp>
        <p:nvSpPr>
          <p:cNvPr id="19" name="標題 1 2 1 1 1"/>
          <p:cNvSpPr txBox="1">
            <a:spLocks/>
          </p:cNvSpPr>
          <p:nvPr/>
        </p:nvSpPr>
        <p:spPr>
          <a:xfrm>
            <a:off x="337312" y="1186952"/>
            <a:ext cx="4423539" cy="449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若模型是“准确的”，则有</a:t>
            </a:r>
            <a:endParaRPr lang="zh-TW" altLang="en-US" sz="2400" dirty="0"/>
          </a:p>
        </p:txBody>
      </p:sp>
      <p:pic>
        <p:nvPicPr>
          <p:cNvPr id="10" name="图片 9" descr="\documentclass{article}&#10;\usepackage{amsmath}&#10;\pagestyle{empty}&#10;\begin{document}&#10;&#10;$$&#10;f(w,b;x_1)=w^Tx_1+b\approx y_1&#10;$$&#10;&#10;&#10;\end{document}" title="IguanaTex Bitmap Display">
            <a:extLst>
              <a:ext uri="{FF2B5EF4-FFF2-40B4-BE49-F238E27FC236}">
                <a16:creationId xmlns:a16="http://schemas.microsoft.com/office/drawing/2014/main" id="{626C7F44-03AB-1B20-4819-5E2ABFF3B5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41" y="2084626"/>
            <a:ext cx="4228266" cy="405334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&#10;$&#10;X=[x_1,x_2,\cdots,x_n],y=[y_1,y_2,\cdots,y_n]^T&#10;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1" y="729973"/>
            <a:ext cx="5213985" cy="313715"/>
          </a:xfrm>
          <a:prstGeom prst="rect">
            <a:avLst/>
          </a:prstGeom>
        </p:spPr>
      </p:pic>
      <p:sp>
        <p:nvSpPr>
          <p:cNvPr id="14" name="標題 1 2 2"/>
          <p:cNvSpPr txBox="1">
            <a:spLocks/>
          </p:cNvSpPr>
          <p:nvPr/>
        </p:nvSpPr>
        <p:spPr>
          <a:xfrm>
            <a:off x="96013" y="449512"/>
            <a:ext cx="3548888" cy="530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                                                                              </a:t>
            </a:r>
            <a:r>
              <a:rPr lang="en-US" altLang="zh-CN" sz="2400" dirty="0"/>
              <a:t>   </a:t>
            </a:r>
            <a:r>
              <a:rPr lang="zh-CN" altLang="en-US" sz="2400" dirty="0"/>
              <a:t>训练数据</a:t>
            </a:r>
            <a:endParaRPr lang="zh-TW" altLang="en-US" sz="2400" dirty="0"/>
          </a:p>
        </p:txBody>
      </p:sp>
      <p:pic>
        <p:nvPicPr>
          <p:cNvPr id="20" name="图片 19" descr="\documentclass{article}&#10;\usepackage{amsmath}&#10;\pagestyle{empty}&#10;\begin{document}&#10;&#10;$$\begin{array}{l}&#10;(f(w,b;x_1)-y_1)^2&#10;\end{array}&#10;$$&#10;&#10;&#10;\end{document}" title="IguanaTex Bitmap Display">
            <a:extLst>
              <a:ext uri="{FF2B5EF4-FFF2-40B4-BE49-F238E27FC236}">
                <a16:creationId xmlns:a16="http://schemas.microsoft.com/office/drawing/2014/main" id="{F2FBFFF3-5700-3377-AABD-E627F74E7AA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883" y="2102695"/>
            <a:ext cx="2711467" cy="381866"/>
          </a:xfrm>
          <a:prstGeom prst="rect">
            <a:avLst/>
          </a:prstGeom>
        </p:spPr>
      </p:pic>
      <p:sp>
        <p:nvSpPr>
          <p:cNvPr id="17" name="標題 1 2 1 2 1"/>
          <p:cNvSpPr txBox="1">
            <a:spLocks/>
          </p:cNvSpPr>
          <p:nvPr/>
        </p:nvSpPr>
        <p:spPr>
          <a:xfrm>
            <a:off x="5986756" y="1613333"/>
            <a:ext cx="2213744" cy="3682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>
                <a:solidFill>
                  <a:srgbClr val="00B0F0"/>
                </a:solidFill>
              </a:rPr>
              <a:t>最小化</a:t>
            </a:r>
            <a:endParaRPr lang="zh-TW" altLang="en-US" sz="1800" b="1" dirty="0">
              <a:solidFill>
                <a:srgbClr val="00B0F0"/>
              </a:solidFill>
            </a:endParaRPr>
          </a:p>
        </p:txBody>
      </p:sp>
      <p:pic>
        <p:nvPicPr>
          <p:cNvPr id="32" name="图片 31" descr="\documentclass{article}&#10;\usepackage{amsmath}&#10;\pagestyle{empty}&#10;\begin{document}&#10;$&#10;(f(w,b;x_1)-y_1)^2+(f(w,b;x_2)-y_2)^2+\cdots+(f(w,b;x_n)-y_n)^2&#10;$&#10;&#10;&#10;\end{document}" title="IguanaTex Bitmap Display">
            <a:extLst>
              <a:ext uri="{FF2B5EF4-FFF2-40B4-BE49-F238E27FC236}">
                <a16:creationId xmlns:a16="http://schemas.microsoft.com/office/drawing/2014/main" id="{EBBCD403-9A5E-33F2-CD35-8E79FF775C1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4620435"/>
            <a:ext cx="7906142" cy="30053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A152980-7E40-5496-D208-F7D3028BF9C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8" y="2190706"/>
            <a:ext cx="227682" cy="152828"/>
          </a:xfrm>
          <a:prstGeom prst="rect">
            <a:avLst/>
          </a:prstGeom>
          <a:solidFill>
            <a:srgbClr val="FFC000"/>
          </a:solidFill>
        </p:spPr>
      </p:pic>
      <p:pic>
        <p:nvPicPr>
          <p:cNvPr id="36" name="图片 35" descr="\documentclass{article}&#10;\usepackage{amsmath}&#10;\pagestyle{empty}&#10;\begin{document}&#10;&#10;$$&#10;f(w,b;x)=w^Tx+b&#10;$$&#10;&#10;&#10;\end{document}" title="IguanaTex Bitmap Display">
            <a:extLst>
              <a:ext uri="{FF2B5EF4-FFF2-40B4-BE49-F238E27FC236}">
                <a16:creationId xmlns:a16="http://schemas.microsoft.com/office/drawing/2014/main" id="{D1EEF531-F96A-3A92-4862-E4C9EDE2DB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1" y="174016"/>
            <a:ext cx="2694539" cy="347565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$&#10;f(w,b;x_2)=w^Tx_2+b\approx y_2&#10;$$&#10;&#10;&#10;\end{document}" title="IguanaTex Bitmap Display">
            <a:extLst>
              <a:ext uri="{FF2B5EF4-FFF2-40B4-BE49-F238E27FC236}">
                <a16:creationId xmlns:a16="http://schemas.microsoft.com/office/drawing/2014/main" id="{7E76D0AF-8E50-0B01-D919-6F2CE23D684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28" y="2519527"/>
            <a:ext cx="4236800" cy="405334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C4E87B3-A51D-EE59-BD1E-4C057DC885B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3" y="2625603"/>
            <a:ext cx="233920" cy="152828"/>
          </a:xfrm>
          <a:prstGeom prst="rect">
            <a:avLst/>
          </a:prstGeom>
          <a:solidFill>
            <a:srgbClr val="FFC000"/>
          </a:solidFill>
        </p:spPr>
      </p:pic>
      <p:pic>
        <p:nvPicPr>
          <p:cNvPr id="5" name="图片 4" descr="\documentclass{article}&#10;\usepackage{amsmath}&#10;\pagestyle{empty}&#10;\begin{document}&#10;&#10;$$&#10;f(w,b;x_3)=w^Tx_3+b\approx y_3&#10;$$&#10;&#10;&#10;\end{document}" title="IguanaTex Bitmap Display">
            <a:extLst>
              <a:ext uri="{FF2B5EF4-FFF2-40B4-BE49-F238E27FC236}">
                <a16:creationId xmlns:a16="http://schemas.microsoft.com/office/drawing/2014/main" id="{62AB137E-64C5-ED6B-7165-5EE7D32FFA7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41" y="2872642"/>
            <a:ext cx="4238934" cy="405334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381ACF7B-2316-A59F-9A8F-D080F81059B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07" y="2978722"/>
            <a:ext cx="235479" cy="155947"/>
          </a:xfrm>
          <a:prstGeom prst="rect">
            <a:avLst/>
          </a:prstGeom>
          <a:solidFill>
            <a:srgbClr val="FFC000"/>
          </a:solidFill>
        </p:spPr>
      </p:pic>
      <p:pic>
        <p:nvPicPr>
          <p:cNvPr id="13" name="图片 12" descr="\documentclass{article}&#10;\usepackage{amsmath}&#10;\pagestyle{empty}&#10;\begin{document}&#10;&#10;$&#10;\begin{array}{l}&#10;f(w,b;x_4)=w^Tx_4+b\approx y_4&#10;\end{array}$&#10;&#10;&#10;&#10;\end{document}" title="IguanaTex Bitmap Display">
            <a:extLst>
              <a:ext uri="{FF2B5EF4-FFF2-40B4-BE49-F238E27FC236}">
                <a16:creationId xmlns:a16="http://schemas.microsoft.com/office/drawing/2014/main" id="{BDE10EEA-3554-741C-904B-3F2083227B62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55" y="3253527"/>
            <a:ext cx="4243200" cy="386133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x_4$&#10;&#10;&#10;\end{document}" title="IguanaTex Bitmap Display">
            <a:extLst>
              <a:ext uri="{FF2B5EF4-FFF2-40B4-BE49-F238E27FC236}">
                <a16:creationId xmlns:a16="http://schemas.microsoft.com/office/drawing/2014/main" id="{48C9CB7B-C7A4-B248-19FA-C09D91F76CB1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71" y="3361577"/>
            <a:ext cx="238598" cy="152828"/>
          </a:xfrm>
          <a:prstGeom prst="rect">
            <a:avLst/>
          </a:prstGeom>
          <a:solidFill>
            <a:srgbClr val="FFC000"/>
          </a:solidFill>
        </p:spPr>
      </p:pic>
      <p:pic>
        <p:nvPicPr>
          <p:cNvPr id="27" name="图片 26" descr="\documentclass{article}&#10;\usepackage{amsmath}&#10;\pagestyle{empty}&#10;\begin{document}&#10;&#10;&#10;$\begin{array}{l}&#10;(f(w,b;x_2)-y_2)^2&#10;\end{array}$&#10;\end{document}" title="IguanaTex Bitmap Display">
            <a:extLst>
              <a:ext uri="{FF2B5EF4-FFF2-40B4-BE49-F238E27FC236}">
                <a16:creationId xmlns:a16="http://schemas.microsoft.com/office/drawing/2014/main" id="{843D271D-CF5E-419D-EA77-85C63FB5B77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765" y="2529126"/>
            <a:ext cx="2711467" cy="381866"/>
          </a:xfrm>
          <a:prstGeom prst="rect">
            <a:avLst/>
          </a:prstGeom>
        </p:spPr>
      </p:pic>
      <p:sp>
        <p:nvSpPr>
          <p:cNvPr id="7" name="標題 1 2 1 2 2">
            <a:extLst>
              <a:ext uri="{FF2B5EF4-FFF2-40B4-BE49-F238E27FC236}">
                <a16:creationId xmlns:a16="http://schemas.microsoft.com/office/drawing/2014/main" id="{DACF1032-CCC3-0512-59B7-51963D960152}"/>
              </a:ext>
            </a:extLst>
          </p:cNvPr>
          <p:cNvSpPr txBox="1">
            <a:spLocks/>
          </p:cNvSpPr>
          <p:nvPr/>
        </p:nvSpPr>
        <p:spPr>
          <a:xfrm>
            <a:off x="96013" y="4197825"/>
            <a:ext cx="2213744" cy="3682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/>
              <a:t>最小化</a:t>
            </a:r>
            <a:endParaRPr lang="zh-TW" altLang="en-US" sz="2400" b="1" dirty="0"/>
          </a:p>
        </p:txBody>
      </p:sp>
      <p:pic>
        <p:nvPicPr>
          <p:cNvPr id="6" name="图片 5" descr="\documentclass{article}&#10;\usepackage{amsmath}&#10;\pagestyle{empty}&#10;\begin{document}&#10;&#10;$\min\limits_{w,b}\sum\limits_{i=1}^n(f(w,b;x_i)-y_i)^2&#10;$&#10;&#10;&#10;\end{document}" title="IguanaTex Bitmap Display">
            <a:extLst>
              <a:ext uri="{FF2B5EF4-FFF2-40B4-BE49-F238E27FC236}">
                <a16:creationId xmlns:a16="http://schemas.microsoft.com/office/drawing/2014/main" id="{E5C91466-3666-6F4C-223D-14F72BD09EC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629" y="5366985"/>
            <a:ext cx="3761067" cy="7594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D259219-820C-241E-6948-DDC3368A9D32}"/>
              </a:ext>
            </a:extLst>
          </p:cNvPr>
          <p:cNvSpPr/>
          <p:nvPr/>
        </p:nvSpPr>
        <p:spPr>
          <a:xfrm>
            <a:off x="3824376" y="6369643"/>
            <a:ext cx="1685027" cy="362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损失函数</a:t>
            </a: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79390BFC-2ADD-4E8A-7A4B-6B511109511E}"/>
              </a:ext>
            </a:extLst>
          </p:cNvPr>
          <p:cNvSpPr/>
          <p:nvPr/>
        </p:nvSpPr>
        <p:spPr>
          <a:xfrm rot="16200000">
            <a:off x="4618655" y="4498844"/>
            <a:ext cx="314045" cy="3317337"/>
          </a:xfrm>
          <a:prstGeom prst="lef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7A34DA5-4E97-489E-FCE2-D579CB09BC0A}"/>
              </a:ext>
            </a:extLst>
          </p:cNvPr>
          <p:cNvCxnSpPr>
            <a:cxnSpLocks/>
          </p:cNvCxnSpPr>
          <p:nvPr/>
        </p:nvCxnSpPr>
        <p:spPr>
          <a:xfrm>
            <a:off x="892941" y="2021126"/>
            <a:ext cx="3725066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標題 1 2 1 1 2">
            <a:extLst>
              <a:ext uri="{FF2B5EF4-FFF2-40B4-BE49-F238E27FC236}">
                <a16:creationId xmlns:a16="http://schemas.microsoft.com/office/drawing/2014/main" id="{3CD96F47-B0E0-B23A-C2E6-FACB2EFF395D}"/>
              </a:ext>
            </a:extLst>
          </p:cNvPr>
          <p:cNvSpPr txBox="1">
            <a:spLocks/>
          </p:cNvSpPr>
          <p:nvPr/>
        </p:nvSpPr>
        <p:spPr>
          <a:xfrm>
            <a:off x="3340863" y="1612402"/>
            <a:ext cx="913638" cy="357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/>
              <a:t>预测值</a:t>
            </a:r>
            <a:endParaRPr lang="zh-TW" altLang="en-US" sz="1800" b="1" dirty="0"/>
          </a:p>
        </p:txBody>
      </p:sp>
      <p:sp>
        <p:nvSpPr>
          <p:cNvPr id="18" name="標題 1 2 1 1 3">
            <a:extLst>
              <a:ext uri="{FF2B5EF4-FFF2-40B4-BE49-F238E27FC236}">
                <a16:creationId xmlns:a16="http://schemas.microsoft.com/office/drawing/2014/main" id="{725B16DF-0A44-B903-8041-4945392EB46C}"/>
              </a:ext>
            </a:extLst>
          </p:cNvPr>
          <p:cNvSpPr txBox="1">
            <a:spLocks/>
          </p:cNvSpPr>
          <p:nvPr/>
        </p:nvSpPr>
        <p:spPr>
          <a:xfrm>
            <a:off x="4934713" y="1618752"/>
            <a:ext cx="913638" cy="357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/>
              <a:t>真实值</a:t>
            </a:r>
            <a:endParaRPr lang="zh-TW" altLang="en-US" sz="1800" b="1" dirty="0"/>
          </a:p>
        </p:txBody>
      </p:sp>
      <p:pic>
        <p:nvPicPr>
          <p:cNvPr id="24" name="图片 23" descr="\documentclass{article}&#10;\usepackage{amsmath}&#10;\pagestyle{empty}&#10;\begin{document}&#10;$&#10;(f(w,b;x_3)-y_3)^2&#10;$&#10;\end{document}" title="IguanaTex Bitmap Display">
            <a:extLst>
              <a:ext uri="{FF2B5EF4-FFF2-40B4-BE49-F238E27FC236}">
                <a16:creationId xmlns:a16="http://schemas.microsoft.com/office/drawing/2014/main" id="{AEE7F6E4-1824-85F8-3180-315A998D86BD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951" y="2933700"/>
            <a:ext cx="2711467" cy="381866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$(f(w,b;x_4)-y_4)^2$&#10;\end{document}" title="IguanaTex Bitmap Display">
            <a:extLst>
              <a:ext uri="{FF2B5EF4-FFF2-40B4-BE49-F238E27FC236}">
                <a16:creationId xmlns:a16="http://schemas.microsoft.com/office/drawing/2014/main" id="{AE655F9F-5A61-5895-D045-3D3D4743E2B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333750"/>
            <a:ext cx="2711467" cy="3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7" grpId="0"/>
      <p:bldP spid="8" grpId="0" animBg="1"/>
      <p:bldP spid="9" grpId="0" animBg="1"/>
      <p:bldP spid="16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策略</a:t>
            </a:r>
            <a:endParaRPr lang="zh-TW" altLang="en-US" dirty="0"/>
          </a:p>
        </p:txBody>
      </p:sp>
      <p:sp>
        <p:nvSpPr>
          <p:cNvPr id="19" name="標題 1 2 1 1"/>
          <p:cNvSpPr txBox="1">
            <a:spLocks/>
          </p:cNvSpPr>
          <p:nvPr/>
        </p:nvSpPr>
        <p:spPr>
          <a:xfrm>
            <a:off x="337312" y="1485402"/>
            <a:ext cx="4423539" cy="449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若模型是“准确的”，则有</a:t>
            </a:r>
            <a:endParaRPr lang="zh-TW" altLang="en-US" sz="2400" dirty="0"/>
          </a:p>
        </p:txBody>
      </p:sp>
      <p:sp>
        <p:nvSpPr>
          <p:cNvPr id="29" name="矩形 28"/>
          <p:cNvSpPr/>
          <p:nvPr/>
        </p:nvSpPr>
        <p:spPr>
          <a:xfrm>
            <a:off x="337311" y="4569524"/>
            <a:ext cx="8409879" cy="13362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线性回归</a:t>
            </a:r>
            <a:endParaRPr lang="zh-TW" altLang="en-US" dirty="0"/>
          </a:p>
        </p:txBody>
      </p:sp>
      <p:pic>
        <p:nvPicPr>
          <p:cNvPr id="7" name="图片 6" descr="\documentclass{article}&#10;\usepackage{amsmath}&#10;\pagestyle{empty}&#10;\begin{document}&#10;&#10;$$\begin{array}{l}&#10;f(w,b;x_1)=w^Tx_1+b\approx y_1\\&#10;f(w,b;x_2)=w^Tx_2+b\approx y_2\\&#10;f(w,b;x_3)=w^Tx_3+b\approx y_3\\&#10;f(w,b;x_4)=w^Tx_4+b\approx y_4\\&#10;\cdots\end{array}&#10;$$&#10;&#10;&#10;\end{document}" title="IguanaTex Bitmap Display">
            <a:extLst>
              <a:ext uri="{FF2B5EF4-FFF2-40B4-BE49-F238E27FC236}">
                <a16:creationId xmlns:a16="http://schemas.microsoft.com/office/drawing/2014/main" id="{30F42EF5-3937-F714-D90E-58DB5D073A1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5" y="2073543"/>
            <a:ext cx="4123236" cy="1874011"/>
          </a:xfrm>
          <a:prstGeom prst="rect">
            <a:avLst/>
          </a:prstGeom>
        </p:spPr>
      </p:pic>
      <p:sp>
        <p:nvSpPr>
          <p:cNvPr id="31" name="標題 1 1 2"/>
          <p:cNvSpPr txBox="1">
            <a:spLocks/>
          </p:cNvSpPr>
          <p:nvPr/>
        </p:nvSpPr>
        <p:spPr>
          <a:xfrm>
            <a:off x="396809" y="4957957"/>
            <a:ext cx="8097905" cy="540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损失函数</a:t>
            </a:r>
            <a:endParaRPr lang="zh-TW" altLang="en-US" sz="2800" dirty="0"/>
          </a:p>
        </p:txBody>
      </p:sp>
      <p:pic>
        <p:nvPicPr>
          <p:cNvPr id="4" name="图片 3" descr="\documentclass{article}&#10;\usepackage{amsmath}&#10;\pagestyle{empty}&#10;\begin{document}&#10;&#10;&#10;$&#10;X=[x_1,x_2,\cdots,x_n],y=[y_1,y_2,\cdots,y_n]^T&#10;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571" y="952223"/>
            <a:ext cx="5213985" cy="313715"/>
          </a:xfrm>
          <a:prstGeom prst="rect">
            <a:avLst/>
          </a:prstGeom>
        </p:spPr>
      </p:pic>
      <p:sp>
        <p:nvSpPr>
          <p:cNvPr id="14" name="標題 1 2 2"/>
          <p:cNvSpPr txBox="1">
            <a:spLocks/>
          </p:cNvSpPr>
          <p:nvPr/>
        </p:nvSpPr>
        <p:spPr>
          <a:xfrm>
            <a:off x="96013" y="671762"/>
            <a:ext cx="3548888" cy="530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                                                                              </a:t>
            </a:r>
            <a:r>
              <a:rPr lang="en-US" altLang="zh-CN" sz="2400" dirty="0"/>
              <a:t>   </a:t>
            </a:r>
            <a:r>
              <a:rPr lang="zh-CN" altLang="en-US" sz="2400" dirty="0"/>
              <a:t>训练数据</a:t>
            </a:r>
            <a:endParaRPr lang="zh-TW" altLang="en-US" sz="2400" dirty="0"/>
          </a:p>
        </p:txBody>
      </p:sp>
      <p:pic>
        <p:nvPicPr>
          <p:cNvPr id="15" name="图片 14" descr="\documentclass{article}&#10;\usepackage{amsmath}&#10;\pagestyle{empty}&#10;\begin{document}&#10;&#10;$$L(w,b)=\sum\limits_{i=1}^n(w^Tx_i+b- y_i)^2\\&#10;$$&#10;&#10;&#10;\end{document}" title="IguanaTex Bitmap Display">
            <a:extLst>
              <a:ext uri="{FF2B5EF4-FFF2-40B4-BE49-F238E27FC236}">
                <a16:creationId xmlns:a16="http://schemas.microsoft.com/office/drawing/2014/main" id="{AC1581AD-CF54-64B6-91F5-F8BC9D75532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130" y="4628448"/>
            <a:ext cx="5886174" cy="124800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$\begin{array}{l}&#10;(f(w,b;x_1)-y_1)^2\\&#10;(f(w,b;x_2)-y_2)^2\\&#10;(f(w,b;x_3)-y_3)^2\\&#10;(f(w,b;x_4)-y_4)^2\\&#10;\cdots&#10;\end{array}&#10;$$&#10;&#10;&#10;\end{document}" title="IguanaTex Bitmap Display">
            <a:extLst>
              <a:ext uri="{FF2B5EF4-FFF2-40B4-BE49-F238E27FC236}">
                <a16:creationId xmlns:a16="http://schemas.microsoft.com/office/drawing/2014/main" id="{D890D131-4674-EE85-01C8-B32969DEDC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13" y="2084626"/>
            <a:ext cx="2638953" cy="1869865"/>
          </a:xfrm>
          <a:prstGeom prst="rect">
            <a:avLst/>
          </a:prstGeom>
        </p:spPr>
      </p:pic>
      <p:sp>
        <p:nvSpPr>
          <p:cNvPr id="17" name="標題 1 2 1 2"/>
          <p:cNvSpPr txBox="1">
            <a:spLocks/>
          </p:cNvSpPr>
          <p:nvPr/>
        </p:nvSpPr>
        <p:spPr>
          <a:xfrm>
            <a:off x="5874687" y="1661805"/>
            <a:ext cx="2213744" cy="3682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最小化</a:t>
            </a:r>
            <a:endParaRPr lang="zh-TW" altLang="en-US" sz="24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7C60635-2F64-A0C1-757C-8B98F521D0C0}"/>
              </a:ext>
            </a:extLst>
          </p:cNvPr>
          <p:cNvCxnSpPr/>
          <p:nvPr/>
        </p:nvCxnSpPr>
        <p:spPr>
          <a:xfrm>
            <a:off x="5583044" y="1390187"/>
            <a:ext cx="0" cy="287701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97556DD-DBCC-C1FC-22FA-6B4E4CE11ABE}"/>
              </a:ext>
            </a:extLst>
          </p:cNvPr>
          <p:cNvCxnSpPr>
            <a:cxnSpLocks/>
          </p:cNvCxnSpPr>
          <p:nvPr/>
        </p:nvCxnSpPr>
        <p:spPr>
          <a:xfrm>
            <a:off x="221146" y="4267202"/>
            <a:ext cx="878903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04B6CA-2221-B4DD-2C5D-15872BBEBBEB}"/>
              </a:ext>
            </a:extLst>
          </p:cNvPr>
          <p:cNvCxnSpPr>
            <a:cxnSpLocks/>
          </p:cNvCxnSpPr>
          <p:nvPr/>
        </p:nvCxnSpPr>
        <p:spPr>
          <a:xfrm>
            <a:off x="5012579" y="5440877"/>
            <a:ext cx="1670017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CBC6E6B-0A52-E91B-A438-C54A1631924A}"/>
              </a:ext>
            </a:extLst>
          </p:cNvPr>
          <p:cNvCxnSpPr>
            <a:cxnSpLocks/>
          </p:cNvCxnSpPr>
          <p:nvPr/>
        </p:nvCxnSpPr>
        <p:spPr>
          <a:xfrm>
            <a:off x="7332453" y="5498386"/>
            <a:ext cx="330289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2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endParaRPr lang="zh-TW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37312" y="748471"/>
            <a:ext cx="8267700" cy="860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线性回归</a:t>
            </a:r>
            <a:endParaRPr lang="zh-TW" altLang="en-US" dirty="0"/>
          </a:p>
        </p:txBody>
      </p:sp>
      <p:pic>
        <p:nvPicPr>
          <p:cNvPr id="5" name="图片 4" descr="\documentclass{article}&#10;\usepackage{amsmath}&#10;\pagestyle{empty}&#10;\begin{document}&#10;&#10;$$&#10;f(w,b;x)=w^Tx+b&#10;$$&#10;&#10;&#10;\end{document}" title="IguanaTex Bitmap Display">
            <a:extLst>
              <a:ext uri="{FF2B5EF4-FFF2-40B4-BE49-F238E27FC236}">
                <a16:creationId xmlns:a16="http://schemas.microsoft.com/office/drawing/2014/main" id="{F7A99ABA-0BCD-173D-56C2-F0752B9B7D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81" y="904676"/>
            <a:ext cx="4040228" cy="521143"/>
          </a:xfrm>
          <a:prstGeom prst="rect">
            <a:avLst/>
          </a:prstGeom>
        </p:spPr>
      </p:pic>
      <p:sp>
        <p:nvSpPr>
          <p:cNvPr id="31" name="標題 1 1 2 1"/>
          <p:cNvSpPr txBox="1">
            <a:spLocks/>
          </p:cNvSpPr>
          <p:nvPr/>
        </p:nvSpPr>
        <p:spPr>
          <a:xfrm>
            <a:off x="507107" y="971362"/>
            <a:ext cx="8097905" cy="540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模型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37311" y="2788753"/>
            <a:ext cx="7805203" cy="112306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sz="4000" dirty="0"/>
          </a:p>
        </p:txBody>
      </p:sp>
      <p:sp>
        <p:nvSpPr>
          <p:cNvPr id="27" name="矩形 26"/>
          <p:cNvSpPr/>
          <p:nvPr/>
        </p:nvSpPr>
        <p:spPr>
          <a:xfrm>
            <a:off x="2754016" y="4823560"/>
            <a:ext cx="5864250" cy="7356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(1)</a:t>
            </a:r>
            <a:endParaRPr lang="zh-TW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图片 11" descr="\documentclass{article}&#10;\usepackage{amsmath}&#10;\pagestyle{empty}&#10;\begin{document}&#10;&#10;$\min\limits_{w,b}L(w,b)$&#10;&#10;&#10;\end{document}" title="IguanaTex Bitmap Display">
            <a:extLst>
              <a:ext uri="{FF2B5EF4-FFF2-40B4-BE49-F238E27FC236}">
                <a16:creationId xmlns:a16="http://schemas.microsoft.com/office/drawing/2014/main" id="{24659F98-F6B5-0179-ABEC-F4D6937FB67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191" y="4954306"/>
            <a:ext cx="2005702" cy="64749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$L(w,b)=\sum\limits_{i=1}^n(w^Tx_i+b- y_i)^2\\&#10;$$&#10;&#10;&#10;\end{document}" title="IguanaTex Bitmap Display">
            <a:extLst>
              <a:ext uri="{FF2B5EF4-FFF2-40B4-BE49-F238E27FC236}">
                <a16:creationId xmlns:a16="http://schemas.microsoft.com/office/drawing/2014/main" id="{E79F45C8-9938-4B66-2AF5-0930172507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785" y="2969444"/>
            <a:ext cx="4376252" cy="927864"/>
          </a:xfrm>
          <a:prstGeom prst="rect">
            <a:avLst/>
          </a:prstGeom>
        </p:spPr>
      </p:pic>
      <p:sp>
        <p:nvSpPr>
          <p:cNvPr id="34" name="標題 1 1 3 1 1"/>
          <p:cNvSpPr txBox="1">
            <a:spLocks/>
          </p:cNvSpPr>
          <p:nvPr/>
        </p:nvSpPr>
        <p:spPr>
          <a:xfrm>
            <a:off x="405231" y="3190334"/>
            <a:ext cx="2262901" cy="63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损失函数</a:t>
            </a:r>
            <a:endParaRPr lang="zh-TW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570383" y="2186609"/>
            <a:ext cx="1580321" cy="84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標題 1 1 3 2"/>
          <p:cNvSpPr txBox="1">
            <a:spLocks/>
          </p:cNvSpPr>
          <p:nvPr/>
        </p:nvSpPr>
        <p:spPr>
          <a:xfrm>
            <a:off x="3091901" y="2042095"/>
            <a:ext cx="3219447" cy="450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误差函数</a:t>
            </a:r>
            <a:endParaRPr lang="zh-TW" altLang="en-US" dirty="0"/>
          </a:p>
        </p:txBody>
      </p:sp>
      <p:sp>
        <p:nvSpPr>
          <p:cNvPr id="36" name="標題 1 1 3 1 2"/>
          <p:cNvSpPr txBox="1">
            <a:spLocks/>
          </p:cNvSpPr>
          <p:nvPr/>
        </p:nvSpPr>
        <p:spPr>
          <a:xfrm>
            <a:off x="520361" y="6027681"/>
            <a:ext cx="8097905" cy="540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问题：如何求解优化问题</a:t>
            </a:r>
            <a:r>
              <a:rPr lang="en-US" altLang="zh-CN" dirty="0"/>
              <a:t>(1)?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803999" y="4009446"/>
            <a:ext cx="2699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mean-square error, MSE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06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23" grpId="0" animBg="1"/>
      <p:bldP spid="27" grpId="0" animBg="1"/>
      <p:bldP spid="34" grpId="0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870102" y="2684717"/>
                <a:ext cx="6031030" cy="48405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3600" dirty="0">
                    <a:solidFill>
                      <a:schemeClr val="tx1"/>
                    </a:solidFill>
                  </a:rPr>
                  <a:t>线性回归  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02" y="2684717"/>
                <a:ext cx="6031030" cy="484054"/>
              </a:xfrm>
              <a:prstGeom prst="rect">
                <a:avLst/>
              </a:prstGeom>
              <a:blipFill>
                <a:blip r:embed="rId7"/>
                <a:stretch>
                  <a:fillRect l="-3027" t="-39024" b="-5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29E70E7-5D99-31DD-38FD-E61551F96438}"/>
                  </a:ext>
                </a:extLst>
              </p:cNvPr>
              <p:cNvSpPr txBox="1"/>
              <p:nvPr/>
            </p:nvSpPr>
            <p:spPr>
              <a:xfrm>
                <a:off x="1708030" y="698103"/>
                <a:ext cx="34476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29E70E7-5D99-31DD-38FD-E61551F96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030" y="698103"/>
                <a:ext cx="3447690" cy="461665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40E42C-22BA-DA08-A03D-39BD098F6F23}"/>
                  </a:ext>
                </a:extLst>
              </p:cNvPr>
              <p:cNvSpPr txBox="1"/>
              <p:nvPr/>
            </p:nvSpPr>
            <p:spPr>
              <a:xfrm>
                <a:off x="1739665" y="1159901"/>
                <a:ext cx="38214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40E42C-22BA-DA08-A03D-39BD098F6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665" y="1159901"/>
                <a:ext cx="3821497" cy="461665"/>
              </a:xfrm>
              <a:prstGeom prst="rect">
                <a:avLst/>
              </a:prstGeom>
              <a:blipFill>
                <a:blip r:embed="rId9"/>
                <a:stretch>
                  <a:fillRect l="-1276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\documentclass{article}&#10;\usepackage{amsmath}&#10;\pagestyle{empty}&#10;\begin{document}&#10;$&#10;f(w,b;x)=[w^T,b]\left[&#10;\begin{array}{l}&#10;x\\&#10;1&#10;\end{array}&#10;\right]&#10;$&#10;\end{document}" title="IguanaTex Bitmap Display">
            <a:extLst>
              <a:ext uri="{FF2B5EF4-FFF2-40B4-BE49-F238E27FC236}">
                <a16:creationId xmlns:a16="http://schemas.microsoft.com/office/drawing/2014/main" id="{687C1C43-26C9-C3E9-9B9A-3538155D703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90" y="1698734"/>
            <a:ext cx="3767466" cy="85120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$&#10;w\leftarrow\left[&#10;\begin{array}{l}&#10;w\\&#10;b&#10;\end{array}&#10;\right]&#10;$&#10;\end{document}" title="IguanaTex Bitmap Display">
            <a:extLst>
              <a:ext uri="{FF2B5EF4-FFF2-40B4-BE49-F238E27FC236}">
                <a16:creationId xmlns:a16="http://schemas.microsoft.com/office/drawing/2014/main" id="{FCBD4D6E-1C63-0FAA-B732-EA1FCD8EFC8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876" y="3493193"/>
            <a:ext cx="1708800" cy="851200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$&#10;x\leftarrow\left[&#10;\begin{array}{l}&#10;x\\&#10;1&#10;\end{array}&#10;\right]&#10;$&#10;\end{document}" title="IguanaTex Bitmap Display">
            <a:extLst>
              <a:ext uri="{FF2B5EF4-FFF2-40B4-BE49-F238E27FC236}">
                <a16:creationId xmlns:a16="http://schemas.microsoft.com/office/drawing/2014/main" id="{817C24BD-F441-1D26-1B33-C818F0905E5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964" y="3519072"/>
            <a:ext cx="1587399" cy="851306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L(w)=\sum\limits_{i=1}^n(w^Tx_i- y_i)^2\\&#10;$&#10;&#10;&#10;\end{document}" title="IguanaTex Bitmap Display">
            <a:extLst>
              <a:ext uri="{FF2B5EF4-FFF2-40B4-BE49-F238E27FC236}">
                <a16:creationId xmlns:a16="http://schemas.microsoft.com/office/drawing/2014/main" id="{E8BA0F8B-AAB0-51DD-0B0C-D903D0FE283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18" y="4729305"/>
            <a:ext cx="3631388" cy="759562"/>
          </a:xfrm>
          <a:prstGeom prst="rect">
            <a:avLst/>
          </a:prstGeom>
        </p:spPr>
      </p:pic>
      <p:sp>
        <p:nvSpPr>
          <p:cNvPr id="35" name="箭头: 下 34">
            <a:extLst>
              <a:ext uri="{FF2B5EF4-FFF2-40B4-BE49-F238E27FC236}">
                <a16:creationId xmlns:a16="http://schemas.microsoft.com/office/drawing/2014/main" id="{32618FBC-1508-AD52-8546-C8E17CB29781}"/>
              </a:ext>
            </a:extLst>
          </p:cNvPr>
          <p:cNvSpPr/>
          <p:nvPr/>
        </p:nvSpPr>
        <p:spPr>
          <a:xfrm>
            <a:off x="4393720" y="5359441"/>
            <a:ext cx="212786" cy="806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5838619B-F6E1-0BEE-9491-A5E6044D65BC}"/>
              </a:ext>
            </a:extLst>
          </p:cNvPr>
          <p:cNvSpPr/>
          <p:nvPr/>
        </p:nvSpPr>
        <p:spPr>
          <a:xfrm>
            <a:off x="5351257" y="5368066"/>
            <a:ext cx="212786" cy="8060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8B7BC43-E240-07CD-DA39-CC5D86356A25}"/>
              </a:ext>
            </a:extLst>
          </p:cNvPr>
          <p:cNvSpPr txBox="1"/>
          <p:nvPr/>
        </p:nvSpPr>
        <p:spPr>
          <a:xfrm>
            <a:off x="4088921" y="6130504"/>
            <a:ext cx="92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预测值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461BD3-5D38-822B-9525-1902FF2FDC07}"/>
              </a:ext>
            </a:extLst>
          </p:cNvPr>
          <p:cNvSpPr txBox="1"/>
          <p:nvPr/>
        </p:nvSpPr>
        <p:spPr>
          <a:xfrm>
            <a:off x="5080963" y="6133378"/>
            <a:ext cx="92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真实值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796181C-8BD0-75CE-8EB9-8BAF21B8FF63}"/>
              </a:ext>
            </a:extLst>
          </p:cNvPr>
          <p:cNvSpPr/>
          <p:nvPr/>
        </p:nvSpPr>
        <p:spPr>
          <a:xfrm>
            <a:off x="226897" y="4813541"/>
            <a:ext cx="1952711" cy="4461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损失函数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501B5BB-3766-8A15-13AA-082AFF4B5B26}"/>
              </a:ext>
            </a:extLst>
          </p:cNvPr>
          <p:cNvSpPr txBox="1"/>
          <p:nvPr/>
        </p:nvSpPr>
        <p:spPr>
          <a:xfrm>
            <a:off x="57506" y="6452558"/>
            <a:ext cx="468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记住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：每个样本最后一行加入了一个特征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5574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" grpId="0"/>
      <p:bldP spid="7" grpId="0"/>
      <p:bldP spid="35" grpId="0" animBg="1"/>
      <p:bldP spid="36" grpId="0" animBg="1"/>
      <p:bldP spid="37" grpId="0"/>
      <p:bldP spid="38" grpId="0"/>
      <p:bldP spid="39" grpId="0" animBg="1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 1"/>
          <p:cNvSpPr>
            <a:spLocks noGrp="1"/>
          </p:cNvSpPr>
          <p:nvPr>
            <p:ph type="title"/>
          </p:nvPr>
        </p:nvSpPr>
        <p:spPr>
          <a:xfrm>
            <a:off x="221146" y="11665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-</a:t>
            </a:r>
            <a:r>
              <a:rPr lang="zh-CN" altLang="en-US" dirty="0"/>
              <a:t>矩阵形式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5409544" y="163669"/>
                <a:ext cx="3581128" cy="374359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线性回归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44" y="163669"/>
                <a:ext cx="3581128" cy="374359"/>
              </a:xfrm>
              <a:prstGeom prst="rect">
                <a:avLst/>
              </a:prstGeom>
              <a:blipFill>
                <a:blip r:embed="rId13"/>
                <a:stretch>
                  <a:fillRect l="-2373" t="-28571" b="-39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 descr="IguanaTex Bitmap Display&#10;&#10;\documentclass{article}&#10;\usepackage{amsmath}&#10;\pagestyle{empty}&#10;\begin{document}&#10;&#10;$L(w)=\sum\limits_{i=1}^n(w^Tx_i- y_i)^2\\&#10;$&#10;&#10;&#10;\end{document}">
            <a:extLst>
              <a:ext uri="{FF2B5EF4-FFF2-40B4-BE49-F238E27FC236}">
                <a16:creationId xmlns:a16="http://schemas.microsoft.com/office/drawing/2014/main" id="{E8BA0F8B-AAB0-51DD-0B0C-D903D0FE28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06" y="700550"/>
            <a:ext cx="2748596" cy="574912"/>
          </a:xfrm>
          <a:prstGeom prst="rect">
            <a:avLst/>
          </a:prstGeom>
        </p:spPr>
      </p:pic>
      <p:pic>
        <p:nvPicPr>
          <p:cNvPr id="34" name="图片 33" descr="IguanaTex Bitmap Display&#10;&#10;\documentclass{article}&#10;\usepackage{amsmath}&#10;\pagestyle{empty}&#10;\begin{document}&#10;&#10;$$&#10;\left\|\begin{array}{l}&#10;{w}^T{x}_1- y_1\\&#10;{w}^T{x}_2- y_2\\&#10;{w}^T{x}_3- y_3\\&#10;\vdots\\&#10;{w}^T{x}_n- y_n\\&#10;\end{array}&#10;\right\|_2^2$$&#10;\end{document}">
            <a:extLst>
              <a:ext uri="{FF2B5EF4-FFF2-40B4-BE49-F238E27FC236}">
                <a16:creationId xmlns:a16="http://schemas.microsoft.com/office/drawing/2014/main" id="{44C06390-D632-047F-2145-9851CBB59E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371" y="2344294"/>
            <a:ext cx="1450528" cy="1424582"/>
          </a:xfrm>
          <a:prstGeom prst="rect">
            <a:avLst/>
          </a:prstGeom>
        </p:spPr>
      </p:pic>
      <p:pic>
        <p:nvPicPr>
          <p:cNvPr id="42" name="图片 41" descr="IguanaTex Bitmap Display&#10;&#10;\documentclass{article}&#10;\usepackage{amsmath}&#10;\pagestyle{empty}&#10;\begin{document}&#10;&#10;$$\begin{array}{l}&#10;{w}^T{x}_1={x}_1^T{w}\\&#10;{w}^T{x}_2={x}_2^T{w}\\&#10;{w}^T{x}_3={x}_3^T{w}\\&#10;\vdots\\&#10;{w}^T{x}_n={x}_n^T{w}&#10;\end{array}&#10;$$&#10;\end{document}">
            <a:extLst>
              <a:ext uri="{FF2B5EF4-FFF2-40B4-BE49-F238E27FC236}">
                <a16:creationId xmlns:a16="http://schemas.microsoft.com/office/drawing/2014/main" id="{0CEC6538-8794-C38B-FF43-79C12AB6C11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390" y="2289342"/>
            <a:ext cx="1332802" cy="1534485"/>
          </a:xfrm>
          <a:prstGeom prst="rect">
            <a:avLst/>
          </a:prstGeom>
        </p:spPr>
      </p:pic>
      <p:pic>
        <p:nvPicPr>
          <p:cNvPr id="44" name="图片 43" descr="IguanaTex Bitmap Display&#10;&#10;\documentclass{article}&#10;\usepackage{amsmath}&#10;\pagestyle{empty}&#10;\begin{document}&#10;&#10;$$&#10;\left\|\begin{array}{l}&#10;{x}_1^T{w}- y_1\\&#10;{x}_2^T{w}- y_2\\&#10;{x}_3^T{w}- y_3\\&#10;\vdots\\&#10;{x}_n^T{w}- y_n\\&#10;\end{array}&#10;\right\|_2^2$$&#10;&#10;\end{document}">
            <a:extLst>
              <a:ext uri="{FF2B5EF4-FFF2-40B4-BE49-F238E27FC236}">
                <a16:creationId xmlns:a16="http://schemas.microsoft.com/office/drawing/2014/main" id="{3E052207-040D-B96C-AA28-A0D3A0CAF65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016" y="4367807"/>
            <a:ext cx="1450528" cy="1545713"/>
          </a:xfrm>
          <a:prstGeom prst="rect">
            <a:avLst/>
          </a:prstGeom>
        </p:spPr>
      </p:pic>
      <p:pic>
        <p:nvPicPr>
          <p:cNvPr id="46" name="图片 45" descr="IguanaTex Bitmap Display&#10;&#10;\documentclass{article}&#10;\usepackage{amsmath}&#10;\pagestyle{empty}&#10;\begin{document}&#10;&#10;$$&#10;\left\|&#10;\left[\begin{array}{l}{x}_1^T\\&#10;{x}_2^T\\&#10;{x}_3^T\\&#10;\vdots\\&#10;{x}_n^T\end{array}\right]&#10;{w}-\left[\begin{array}{l}&#10;y_1\\&#10;y_2\\&#10;y_3\\&#10;\vdots\\&#10;y_n\end{array}\right]&#10;\right\|_2^2$$&#10;&#10;\end{document}">
            <a:extLst>
              <a:ext uri="{FF2B5EF4-FFF2-40B4-BE49-F238E27FC236}">
                <a16:creationId xmlns:a16="http://schemas.microsoft.com/office/drawing/2014/main" id="{541C14A2-2573-64D8-EEB7-F74DD415C93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709" y="4367808"/>
            <a:ext cx="2326861" cy="1560716"/>
          </a:xfrm>
          <a:prstGeom prst="rect">
            <a:avLst/>
          </a:prstGeom>
        </p:spPr>
      </p:pic>
      <p:sp>
        <p:nvSpPr>
          <p:cNvPr id="10" name="右箭头 30">
            <a:extLst>
              <a:ext uri="{FF2B5EF4-FFF2-40B4-BE49-F238E27FC236}">
                <a16:creationId xmlns:a16="http://schemas.microsoft.com/office/drawing/2014/main" id="{DA3AB7DA-1696-517C-8342-6FA94697DBF8}"/>
              </a:ext>
            </a:extLst>
          </p:cNvPr>
          <p:cNvSpPr/>
          <p:nvPr/>
        </p:nvSpPr>
        <p:spPr>
          <a:xfrm>
            <a:off x="5326744" y="4814438"/>
            <a:ext cx="419018" cy="316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31 1 1">
            <a:extLst>
              <a:ext uri="{FF2B5EF4-FFF2-40B4-BE49-F238E27FC236}">
                <a16:creationId xmlns:a16="http://schemas.microsoft.com/office/drawing/2014/main" id="{B466DFA9-EF72-25B5-C5D1-047D6556B7D1}"/>
              </a:ext>
            </a:extLst>
          </p:cNvPr>
          <p:cNvSpPr/>
          <p:nvPr/>
        </p:nvSpPr>
        <p:spPr>
          <a:xfrm>
            <a:off x="4608032" y="4000467"/>
            <a:ext cx="236206" cy="46434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80330A-975C-2026-BBC3-283D51AA1350}"/>
              </a:ext>
            </a:extLst>
          </p:cNvPr>
          <p:cNvSpPr/>
          <p:nvPr/>
        </p:nvSpPr>
        <p:spPr>
          <a:xfrm>
            <a:off x="5852059" y="4378787"/>
            <a:ext cx="699825" cy="16202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75D395E-BE71-7A7D-65CD-28E0419B9698}"/>
              </a:ext>
            </a:extLst>
          </p:cNvPr>
          <p:cNvCxnSpPr>
            <a:cxnSpLocks/>
          </p:cNvCxnSpPr>
          <p:nvPr/>
        </p:nvCxnSpPr>
        <p:spPr>
          <a:xfrm>
            <a:off x="6192180" y="6022176"/>
            <a:ext cx="179054" cy="2862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48BA34A-88FA-F06D-71EA-BEC432D205F8}"/>
              </a:ext>
            </a:extLst>
          </p:cNvPr>
          <p:cNvCxnSpPr>
            <a:cxnSpLocks/>
          </p:cNvCxnSpPr>
          <p:nvPr/>
        </p:nvCxnSpPr>
        <p:spPr>
          <a:xfrm>
            <a:off x="7559705" y="5900310"/>
            <a:ext cx="394945" cy="50655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图片 49" descr="IguanaTex Bitmap Display&#10;&#10;\documentclass{article}&#10;\usepackage{amsmath}&#10;\pagestyle{empty}&#10;\begin{document}&#10;$X^T$&#10;\end{document}">
            <a:extLst>
              <a:ext uri="{FF2B5EF4-FFF2-40B4-BE49-F238E27FC236}">
                <a16:creationId xmlns:a16="http://schemas.microsoft.com/office/drawing/2014/main" id="{25DFD9ED-9FBD-F7A7-1962-0047BFA68E9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08" y="6315515"/>
            <a:ext cx="655625" cy="378561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&#10;$y$&#10;&#10;\end{document}" title="IguanaTex Bitmap Display">
            <a:extLst>
              <a:ext uri="{FF2B5EF4-FFF2-40B4-BE49-F238E27FC236}">
                <a16:creationId xmlns:a16="http://schemas.microsoft.com/office/drawing/2014/main" id="{8EC3BA5C-F735-D3D0-D699-2D41F600408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520" y="6349588"/>
            <a:ext cx="213970" cy="293522"/>
          </a:xfrm>
          <a:prstGeom prst="rect">
            <a:avLst/>
          </a:prstGeom>
        </p:spPr>
      </p:pic>
      <p:pic>
        <p:nvPicPr>
          <p:cNvPr id="31" name="图片 30" descr="IguanaTex Bitmap Display&#10;&#10;\documentclass{article}&#10;\usepackage{amsmath}&#10;\pagestyle{empty}&#10;\begin{document}&#10;&#10;$&#10;({w}^Tx_1- y_1)^2+(w^Tx_2- y_2)^2+\cdots+({w}^T{x}_n- y_n)^2&#10;$&#10;&#10;&#10;\end{document}">
            <a:extLst>
              <a:ext uri="{FF2B5EF4-FFF2-40B4-BE49-F238E27FC236}">
                <a16:creationId xmlns:a16="http://schemas.microsoft.com/office/drawing/2014/main" id="{7D2E4EEE-5B45-70ED-E234-EB438B17CA9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56" y="1439254"/>
            <a:ext cx="6817136" cy="331414"/>
          </a:xfrm>
          <a:prstGeom prst="rect">
            <a:avLst/>
          </a:prstGeom>
        </p:spPr>
      </p:pic>
      <p:pic>
        <p:nvPicPr>
          <p:cNvPr id="21" name="图片 20" descr="IguanaTex Bitmap Display&#10;&#10;\documentclass{article}&#10;\usepackage{amsmath}&#10;\pagestyle{empty}&#10;\begin{document}&#10;&#10;$\begin{array}{l}&#10;a_1^2+a_2^2+a_3^2+\cdots+a_n^2\\&#10;=\left\|\left(&#10;\begin{array}{c}&#10;a_1\\&#10;a_2\\&#10;\cdots\\&#10;a_n&#10;\end{array}&#10;\right)\right\|=\|a\|_2^2&#10;\end{array}&#10;$&#10;&#10;&#10;\end{document}">
            <a:extLst>
              <a:ext uri="{FF2B5EF4-FFF2-40B4-BE49-F238E27FC236}">
                <a16:creationId xmlns:a16="http://schemas.microsoft.com/office/drawing/2014/main" id="{9164261A-1480-786E-6A92-2F946E600F1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3" y="2084606"/>
            <a:ext cx="2860461" cy="1730829"/>
          </a:xfrm>
          <a:prstGeom prst="rect">
            <a:avLst/>
          </a:prstGeom>
        </p:spPr>
      </p:pic>
      <p:sp>
        <p:nvSpPr>
          <p:cNvPr id="24" name="下箭头 31 1 2">
            <a:extLst>
              <a:ext uri="{FF2B5EF4-FFF2-40B4-BE49-F238E27FC236}">
                <a16:creationId xmlns:a16="http://schemas.microsoft.com/office/drawing/2014/main" id="{BC9D94D9-93B6-641F-D799-EF1BE676CE90}"/>
              </a:ext>
            </a:extLst>
          </p:cNvPr>
          <p:cNvSpPr/>
          <p:nvPr/>
        </p:nvSpPr>
        <p:spPr>
          <a:xfrm>
            <a:off x="4608033" y="1719532"/>
            <a:ext cx="311898" cy="6863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IguanaTex Bitmap Display&#10;&#10;\documentclass{article}&#10;\usepackage{amsmath}&#10;\pagestyle{empty}&#10;\begin{document}&#10;&#10;$$L=||X^Tw- y||_2^2\\&#10;$$&#10;&#10;&#10;\end{document}">
            <a:extLst>
              <a:ext uri="{FF2B5EF4-FFF2-40B4-BE49-F238E27FC236}">
                <a16:creationId xmlns:a16="http://schemas.microsoft.com/office/drawing/2014/main" id="{AE55C273-E679-264D-8B39-B430C924C5D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938" y="689322"/>
            <a:ext cx="2645664" cy="401117"/>
          </a:xfrm>
          <a:prstGeom prst="rect">
            <a:avLst/>
          </a:prstGeom>
        </p:spPr>
      </p:pic>
      <p:sp>
        <p:nvSpPr>
          <p:cNvPr id="52" name="箭头: 直角上 51">
            <a:extLst>
              <a:ext uri="{FF2B5EF4-FFF2-40B4-BE49-F238E27FC236}">
                <a16:creationId xmlns:a16="http://schemas.microsoft.com/office/drawing/2014/main" id="{90BAC159-C34D-84D5-5999-883EA01E9866}"/>
              </a:ext>
            </a:extLst>
          </p:cNvPr>
          <p:cNvSpPr/>
          <p:nvPr/>
        </p:nvSpPr>
        <p:spPr>
          <a:xfrm>
            <a:off x="8000658" y="1275462"/>
            <a:ext cx="585250" cy="4049912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4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0" grpId="0" animBg="1"/>
      <p:bldP spid="12" grpId="0" animBg="1"/>
      <p:bldP spid="13" grpId="0" animBg="1"/>
      <p:bldP spid="24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94D8BF8-484C-92AB-57A1-6E44843288D5}"/>
              </a:ext>
            </a:extLst>
          </p:cNvPr>
          <p:cNvSpPr/>
          <p:nvPr/>
        </p:nvSpPr>
        <p:spPr>
          <a:xfrm>
            <a:off x="5803721" y="4163685"/>
            <a:ext cx="269264" cy="17252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D78E3BD-A56C-5835-0775-75515BCE58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219" y="3837341"/>
            <a:ext cx="400507" cy="26883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39ABCAB-DE14-4BDB-293B-426EBA089091}"/>
              </a:ext>
            </a:extLst>
          </p:cNvPr>
          <p:cNvSpPr/>
          <p:nvPr/>
        </p:nvSpPr>
        <p:spPr>
          <a:xfrm>
            <a:off x="5802693" y="5911970"/>
            <a:ext cx="269264" cy="195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925537-85C5-5CBB-3E45-1A5A7947EF74}"/>
              </a:ext>
            </a:extLst>
          </p:cNvPr>
          <p:cNvSpPr/>
          <p:nvPr/>
        </p:nvSpPr>
        <p:spPr>
          <a:xfrm>
            <a:off x="6278177" y="4178061"/>
            <a:ext cx="269264" cy="17252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DD643727-7FD4-8D9B-3A2D-895CFA77CB8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77" y="3840215"/>
            <a:ext cx="411480" cy="26883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D8FE160-A2D6-A16B-3578-26E724EACA70}"/>
              </a:ext>
            </a:extLst>
          </p:cNvPr>
          <p:cNvSpPr/>
          <p:nvPr/>
        </p:nvSpPr>
        <p:spPr>
          <a:xfrm>
            <a:off x="6787139" y="4198188"/>
            <a:ext cx="269264" cy="17252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529F1C96-F914-E83A-F12C-71CAEFA18BA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139" y="3860342"/>
            <a:ext cx="414223" cy="27432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5276803-3933-247C-9767-7801C788B170}"/>
              </a:ext>
            </a:extLst>
          </p:cNvPr>
          <p:cNvSpPr/>
          <p:nvPr/>
        </p:nvSpPr>
        <p:spPr>
          <a:xfrm>
            <a:off x="7756171" y="4201062"/>
            <a:ext cx="269264" cy="172528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x_n$&#10;&#10;&#10;\end{document}" title="IguanaTex Bitmap Display">
            <a:extLst>
              <a:ext uri="{FF2B5EF4-FFF2-40B4-BE49-F238E27FC236}">
                <a16:creationId xmlns:a16="http://schemas.microsoft.com/office/drawing/2014/main" id="{B768906E-C5CD-4A66-60A7-74E5C682D0F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172" y="3863216"/>
            <a:ext cx="460857" cy="27157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69BAF65-485A-AC32-63DF-BF10567F6F15}"/>
              </a:ext>
            </a:extLst>
          </p:cNvPr>
          <p:cNvSpPr txBox="1"/>
          <p:nvPr/>
        </p:nvSpPr>
        <p:spPr>
          <a:xfrm>
            <a:off x="7108156" y="4836545"/>
            <a:ext cx="648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22" name="右大括号 21">
            <a:extLst>
              <a:ext uri="{FF2B5EF4-FFF2-40B4-BE49-F238E27FC236}">
                <a16:creationId xmlns:a16="http://schemas.microsoft.com/office/drawing/2014/main" id="{B13FF007-A579-7745-90BA-803983011F0B}"/>
              </a:ext>
            </a:extLst>
          </p:cNvPr>
          <p:cNvSpPr/>
          <p:nvPr/>
        </p:nvSpPr>
        <p:spPr>
          <a:xfrm rot="10800000">
            <a:off x="5321683" y="4134661"/>
            <a:ext cx="401683" cy="1898081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996DDB-F54D-5244-F249-1109E2BCC7F1}"/>
              </a:ext>
            </a:extLst>
          </p:cNvPr>
          <p:cNvSpPr txBox="1"/>
          <p:nvPr/>
        </p:nvSpPr>
        <p:spPr>
          <a:xfrm>
            <a:off x="4876800" y="4727275"/>
            <a:ext cx="494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769EB8-AE2D-D3FC-947A-6EDB229C6951}"/>
              </a:ext>
            </a:extLst>
          </p:cNvPr>
          <p:cNvSpPr/>
          <p:nvPr/>
        </p:nvSpPr>
        <p:spPr>
          <a:xfrm>
            <a:off x="6282900" y="5920595"/>
            <a:ext cx="269264" cy="195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FAF749A-A0C8-DA69-6863-9CDC58C6FB75}"/>
              </a:ext>
            </a:extLst>
          </p:cNvPr>
          <p:cNvSpPr/>
          <p:nvPr/>
        </p:nvSpPr>
        <p:spPr>
          <a:xfrm>
            <a:off x="6791862" y="5929220"/>
            <a:ext cx="269264" cy="195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E26A3D-45FA-0E7A-40C7-6571A4053B3F}"/>
              </a:ext>
            </a:extLst>
          </p:cNvPr>
          <p:cNvSpPr/>
          <p:nvPr/>
        </p:nvSpPr>
        <p:spPr>
          <a:xfrm>
            <a:off x="7772406" y="5943596"/>
            <a:ext cx="269264" cy="195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2" name="標題 1 1 1">
            <a:extLst>
              <a:ext uri="{FF2B5EF4-FFF2-40B4-BE49-F238E27FC236}">
                <a16:creationId xmlns:a16="http://schemas.microsoft.com/office/drawing/2014/main" id="{B4DCEF16-1158-5939-09F7-FB6A9041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20" y="93400"/>
            <a:ext cx="8097905" cy="54042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-</a:t>
            </a:r>
            <a:r>
              <a:rPr lang="zh-CN" altLang="en-US" dirty="0"/>
              <a:t>总结</a:t>
            </a:r>
            <a:endParaRPr lang="zh-TW" altLang="en-US" dirty="0"/>
          </a:p>
        </p:txBody>
      </p:sp>
      <p:pic>
        <p:nvPicPr>
          <p:cNvPr id="4" name="图片 3" descr="\documentclass{article}&#10;\usepackage{amsmath}&#10;\pagestyle{empty}&#10;\begin{document}&#10;&#10;$$L(w,b)=\sum\limits_{i=1}^n(w^Tx_i+b- y_i)^2\\&#10;$$&#10;&#10;&#10;\end{document}" title="IguanaTex Bitmap Display">
            <a:extLst>
              <a:ext uri="{FF2B5EF4-FFF2-40B4-BE49-F238E27FC236}">
                <a16:creationId xmlns:a16="http://schemas.microsoft.com/office/drawing/2014/main" id="{4468A1AA-B8D6-E630-AC8A-CD256702F20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3" y="793212"/>
            <a:ext cx="3488853" cy="739715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L(w)=\sum\limits_{i=1}^n(w^Tx_i- y_i)^2\\&#10;$&#10;&#10;&#10;\end{document}" title="IguanaTex Bitmap Display">
            <a:extLst>
              <a:ext uri="{FF2B5EF4-FFF2-40B4-BE49-F238E27FC236}">
                <a16:creationId xmlns:a16="http://schemas.microsoft.com/office/drawing/2014/main" id="{59FDBE3D-2867-B615-9F00-CCA3BB9CA44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13" y="2246935"/>
            <a:ext cx="3304249" cy="691136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$L(w)=||X^Tw- y||_2^2\\&#10;$$&#10;&#10;&#10;\end{document}" title="IguanaTex Bitmap Display">
            <a:extLst>
              <a:ext uri="{FF2B5EF4-FFF2-40B4-BE49-F238E27FC236}">
                <a16:creationId xmlns:a16="http://schemas.microsoft.com/office/drawing/2014/main" id="{0FFBF865-4C94-06D9-2935-31B1CA80664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13" y="3077297"/>
            <a:ext cx="2530273" cy="31882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79B1777A-F791-DA34-8356-57C0B5FD62F5}"/>
              </a:ext>
            </a:extLst>
          </p:cNvPr>
          <p:cNvSpPr/>
          <p:nvPr/>
        </p:nvSpPr>
        <p:spPr>
          <a:xfrm>
            <a:off x="489114" y="2081842"/>
            <a:ext cx="3886021" cy="16160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F5E82104-62C6-F604-9979-E82DB458599F}"/>
              </a:ext>
            </a:extLst>
          </p:cNvPr>
          <p:cNvCxnSpPr>
            <a:stCxn id="25" idx="2"/>
            <a:endCxn id="23" idx="1"/>
          </p:cNvCxnSpPr>
          <p:nvPr/>
        </p:nvCxnSpPr>
        <p:spPr>
          <a:xfrm rot="16200000" flipH="1">
            <a:off x="2978170" y="3151811"/>
            <a:ext cx="1352584" cy="2444675"/>
          </a:xfrm>
          <a:prstGeom prst="bentConnector2">
            <a:avLst/>
          </a:prstGeom>
          <a:ln w="476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3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3" grpId="0" animBg="1"/>
      <p:bldP spid="21" grpId="0"/>
      <p:bldP spid="22" grpId="0" animBg="1"/>
      <p:bldP spid="23" grpId="0"/>
      <p:bldP spid="26" grpId="0" animBg="1"/>
      <p:bldP spid="27" grpId="0" animBg="1"/>
      <p:bldP spid="28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考虑一元损失函数 </a:t>
            </a:r>
            <a:r>
              <a:rPr lang="en-US" altLang="zh-TW" sz="2400" dirty="0">
                <a:latin typeface="Cambria Math" panose="02040503050406030204" pitchFamily="18" charset="0"/>
              </a:rPr>
              <a:t>𝐿(𝑤),</a:t>
            </a:r>
            <a:r>
              <a:rPr lang="en-US" altLang="zh-TW" sz="2400" dirty="0"/>
              <a:t> w</a:t>
            </a:r>
            <a:r>
              <a:rPr lang="zh-CN" altLang="en-US" sz="2400" dirty="0"/>
              <a:t>为自变量</a:t>
            </a:r>
            <a:r>
              <a:rPr lang="en-US" altLang="zh-TW" sz="2400" dirty="0"/>
              <a:t>: </a:t>
            </a:r>
          </a:p>
          <a:p>
            <a:pPr marL="457200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blipFill>
                <a:blip r:embed="rId3"/>
                <a:stretch>
                  <a:fillRect t="-58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526852" y="5999166"/>
            <a:ext cx="8281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567718"/>
              </p:ext>
            </p:extLst>
          </p:nvPr>
        </p:nvGraphicFramePr>
        <p:xfrm>
          <a:off x="8290382" y="6032024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139680" progId="Equation.3">
                  <p:embed/>
                </p:oleObj>
              </mc:Choice>
              <mc:Fallback>
                <p:oleObj name="方程式" r:id="rId4" imgW="152280" imgH="139680" progId="Equation.3">
                  <p:embed/>
                  <p:pic>
                    <p:nvPicPr>
                      <p:cNvPr id="2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0382" y="6032024"/>
                        <a:ext cx="327025" cy="29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1339907" y="2445530"/>
            <a:ext cx="0" cy="38771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994530" y="2356475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59"/>
          <p:cNvSpPr/>
          <p:nvPr/>
        </p:nvSpPr>
        <p:spPr>
          <a:xfrm flipH="1">
            <a:off x="7661489" y="2360156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  <a:blipFill>
                <a:blip r:embed="rId6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/>
          <p:cNvSpPr txBox="1"/>
          <p:nvPr/>
        </p:nvSpPr>
        <p:spPr>
          <a:xfrm>
            <a:off x="2073695" y="2366222"/>
            <a:ext cx="529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400" dirty="0"/>
              <a:t>(Randomly) </a:t>
            </a:r>
            <a:r>
              <a:rPr lang="zh-CN" altLang="en-US" sz="2400" dirty="0"/>
              <a:t>选取初值</a:t>
            </a:r>
            <a:r>
              <a:rPr lang="en-US" altLang="zh-TW" sz="2400" dirty="0"/>
              <a:t>w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12" name="橢圓 11"/>
          <p:cNvSpPr/>
          <p:nvPr/>
        </p:nvSpPr>
        <p:spPr>
          <a:xfrm>
            <a:off x="1894642" y="5840225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1971466" y="4455075"/>
            <a:ext cx="0" cy="147187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blipFill>
                <a:blip r:embed="rId7"/>
                <a:stretch>
                  <a:fillRect l="-1798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736304" y="5979159"/>
            <a:ext cx="508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1271969" y="3824924"/>
            <a:ext cx="1591247" cy="1508056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1990542" y="3354664"/>
            <a:ext cx="1328230" cy="1100411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圖片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94" y="3445371"/>
            <a:ext cx="1163839" cy="116383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169298" y="75518"/>
            <a:ext cx="2974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http://chico386.pixnet.net/album/photo/171572850</a:t>
            </a:r>
          </a:p>
        </p:txBody>
      </p:sp>
    </p:spTree>
    <p:extLst>
      <p:ext uri="{BB962C8B-B14F-4D97-AF65-F5344CB8AC3E}">
        <p14:creationId xmlns:p14="http://schemas.microsoft.com/office/powerpoint/2010/main" val="392699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 animBg="1"/>
      <p:bldP spid="10" grpId="0"/>
      <p:bldP spid="11" grpId="0"/>
      <p:bldP spid="12" grpId="0" animBg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考虑一元损失函数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Cambria Math" panose="02040503050406030204" pitchFamily="18" charset="0"/>
              </a:rPr>
              <a:t>𝐿(𝑤),</a:t>
            </a:r>
            <a:r>
              <a:rPr lang="en-US" altLang="zh-TW" sz="2400" dirty="0"/>
              <a:t> w</a:t>
            </a:r>
            <a:r>
              <a:rPr lang="zh-CN" altLang="en-US" sz="2400" dirty="0"/>
              <a:t>为自变量</a:t>
            </a:r>
            <a:r>
              <a:rPr lang="en-US" altLang="zh-TW" sz="2400" dirty="0"/>
              <a:t>: </a:t>
            </a:r>
          </a:p>
          <a:p>
            <a:pPr marL="457200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blipFill>
                <a:blip r:embed="rId3"/>
                <a:stretch>
                  <a:fillRect t="-58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526852" y="5999166"/>
            <a:ext cx="8281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8290382" y="6032024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2280" imgH="139680" progId="Equation.3">
                  <p:embed/>
                </p:oleObj>
              </mc:Choice>
              <mc:Fallback>
                <p:oleObj name="方程式" r:id="rId4" imgW="152280" imgH="13968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0382" y="6032024"/>
                        <a:ext cx="327025" cy="29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1339907" y="2445530"/>
            <a:ext cx="0" cy="38771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994530" y="2356475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59"/>
          <p:cNvSpPr/>
          <p:nvPr/>
        </p:nvSpPr>
        <p:spPr>
          <a:xfrm flipH="1">
            <a:off x="7661489" y="2360156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073695" y="2366222"/>
            <a:ext cx="529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400" dirty="0"/>
              <a:t>(Randomly) </a:t>
            </a:r>
            <a:r>
              <a:rPr lang="zh-CN" altLang="en-US" sz="2400" dirty="0"/>
              <a:t>选取初值</a:t>
            </a:r>
            <a:r>
              <a:rPr lang="en-US" altLang="zh-TW" sz="2400" dirty="0"/>
              <a:t> w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12" name="橢圓 11"/>
          <p:cNvSpPr/>
          <p:nvPr/>
        </p:nvSpPr>
        <p:spPr>
          <a:xfrm>
            <a:off x="1894642" y="5840225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1971466" y="4455075"/>
            <a:ext cx="0" cy="147187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计算梯度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blipFill>
                <a:blip r:embed="rId6"/>
                <a:stretch>
                  <a:fillRect l="-1798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736304" y="5979159"/>
            <a:ext cx="508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1271969" y="3824924"/>
            <a:ext cx="1591247" cy="1508056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>
            <a:off x="1990542" y="3354664"/>
            <a:ext cx="1328230" cy="1100411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31"/>
          <p:cNvSpPr/>
          <p:nvPr/>
        </p:nvSpPr>
        <p:spPr>
          <a:xfrm>
            <a:off x="2163265" y="5859757"/>
            <a:ext cx="1331649" cy="20109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94" y="3445371"/>
            <a:ext cx="1163839" cy="1163839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6169298" y="75518"/>
            <a:ext cx="2974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http://chico386.pixnet.net/album/photo/171572850</a:t>
            </a:r>
          </a:p>
        </p:txBody>
      </p:sp>
      <p:sp>
        <p:nvSpPr>
          <p:cNvPr id="27" name="橢圓 26"/>
          <p:cNvSpPr/>
          <p:nvPr/>
        </p:nvSpPr>
        <p:spPr>
          <a:xfrm>
            <a:off x="3535534" y="5892002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2074707" y="6013892"/>
                <a:ext cx="2032157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707" y="6013892"/>
                <a:ext cx="2032157" cy="7935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348694" y="2899587"/>
                <a:ext cx="3322139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694" y="2899587"/>
                <a:ext cx="3322139" cy="7935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4065080" y="5566010"/>
            <a:ext cx="2377921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l-GR" altLang="zh-TW" sz="2800" dirty="0"/>
              <a:t>η</a:t>
            </a:r>
            <a:r>
              <a:rPr lang="en-US" altLang="zh-TW" sz="2800" dirty="0"/>
              <a:t> </a:t>
            </a:r>
            <a:r>
              <a:rPr lang="zh-CN" altLang="en-US" sz="2000" dirty="0"/>
              <a:t>称为学习速率</a:t>
            </a:r>
            <a:r>
              <a:rPr lang="en-US" altLang="zh-TW" sz="2800" dirty="0"/>
              <a:t> “</a:t>
            </a:r>
            <a:r>
              <a:rPr lang="en-US" altLang="zh-TW" sz="2800" b="1" i="1" dirty="0"/>
              <a:t>learning rate</a:t>
            </a:r>
            <a:r>
              <a:rPr lang="en-US" altLang="zh-TW" sz="2800" dirty="0"/>
              <a:t>”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  <a:blipFill>
                <a:blip r:embed="rId11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6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/>
      <p:bldP spid="29" grpId="0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接點 31"/>
          <p:cNvCxnSpPr/>
          <p:nvPr/>
        </p:nvCxnSpPr>
        <p:spPr>
          <a:xfrm>
            <a:off x="3634740" y="4977402"/>
            <a:ext cx="0" cy="97666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4449136" y="5020297"/>
            <a:ext cx="0" cy="97666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考虑一元损失函数</a:t>
            </a:r>
            <a:r>
              <a:rPr lang="en-US" altLang="zh-TW" sz="2400" dirty="0"/>
              <a:t> </a:t>
            </a:r>
            <a:r>
              <a:rPr lang="en-US" altLang="zh-TW" sz="2400" dirty="0">
                <a:latin typeface="Cambria Math" panose="02040503050406030204" pitchFamily="18" charset="0"/>
              </a:rPr>
              <a:t>𝐿(𝑤),</a:t>
            </a:r>
            <a:r>
              <a:rPr lang="en-US" altLang="zh-TW" sz="2400" dirty="0"/>
              <a:t> w</a:t>
            </a:r>
            <a:r>
              <a:rPr lang="zh-CN" altLang="en-US" sz="2400" dirty="0"/>
              <a:t>为自变量：</a:t>
            </a: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Loss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9" y="3049867"/>
                <a:ext cx="1400487" cy="830997"/>
              </a:xfrm>
              <a:prstGeom prst="rect">
                <a:avLst/>
              </a:prstGeom>
              <a:blipFill>
                <a:blip r:embed="rId4"/>
                <a:stretch>
                  <a:fillRect t="-58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單箭頭接點 4"/>
          <p:cNvCxnSpPr/>
          <p:nvPr/>
        </p:nvCxnSpPr>
        <p:spPr>
          <a:xfrm>
            <a:off x="526852" y="5999166"/>
            <a:ext cx="82811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8290382" y="6032024"/>
          <a:ext cx="3270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52280" imgH="139680" progId="Equation.3">
                  <p:embed/>
                </p:oleObj>
              </mc:Choice>
              <mc:Fallback>
                <p:oleObj name="方程式" r:id="rId5" imgW="152280" imgH="139680" progId="Equation.3">
                  <p:embed/>
                  <p:pic>
                    <p:nvPicPr>
                      <p:cNvPr id="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0382" y="6032024"/>
                        <a:ext cx="327025" cy="298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線單箭頭接點 6"/>
          <p:cNvCxnSpPr/>
          <p:nvPr/>
        </p:nvCxnSpPr>
        <p:spPr>
          <a:xfrm flipV="1">
            <a:off x="1339907" y="2445530"/>
            <a:ext cx="0" cy="38771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54"/>
          <p:cNvSpPr/>
          <p:nvPr/>
        </p:nvSpPr>
        <p:spPr>
          <a:xfrm>
            <a:off x="994530" y="2356475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59"/>
          <p:cNvSpPr/>
          <p:nvPr/>
        </p:nvSpPr>
        <p:spPr>
          <a:xfrm flipH="1">
            <a:off x="7661489" y="2360156"/>
            <a:ext cx="6681626" cy="4208267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941312 w 7754816"/>
              <a:gd name="connsiteY2" fmla="*/ 2760785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767202 w 7754816"/>
              <a:gd name="connsiteY2" fmla="*/ 271724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" fmla="*/ 0 w 7754816"/>
              <a:gd name="connsiteY0" fmla="*/ 0 h 4208267"/>
              <a:gd name="connsiteX1" fmla="*/ 1314558 w 7754816"/>
              <a:gd name="connsiteY1" fmla="*/ 2225710 h 4208267"/>
              <a:gd name="connsiteX2" fmla="*/ 3823199 w 7754816"/>
              <a:gd name="connsiteY2" fmla="*/ 2698193 h 4208267"/>
              <a:gd name="connsiteX3" fmla="*/ 5732254 w 7754816"/>
              <a:gd name="connsiteY3" fmla="*/ 3511062 h 4208267"/>
              <a:gd name="connsiteX4" fmla="*/ 6289268 w 7754816"/>
              <a:gd name="connsiteY4" fmla="*/ 27549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677358" y="1776011"/>
                  <a:pt x="1314558" y="2225710"/>
                </a:cubicBezTo>
                <a:cubicBezTo>
                  <a:pt x="1951758" y="2675409"/>
                  <a:pt x="3073523" y="2701682"/>
                  <a:pt x="3823199" y="2698193"/>
                </a:cubicBezTo>
                <a:cubicBezTo>
                  <a:pt x="4572875" y="2694704"/>
                  <a:pt x="5321243" y="3501607"/>
                  <a:pt x="5732254" y="3511062"/>
                </a:cubicBezTo>
                <a:cubicBezTo>
                  <a:pt x="6143265" y="3520517"/>
                  <a:pt x="6133882" y="2941515"/>
                  <a:pt x="6289268" y="2754923"/>
                </a:cubicBezTo>
                <a:cubicBezTo>
                  <a:pt x="6444654" y="2568331"/>
                  <a:pt x="6452551" y="2185377"/>
                  <a:pt x="6664570" y="2391508"/>
                </a:cubicBezTo>
                <a:cubicBezTo>
                  <a:pt x="6876589" y="25976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2073695" y="2366222"/>
            <a:ext cx="529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400" dirty="0"/>
              <a:t>(Randomly)  </a:t>
            </a:r>
            <a:r>
              <a:rPr lang="zh-CN" altLang="en-US" sz="2400" dirty="0"/>
              <a:t>选取</a:t>
            </a:r>
            <a:r>
              <a:rPr lang="en-US" altLang="zh-TW" sz="2400" dirty="0"/>
              <a:t>w</a:t>
            </a:r>
            <a:r>
              <a:rPr lang="en-US" altLang="zh-TW" sz="2400" baseline="30000" dirty="0"/>
              <a:t>0</a:t>
            </a:r>
            <a:endParaRPr lang="zh-TW" altLang="en-US" sz="2400" baseline="-25000" dirty="0"/>
          </a:p>
        </p:txBody>
      </p:sp>
      <p:sp>
        <p:nvSpPr>
          <p:cNvPr id="12" name="橢圓 11"/>
          <p:cNvSpPr/>
          <p:nvPr/>
        </p:nvSpPr>
        <p:spPr>
          <a:xfrm>
            <a:off x="1894642" y="5840225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1971466" y="4455075"/>
            <a:ext cx="0" cy="1471877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441" y="2800379"/>
                <a:ext cx="4406380" cy="624273"/>
              </a:xfrm>
              <a:prstGeom prst="rect">
                <a:avLst/>
              </a:prstGeom>
              <a:blipFill>
                <a:blip r:embed="rId7"/>
                <a:stretch>
                  <a:fillRect l="-1798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736304" y="5979159"/>
            <a:ext cx="508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cxnSp>
        <p:nvCxnSpPr>
          <p:cNvPr id="16" name="直線接點 15"/>
          <p:cNvCxnSpPr/>
          <p:nvPr/>
        </p:nvCxnSpPr>
        <p:spPr>
          <a:xfrm>
            <a:off x="1271969" y="3824924"/>
            <a:ext cx="1591247" cy="1508056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向右箭號 31"/>
          <p:cNvSpPr/>
          <p:nvPr/>
        </p:nvSpPr>
        <p:spPr>
          <a:xfrm>
            <a:off x="2163265" y="5859757"/>
            <a:ext cx="1331649" cy="20109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3535534" y="5892002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334180" y="2870559"/>
                <a:ext cx="3322139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180" y="2870559"/>
                <a:ext cx="3322139" cy="793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橢圓 30"/>
          <p:cNvSpPr/>
          <p:nvPr/>
        </p:nvSpPr>
        <p:spPr>
          <a:xfrm>
            <a:off x="3535534" y="5877488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/>
          <p:nvPr/>
        </p:nvCxnSpPr>
        <p:spPr>
          <a:xfrm>
            <a:off x="2940040" y="4973721"/>
            <a:ext cx="1298213" cy="20277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349821" y="5858169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右箭號 31"/>
          <p:cNvSpPr/>
          <p:nvPr/>
        </p:nvSpPr>
        <p:spPr>
          <a:xfrm>
            <a:off x="3734047" y="5885468"/>
            <a:ext cx="578067" cy="20109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2079778" y="3592119"/>
                <a:ext cx="4406380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778" y="3592119"/>
                <a:ext cx="4406380" cy="624273"/>
              </a:xfrm>
              <a:prstGeom prst="rect">
                <a:avLst/>
              </a:prstGeom>
              <a:blipFill>
                <a:blip r:embed="rId9"/>
                <a:stretch>
                  <a:fillRect l="-1798" b="-4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5315677" y="3690958"/>
                <a:ext cx="3322139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677" y="3690958"/>
                <a:ext cx="3322139" cy="7935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2945325" y="4284519"/>
            <a:ext cx="2773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70C0"/>
                </a:solidFill>
              </a:rPr>
              <a:t>…… </a:t>
            </a:r>
            <a:r>
              <a:rPr lang="zh-CN" altLang="en-US" sz="2400" dirty="0">
                <a:solidFill>
                  <a:srgbClr val="0070C0"/>
                </a:solidFill>
              </a:rPr>
              <a:t>多次迭代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5838386" y="5877488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7557378" y="5901064"/>
            <a:ext cx="191799" cy="1917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/>
          <p:nvPr/>
        </p:nvCxnSpPr>
        <p:spPr>
          <a:xfrm>
            <a:off x="7658976" y="6011478"/>
            <a:ext cx="0" cy="523521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08" name="文字方塊 43007"/>
          <p:cNvSpPr txBox="1"/>
          <p:nvPr/>
        </p:nvSpPr>
        <p:spPr>
          <a:xfrm>
            <a:off x="5332699" y="4902744"/>
            <a:ext cx="121592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Local minima</a:t>
            </a:r>
            <a:endParaRPr lang="zh-TW" altLang="en-US" sz="24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7034004" y="5029473"/>
            <a:ext cx="1284304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global minima</a:t>
            </a:r>
            <a:endParaRPr lang="zh-TW" altLang="en-US" sz="2400" dirty="0"/>
          </a:p>
        </p:txBody>
      </p:sp>
      <p:sp>
        <p:nvSpPr>
          <p:cNvPr id="47" name="矩形 46"/>
          <p:cNvSpPr/>
          <p:nvPr/>
        </p:nvSpPr>
        <p:spPr>
          <a:xfrm>
            <a:off x="3396285" y="6019181"/>
            <a:ext cx="508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48" name="矩形 47"/>
          <p:cNvSpPr/>
          <p:nvPr/>
        </p:nvSpPr>
        <p:spPr>
          <a:xfrm>
            <a:off x="4188752" y="6025439"/>
            <a:ext cx="508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w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49" name="矩形 48"/>
          <p:cNvSpPr/>
          <p:nvPr/>
        </p:nvSpPr>
        <p:spPr>
          <a:xfrm>
            <a:off x="5738168" y="6034579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/>
              <a:t>w</a:t>
            </a:r>
            <a:r>
              <a:rPr lang="en-US" altLang="zh-TW" sz="2400" baseline="30000" dirty="0" err="1"/>
              <a:t>T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331" y="1356089"/>
                <a:ext cx="2809615" cy="572849"/>
              </a:xfrm>
              <a:prstGeom prst="rect">
                <a:avLst/>
              </a:prstGeom>
              <a:blipFill>
                <a:blip r:embed="rId11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6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7" grpId="0" animBg="1"/>
      <p:bldP spid="39" grpId="0"/>
      <p:bldP spid="40" grpId="0"/>
      <p:bldP spid="22" grpId="0"/>
      <p:bldP spid="41" grpId="0" animBg="1"/>
      <p:bldP spid="42" grpId="0" animBg="1"/>
      <p:bldP spid="43008" grpId="0" animBg="1"/>
      <p:bldP spid="46" grpId="0" animBg="1"/>
      <p:bldP spid="48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1578" y="118911"/>
            <a:ext cx="3276241" cy="883566"/>
          </a:xfrm>
        </p:spPr>
        <p:txBody>
          <a:bodyPr/>
          <a:lstStyle/>
          <a:p>
            <a:r>
              <a:rPr lang="zh-CN" altLang="en-US" dirty="0"/>
              <a:t>梯度下降法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4144" y="1756613"/>
            <a:ext cx="7886700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+mn-ea"/>
              </a:rPr>
              <a:t>若</a:t>
            </a:r>
            <a:r>
              <a:rPr lang="en-US" altLang="zh-CN" sz="2000" i="1" dirty="0">
                <a:latin typeface="+mn-ea"/>
              </a:rPr>
              <a:t>L</a:t>
            </a:r>
            <a:r>
              <a:rPr lang="zh-CN" altLang="en-US" sz="2000" dirty="0">
                <a:latin typeface="+mn-ea"/>
              </a:rPr>
              <a:t>是“二元”函数，如何梯度下降？</a:t>
            </a:r>
            <a:endParaRPr lang="zh-TW" altLang="en-US" sz="20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057020" y="1737563"/>
                <a:ext cx="3324243" cy="509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020" y="1737563"/>
                <a:ext cx="3324243" cy="509050"/>
              </a:xfrm>
              <a:prstGeom prst="rect">
                <a:avLst/>
              </a:prstGeom>
              <a:blipFill>
                <a:blip r:embed="rId3"/>
                <a:stretch>
                  <a:fillRect l="-917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919821" y="2444755"/>
            <a:ext cx="529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400" dirty="0"/>
              <a:t>(Randomly) </a:t>
            </a:r>
            <a:r>
              <a:rPr lang="zh-CN" altLang="en-US" sz="2000" dirty="0"/>
              <a:t>选取初值</a:t>
            </a:r>
            <a:r>
              <a:rPr lang="en-US" altLang="zh-TW" sz="2400" dirty="0"/>
              <a:t> w</a:t>
            </a:r>
            <a:r>
              <a:rPr lang="en-US" altLang="zh-TW" sz="2400" baseline="30000" dirty="0"/>
              <a:t>0</a:t>
            </a:r>
            <a:r>
              <a:rPr lang="en-US" altLang="zh-TW" sz="2400" dirty="0"/>
              <a:t>,</a:t>
            </a:r>
            <a:r>
              <a:rPr lang="en-US" altLang="zh-TW" sz="2400" baseline="-25000" dirty="0"/>
              <a:t> </a:t>
            </a:r>
            <a:r>
              <a:rPr lang="en-US" altLang="zh-TW" sz="2400" dirty="0"/>
              <a:t>b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919821" y="3006884"/>
                <a:ext cx="7021273" cy="635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21" y="3006884"/>
                <a:ext cx="7021273" cy="635367"/>
              </a:xfrm>
              <a:prstGeom prst="rect">
                <a:avLst/>
              </a:prstGeom>
              <a:blipFill>
                <a:blip r:embed="rId4"/>
                <a:stretch>
                  <a:fillRect l="-1215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89181" y="3773924"/>
                <a:ext cx="4142969" cy="79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81" y="3773924"/>
                <a:ext cx="4142969" cy="794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919821" y="4764972"/>
                <a:ext cx="6184410" cy="635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计算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21" y="4764972"/>
                <a:ext cx="6184410" cy="635367"/>
              </a:xfrm>
              <a:prstGeom prst="rect">
                <a:avLst/>
              </a:prstGeom>
              <a:blipFill>
                <a:blip r:embed="rId6"/>
                <a:stretch>
                  <a:fillRect l="-1381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359109" y="3809748"/>
                <a:ext cx="4394776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109" y="3809748"/>
                <a:ext cx="4394776" cy="7935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/>
          <p:cNvGrpSpPr/>
          <p:nvPr/>
        </p:nvGrpSpPr>
        <p:grpSpPr>
          <a:xfrm>
            <a:off x="6455197" y="106211"/>
            <a:ext cx="2688803" cy="1489145"/>
            <a:chOff x="6455197" y="106211"/>
            <a:chExt cx="2688803" cy="14891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/>
                <p:cNvSpPr txBox="1"/>
                <p:nvPr/>
              </p:nvSpPr>
              <p:spPr>
                <a:xfrm>
                  <a:off x="7255464" y="118911"/>
                  <a:ext cx="692561" cy="14575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0" name="文字方塊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5464" y="118911"/>
                  <a:ext cx="692561" cy="145751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/>
                <p:cNvSpPr txBox="1"/>
                <p:nvPr/>
              </p:nvSpPr>
              <p:spPr>
                <a:xfrm>
                  <a:off x="6512888" y="663002"/>
                  <a:ext cx="74257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" name="文字方塊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888" y="663002"/>
                  <a:ext cx="742576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9016" r="-3279" b="-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字方塊 11"/>
            <p:cNvSpPr txBox="1"/>
            <p:nvPr/>
          </p:nvSpPr>
          <p:spPr>
            <a:xfrm>
              <a:off x="7847659" y="1133691"/>
              <a:ext cx="12963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gradient</a:t>
              </a:r>
              <a:endParaRPr lang="zh-TW" altLang="en-US" sz="24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6455197" y="106211"/>
              <a:ext cx="2625303" cy="147644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89181" y="5639811"/>
                <a:ext cx="4142969" cy="79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81" y="5639811"/>
                <a:ext cx="4142969" cy="7945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359109" y="5658741"/>
                <a:ext cx="4394776" cy="793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b>
                        <m:sSubPr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109" y="5658741"/>
                <a:ext cx="4394776" cy="7935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6537845" y="445828"/>
            <a:ext cx="654119" cy="802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48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/>
      <p:bldP spid="18" grpId="0"/>
      <p:bldP spid="19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1085270" y="1294295"/>
            <a:ext cx="7092867" cy="5319650"/>
            <a:chOff x="706835" y="2011916"/>
            <a:chExt cx="6113826" cy="458536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835" y="2011916"/>
              <a:ext cx="6113826" cy="458536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3675390" y="6267363"/>
                  <a:ext cx="208919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5390" y="6267363"/>
                  <a:ext cx="208919" cy="318352"/>
                </a:xfrm>
                <a:prstGeom prst="rect">
                  <a:avLst/>
                </a:prstGeom>
                <a:blipFill>
                  <a:blip r:embed="rId4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/>
                <p:cNvSpPr txBox="1"/>
                <p:nvPr/>
              </p:nvSpPr>
              <p:spPr>
                <a:xfrm>
                  <a:off x="843326" y="4119935"/>
                  <a:ext cx="263414" cy="3183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" name="文字方塊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6" y="4119935"/>
                  <a:ext cx="263414" cy="318352"/>
                </a:xfrm>
                <a:prstGeom prst="rect">
                  <a:avLst/>
                </a:prstGeom>
                <a:blipFill>
                  <a:blip r:embed="rId5"/>
                  <a:stretch>
                    <a:fillRect l="-12000" r="-1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3: Gradient Descent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2537335" y="5219095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/>
          <p:cNvCxnSpPr/>
          <p:nvPr/>
        </p:nvCxnSpPr>
        <p:spPr>
          <a:xfrm flipV="1">
            <a:off x="2680414" y="4307907"/>
            <a:ext cx="284326" cy="9184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/>
          <p:cNvSpPr/>
          <p:nvPr/>
        </p:nvSpPr>
        <p:spPr>
          <a:xfrm>
            <a:off x="2914584" y="4103292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/>
          <p:cNvCxnSpPr/>
          <p:nvPr/>
        </p:nvCxnSpPr>
        <p:spPr>
          <a:xfrm flipV="1">
            <a:off x="3081180" y="3792461"/>
            <a:ext cx="389681" cy="323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3409544" y="3659317"/>
            <a:ext cx="216117" cy="2161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單箭頭接點 42"/>
          <p:cNvCxnSpPr/>
          <p:nvPr/>
        </p:nvCxnSpPr>
        <p:spPr>
          <a:xfrm flipV="1">
            <a:off x="3625661" y="3678481"/>
            <a:ext cx="526048" cy="614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2680414" y="5327660"/>
                <a:ext cx="3909462" cy="461665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414" y="5327660"/>
                <a:ext cx="390946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3241627" y="4687717"/>
                <a:ext cx="3715331" cy="461665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type m:val="lin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27" y="4687717"/>
                <a:ext cx="371533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>
            <a:stCxn id="47" idx="1"/>
          </p:cNvCxnSpPr>
          <p:nvPr/>
        </p:nvCxnSpPr>
        <p:spPr>
          <a:xfrm flipH="1" flipV="1">
            <a:off x="2822577" y="4687717"/>
            <a:ext cx="419050" cy="23083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6567860" y="3337361"/>
            <a:ext cx="2066897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Color: Value of Loss L(</a:t>
            </a:r>
            <a:r>
              <a:rPr lang="en-US" altLang="zh-TW" sz="2400" dirty="0" err="1"/>
              <a:t>w,b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6722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9" grpId="0" animBg="1"/>
      <p:bldP spid="39" grpId="0" animBg="1"/>
      <p:bldP spid="45" grpId="0" animBg="1"/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"/>
          <p:cNvSpPr>
            <a:spLocks noGrp="1"/>
          </p:cNvSpPr>
          <p:nvPr>
            <p:ph type="title"/>
          </p:nvPr>
        </p:nvSpPr>
        <p:spPr>
          <a:xfrm>
            <a:off x="275354" y="215455"/>
            <a:ext cx="4122254" cy="64866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线性回归的梯度下降法</a:t>
            </a:r>
            <a:endParaRPr lang="zh-TW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\documentclass{article}&#10;\usepackage{amsmath}&#10;\pagestyle{empty}&#10;\begin{document}&#10;&#10;$$\min_{w,b}L(w,b)=\sum\limits_{i=1}^n(w^Tx_i+b- y_i)^2\\&#10;$$&#10;&#10;&#10;\end{document}" title="IguanaTex Bitmap Display">
            <a:extLst>
              <a:ext uri="{FF2B5EF4-FFF2-40B4-BE49-F238E27FC236}">
                <a16:creationId xmlns:a16="http://schemas.microsoft.com/office/drawing/2014/main" id="{9EC46435-03F6-307A-0FD0-B204ABF24D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293" y="538337"/>
            <a:ext cx="4248646" cy="788713"/>
          </a:xfrm>
          <a:prstGeom prst="rect">
            <a:avLst/>
          </a:prstGeom>
        </p:spPr>
      </p:pic>
      <p:sp>
        <p:nvSpPr>
          <p:cNvPr id="15" name="標題 1 2"/>
          <p:cNvSpPr txBox="1">
            <a:spLocks/>
          </p:cNvSpPr>
          <p:nvPr/>
        </p:nvSpPr>
        <p:spPr>
          <a:xfrm>
            <a:off x="284096" y="1600896"/>
            <a:ext cx="845457" cy="658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endParaRPr lang="zh-TW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026437" y="1598289"/>
                <a:ext cx="4231459" cy="1004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altLang="zh-TW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altLang="zh-TW" sz="2400" dirty="0"/>
                  <a:t>,</a:t>
                </a:r>
                <a:endParaRPr lang="zh-TW" altLang="en-US" sz="2400" dirty="0"/>
              </a:p>
              <a:p>
                <a:endParaRPr lang="zh-TW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37" y="1598289"/>
                <a:ext cx="4231459" cy="10046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51642" y="3100264"/>
                <a:ext cx="1211101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42" y="3100264"/>
                <a:ext cx="1211101" cy="794576"/>
              </a:xfrm>
              <a:prstGeom prst="rect">
                <a:avLst/>
              </a:prstGeom>
              <a:blipFill>
                <a:blip r:embed="rId11"/>
                <a:stretch>
                  <a:fillRect b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\documentclass{article}&#10;\usepackage{amsmath}&#10;\pagestyle{empty}&#10;\begin{document}&#10;&#10;$$2\sum\limits_{i=1}^n(w^Tx_i+b- y_i)x^{(1)}_i\\&#10;$$&#10;&#10;&#10;\end{document}" title="IguanaTex Bitmap Display">
            <a:extLst>
              <a:ext uri="{FF2B5EF4-FFF2-40B4-BE49-F238E27FC236}">
                <a16:creationId xmlns:a16="http://schemas.microsoft.com/office/drawing/2014/main" id="{28462036-6CEE-4ACE-CB82-F748B036218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20" y="3189370"/>
            <a:ext cx="2974573" cy="788713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$2\sum\limits_{i=1}^n(w^Tx_i+b- y_i)\\&#10;$$&#10;&#10;&#10;\end{document}" title="IguanaTex Bitmap Display">
            <a:extLst>
              <a:ext uri="{FF2B5EF4-FFF2-40B4-BE49-F238E27FC236}">
                <a16:creationId xmlns:a16="http://schemas.microsoft.com/office/drawing/2014/main" id="{3931C40F-455E-2D90-A260-1197045BF10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155" y="5435192"/>
            <a:ext cx="2508279" cy="788713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$w=(w_1,w_2)^T&#10;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527" y="1306055"/>
            <a:ext cx="1773524" cy="3259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84319" y="4336775"/>
                <a:ext cx="1211101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sz="2400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19" y="4336775"/>
                <a:ext cx="1211101" cy="794576"/>
              </a:xfrm>
              <a:prstGeom prst="rect">
                <a:avLst/>
              </a:prstGeom>
              <a:blipFill>
                <a:blip r:embed="rId15"/>
                <a:stretch>
                  <a:fillRect b="-1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275354" y="5358754"/>
                <a:ext cx="1043106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54" y="5358754"/>
                <a:ext cx="1043106" cy="79457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\documentclass{article}&#10;\usepackage{amsmath}&#10;\pagestyle{empty}&#10;\begin{document}&#10;&#10;$$L(w,b)=\sum\limits_{i=1}^n(w_1x^{(1)}_i+w_2x^{(2)}_i+b- y_i)^2\\&#10;$$&#10;&#10;&#10;\end{document}" title="IguanaTex Bitmap Display">
            <a:extLst>
              <a:ext uri="{FF2B5EF4-FFF2-40B4-BE49-F238E27FC236}">
                <a16:creationId xmlns:a16="http://schemas.microsoft.com/office/drawing/2014/main" id="{BC79F58B-BFD4-314D-ADB2-53BC465FA0F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573" y="2259568"/>
            <a:ext cx="5033893" cy="788713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$2\sum\limits_{i=1}^n(w^Tx_i+b- y_i)x^{(2)}_i\\&#10;$$&#10;&#10;&#10;\end{document}" title="IguanaTex Bitmap Display">
            <a:extLst>
              <a:ext uri="{FF2B5EF4-FFF2-40B4-BE49-F238E27FC236}">
                <a16:creationId xmlns:a16="http://schemas.microsoft.com/office/drawing/2014/main" id="{ADD460E3-0247-AE41-73ED-A889F302B6F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135" y="4426502"/>
            <a:ext cx="2974573" cy="788713"/>
          </a:xfrm>
          <a:prstGeom prst="rect">
            <a:avLst/>
          </a:prstGeom>
        </p:spPr>
      </p:pic>
      <p:sp>
        <p:nvSpPr>
          <p:cNvPr id="39" name="右大括号 38"/>
          <p:cNvSpPr/>
          <p:nvPr/>
        </p:nvSpPr>
        <p:spPr>
          <a:xfrm>
            <a:off x="4715585" y="3307974"/>
            <a:ext cx="394297" cy="1751657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$2\sum\limits_{i=1}^n(w^Tx_i+b- y_i)x_i\\&#10;$$&#10;&#10;&#10;\end{document}" title="IguanaTex Bitmap Display">
            <a:extLst>
              <a:ext uri="{FF2B5EF4-FFF2-40B4-BE49-F238E27FC236}">
                <a16:creationId xmlns:a16="http://schemas.microsoft.com/office/drawing/2014/main" id="{1E37FC0C-3D9E-F692-E90D-71B1BED5E9B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492" y="3807938"/>
            <a:ext cx="2773495" cy="7887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5071149" y="3724452"/>
                <a:ext cx="1087607" cy="7917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149" y="3724452"/>
                <a:ext cx="1087607" cy="79170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67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7" grpId="0"/>
      <p:bldP spid="20" grpId="0"/>
      <p:bldP spid="29" grpId="0"/>
      <p:bldP spid="30" grpId="0"/>
      <p:bldP spid="39" grpId="0" animBg="1"/>
      <p:bldP spid="4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"/>
          <p:cNvSpPr>
            <a:spLocks noGrp="1"/>
          </p:cNvSpPr>
          <p:nvPr>
            <p:ph type="title"/>
          </p:nvPr>
        </p:nvSpPr>
        <p:spPr>
          <a:xfrm>
            <a:off x="275354" y="215455"/>
            <a:ext cx="7323310" cy="1503617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线性回归的梯度下降法</a:t>
            </a: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给定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,w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的初值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t=0</a:t>
            </a:r>
            <a:endParaRPr lang="zh-TW" altLang="en-US" sz="2800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4672" y="1728216"/>
            <a:ext cx="416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 = 1 to 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2480" y="4294632"/>
            <a:ext cx="416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07458" y="2208169"/>
            <a:ext cx="5375638" cy="2104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\documentclass{article}&#10;\usepackage{amsmath}&#10;\pagestyle{empty}&#10;\begin{document}&#10;$&#10;\begin{array}{l}&#10;w_{1}^{(t)}\leftarrow w_{1}^{(t-1)}-\eta \frac{\partial L(w,b)}{\partial w_1}\\&#10;w_{2}^{(t)}\leftarrow w_{2}^{(t-1)}-\eta \frac{\partial L(w,b)}{\partial w_2}\\&#10;b^{(t)}\leftarrow b^{(t-1)}-\eta \frac{\partial L(w,b)}{\partial b}&#10;\end{array}&#10;$&#10;&#10;\end{document}" title="IguanaTex Bitmap Display">
            <a:extLst>
              <a:ext uri="{FF2B5EF4-FFF2-40B4-BE49-F238E27FC236}">
                <a16:creationId xmlns:a16="http://schemas.microsoft.com/office/drawing/2014/main" id="{BA7CD016-467D-21DA-00BB-844043D35C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62" y="2235201"/>
            <a:ext cx="4874057" cy="19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EFF628-8831-72D7-0CAF-CA70B6C6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533" y="171838"/>
            <a:ext cx="6314843" cy="71282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回归的评价指标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19FED0-6618-10C7-8B54-7EEE0D0AF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533" y="1119381"/>
            <a:ext cx="7886700" cy="4351338"/>
          </a:xfrm>
        </p:spPr>
        <p:txBody>
          <a:bodyPr/>
          <a:lstStyle/>
          <a:p>
            <a:r>
              <a:rPr lang="zh-CN" altLang="en-US" dirty="0"/>
              <a:t>均方误差</a:t>
            </a:r>
            <a:r>
              <a:rPr lang="en-US" altLang="zh-CN" dirty="0"/>
              <a:t>(mean squared error, MSE)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平均绝对误差</a:t>
            </a:r>
            <a:r>
              <a:rPr lang="en-US" altLang="zh-CN" dirty="0"/>
              <a:t>(root mean squared error, RMSE)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均方根差</a:t>
            </a:r>
            <a:r>
              <a:rPr lang="en-US" altLang="zh-CN" dirty="0"/>
              <a:t>(mean absolute error, MAE)</a:t>
            </a:r>
            <a:endParaRPr lang="zh-CN" altLang="en-US" dirty="0"/>
          </a:p>
        </p:txBody>
      </p:sp>
      <p:pic>
        <p:nvPicPr>
          <p:cNvPr id="5" name="图片 4" descr="\documentclass{article}&#10;\usepackage{amsmath}&#10;\pagestyle{empty}&#10;\begin{document}&#10;&#10;$MSE=\frac{1}{m}\sum\limits_{i=1}^m(y_i-\bar{y}_i)^2$&#10;&#10;&#10;\end{document}" title="IguanaTex Bitmap Display">
            <a:extLst>
              <a:ext uri="{FF2B5EF4-FFF2-40B4-BE49-F238E27FC236}">
                <a16:creationId xmlns:a16="http://schemas.microsoft.com/office/drawing/2014/main" id="{7CE58EEE-661E-C3C1-B2D5-35449FDA1C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636" y="1825185"/>
            <a:ext cx="2595372" cy="542544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RMSE=\sqrt{\frac{1}{m}\sum\limits_{i=1}^m(y_i-\bar{y}_i)^2}$&#10;&#10;&#10;\end{document}" title="IguanaTex Bitmap Display">
            <a:extLst>
              <a:ext uri="{FF2B5EF4-FFF2-40B4-BE49-F238E27FC236}">
                <a16:creationId xmlns:a16="http://schemas.microsoft.com/office/drawing/2014/main" id="{DB6AAADC-6F50-D4C4-7E43-8C50256531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128" y="3538986"/>
            <a:ext cx="3066288" cy="760476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MAE=\frac{1}{m}\sum\limits_{i=1}^m(y_i-\bar{y}_i)^2$&#10;&#10;&#10;\end{document}" title="IguanaTex Bitmap Display">
            <a:extLst>
              <a:ext uri="{FF2B5EF4-FFF2-40B4-BE49-F238E27FC236}">
                <a16:creationId xmlns:a16="http://schemas.microsoft.com/office/drawing/2014/main" id="{F74F4A4E-9AF0-FDCE-24DE-BF0C3C1C77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128" y="5513803"/>
            <a:ext cx="2615184" cy="54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11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 1"/>
          <p:cNvSpPr>
            <a:spLocks noGrp="1"/>
          </p:cNvSpPr>
          <p:nvPr>
            <p:ph type="title"/>
          </p:nvPr>
        </p:nvSpPr>
        <p:spPr>
          <a:xfrm>
            <a:off x="200937" y="65932"/>
            <a:ext cx="8742125" cy="560922"/>
          </a:xfrm>
        </p:spPr>
        <p:txBody>
          <a:bodyPr>
            <a:normAutofit/>
          </a:bodyPr>
          <a:lstStyle/>
          <a:p>
            <a:r>
              <a:rPr lang="zh-CN" altLang="en-US" sz="36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关于梯度计算补充</a:t>
            </a:r>
            <a:endParaRPr lang="zh-TW" altLang="en-US" sz="3600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x)=a^Tx$&#10;&#10;&#10;\end{document}" title="IguanaTex Bitmap Display">
            <a:extLst>
              <a:ext uri="{FF2B5EF4-FFF2-40B4-BE49-F238E27FC236}">
                <a16:creationId xmlns:a16="http://schemas.microsoft.com/office/drawing/2014/main" id="{114556E4-464C-50F3-7627-648B459DBC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98" y="866475"/>
            <a:ext cx="2241194" cy="491033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f(x)=a^Tx=a_1x_1+a_2x_2+\cdots+a_nx_n$&#10;&#10;&#10;\end{document}" title="IguanaTex Bitmap Display">
            <a:extLst>
              <a:ext uri="{FF2B5EF4-FFF2-40B4-BE49-F238E27FC236}">
                <a16:creationId xmlns:a16="http://schemas.microsoft.com/office/drawing/2014/main" id="{52FBBE7F-1503-B2BD-A662-33DD52B19AF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98" y="1490456"/>
            <a:ext cx="7848294" cy="491033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frac{df}{dx_1}=a_1$&#10;&#10;&#10;\end{document}" title="IguanaTex Bitmap Display">
            <a:extLst>
              <a:ext uri="{FF2B5EF4-FFF2-40B4-BE49-F238E27FC236}">
                <a16:creationId xmlns:a16="http://schemas.microsoft.com/office/drawing/2014/main" id="{E5E72AAB-B48D-7ACA-9A27-B98772CD320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49" y="2148946"/>
            <a:ext cx="1629461" cy="630937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frac{df}{dx_2}=a_2$&#10;&#10;&#10;\end{document}" title="IguanaTex Bitmap Display">
            <a:extLst>
              <a:ext uri="{FF2B5EF4-FFF2-40B4-BE49-F238E27FC236}">
                <a16:creationId xmlns:a16="http://schemas.microsoft.com/office/drawing/2014/main" id="{92929F17-7E12-F429-3660-BC77A524674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4" y="2824687"/>
            <a:ext cx="1640434" cy="628194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$\begin{array}{c}&#10;\vdots\\&#10;\frac{df}{dx_n}=a_n&#10;\end{array}$&#10;&#10;&#10;\end{document}" title="IguanaTex Bitmap Display">
            <a:extLst>
              <a:ext uri="{FF2B5EF4-FFF2-40B4-BE49-F238E27FC236}">
                <a16:creationId xmlns:a16="http://schemas.microsoft.com/office/drawing/2014/main" id="{42040005-1A0C-BB64-D6E8-86184EF2335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31" y="3523433"/>
            <a:ext cx="1733703" cy="120701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313C7EF2-D427-7767-92CD-2236D7752DC0}"/>
              </a:ext>
            </a:extLst>
          </p:cNvPr>
          <p:cNvSpPr/>
          <p:nvPr/>
        </p:nvSpPr>
        <p:spPr>
          <a:xfrm>
            <a:off x="264544" y="2125942"/>
            <a:ext cx="1000664" cy="26415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 descr="\documentclass{article}&#10;\usepackage{amsmath}&#10;\pagestyle{empty}&#10;\begin{document}&#10;&#10;$\frac{df}{dx}$&#10;&#10;&#10;\end{document}" title="IguanaTex Bitmap Display">
            <a:extLst>
              <a:ext uri="{FF2B5EF4-FFF2-40B4-BE49-F238E27FC236}">
                <a16:creationId xmlns:a16="http://schemas.microsoft.com/office/drawing/2014/main" id="{42CE7DEE-D79C-734E-5DC7-58DE128CCE0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98" y="4911985"/>
            <a:ext cx="397764" cy="584302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a$&#10;&#10;&#10;\end{document}" title="IguanaTex Bitmap Display">
            <a:extLst>
              <a:ext uri="{FF2B5EF4-FFF2-40B4-BE49-F238E27FC236}">
                <a16:creationId xmlns:a16="http://schemas.microsoft.com/office/drawing/2014/main" id="{8616CB26-5FFA-9B2C-F1AA-8A4A065E372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499" y="5116144"/>
            <a:ext cx="211226" cy="205740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322D444E-5233-10ED-C1E5-1C8F6527CF13}"/>
              </a:ext>
            </a:extLst>
          </p:cNvPr>
          <p:cNvSpPr/>
          <p:nvPr/>
        </p:nvSpPr>
        <p:spPr>
          <a:xfrm>
            <a:off x="1636148" y="2163322"/>
            <a:ext cx="618676" cy="25671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0074DB-A07A-278D-0158-C4E519264E5A}"/>
              </a:ext>
            </a:extLst>
          </p:cNvPr>
          <p:cNvSpPr txBox="1"/>
          <p:nvPr/>
        </p:nvSpPr>
        <p:spPr>
          <a:xfrm>
            <a:off x="990111" y="5066334"/>
            <a:ext cx="56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pic>
        <p:nvPicPr>
          <p:cNvPr id="37" name="图片 36" descr="\documentclass{article}&#10;\usepackage{amsmath}&#10;\pagestyle{empty}&#10;\begin{document}&#10;&#10;$\nabla f(x)$&#10;&#10;&#10;\end{document}" title="IguanaTex Bitmap Display">
            <a:extLst>
              <a:ext uri="{FF2B5EF4-FFF2-40B4-BE49-F238E27FC236}">
                <a16:creationId xmlns:a16="http://schemas.microsoft.com/office/drawing/2014/main" id="{DF8B23C7-47B5-2340-D0BB-87807BC0641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64" y="5791020"/>
            <a:ext cx="633187" cy="239429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985A1663-AED7-5325-4A27-BFC0B97AC622}"/>
              </a:ext>
            </a:extLst>
          </p:cNvPr>
          <p:cNvSpPr/>
          <p:nvPr/>
        </p:nvSpPr>
        <p:spPr>
          <a:xfrm>
            <a:off x="4882551" y="4462731"/>
            <a:ext cx="1000664" cy="49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练习</a:t>
            </a:r>
          </a:p>
        </p:txBody>
      </p:sp>
      <p:pic>
        <p:nvPicPr>
          <p:cNvPr id="43" name="图片 42" descr="\documentclass{article}&#10;\usepackage{amsmath}&#10;\pagestyle{empty}&#10;\begin{document}&#10;&#10;$\begin{array}{l}&#10;f(x)=a^Tx+1\\&#10;f(x)=\frac{1}{1+\exp(a^Tx)}&#10;\end{array}&#10;$&#10;&#10;&#10;\end{document}" title="IguanaTex Bitmap Display">
            <a:extLst>
              <a:ext uri="{FF2B5EF4-FFF2-40B4-BE49-F238E27FC236}">
                <a16:creationId xmlns:a16="http://schemas.microsoft.com/office/drawing/2014/main" id="{63397CF7-E90C-9A03-AD6D-45305A6F5F4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67" y="5121635"/>
            <a:ext cx="3293305" cy="110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8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  <p:bldP spid="34" grpId="0"/>
      <p:bldP spid="3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线性回归示例</a:t>
            </a:r>
            <a:endParaRPr lang="zh-TW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" y="2354380"/>
            <a:ext cx="5068062" cy="41381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2024" y="1335684"/>
            <a:ext cx="83233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训练数据</a:t>
            </a:r>
            <a:endParaRPr lang="en-US" altLang="zh-CN" b="1" dirty="0"/>
          </a:p>
          <a:p>
            <a:r>
              <a:rPr lang="zh-CN" altLang="en-US" dirty="0"/>
              <a:t>x = np.array([2.4,5.0,1.5,3.8,8.7,3.6,1.2,8.1,2.5,5,1.6,1.6,2.4,3.9,5.4])</a:t>
            </a:r>
          </a:p>
          <a:p>
            <a:r>
              <a:rPr lang="zh-CN" altLang="en-US" dirty="0"/>
              <a:t>y = np.array([2.1,4.7,1.7,3.6,8.7,3.2,1.0,8.0,2.4,6,1.1,1.3,2.4,3.9,4.8])</a:t>
            </a:r>
          </a:p>
        </p:txBody>
      </p:sp>
    </p:spTree>
    <p:extLst>
      <p:ext uri="{BB962C8B-B14F-4D97-AF65-F5344CB8AC3E}">
        <p14:creationId xmlns:p14="http://schemas.microsoft.com/office/powerpoint/2010/main" val="185935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154" y="0"/>
            <a:ext cx="7886700" cy="1325563"/>
          </a:xfrm>
        </p:spPr>
        <p:txBody>
          <a:bodyPr/>
          <a:lstStyle/>
          <a:p>
            <a:r>
              <a:rPr lang="zh-CN" altLang="en-US" dirty="0"/>
              <a:t>线性回归示例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033932"/>
            <a:ext cx="83233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训练数据</a:t>
            </a:r>
            <a:endParaRPr lang="en-US" altLang="zh-CN" b="1" dirty="0"/>
          </a:p>
          <a:p>
            <a:r>
              <a:rPr lang="zh-CN" altLang="en-US" dirty="0"/>
              <a:t>x = np.array([2.4,5.0,1.5,3.8,8.7,3.6,1.2,8.1,2.5,5,1.6,1.6,2.4,3.9,5.4])</a:t>
            </a:r>
          </a:p>
          <a:p>
            <a:r>
              <a:rPr lang="zh-CN" altLang="en-US" dirty="0"/>
              <a:t>y = np.array([2.1,4.7,1.7,3.6,8.7,3.2,1.0,8.0,2.4,6,1.1,1.3,2.4,3.9,4.8])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" y="2066543"/>
            <a:ext cx="6174486" cy="463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154" y="0"/>
            <a:ext cx="7886700" cy="1325563"/>
          </a:xfrm>
        </p:spPr>
        <p:txBody>
          <a:bodyPr/>
          <a:lstStyle/>
          <a:p>
            <a:r>
              <a:rPr lang="zh-CN" altLang="en-US" dirty="0"/>
              <a:t>线性回归示例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869340"/>
            <a:ext cx="83233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训练数据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np.array([2.4,5.0,1.5,3.8,8.7,3.6,1.2,8.1,2.5,5,1.6,1.6,2.4,3.9,5.4])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np.array([2.1,4.7,1.7,3.6,8.7,3.2,1.0,8.0,2.4,6,1.1,1.3,2.4,3.9,4.8])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380069"/>
            <a:ext cx="5918454" cy="4438841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$\begin{array}{l}&#10;f(w,b,x)=wx+b\\&#10;w=0.8612\\&#10;b=0.6109&#10;\end{array}&#10;$&#10;\end{document}" title="IguanaTex Bitmap Display">
            <a:extLst>
              <a:ext uri="{FF2B5EF4-FFF2-40B4-BE49-F238E27FC236}">
                <a16:creationId xmlns:a16="http://schemas.microsoft.com/office/drawing/2014/main" id="{8A146DF2-9593-12CD-4CA7-349741FE01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1" y="1869391"/>
            <a:ext cx="3765943" cy="14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9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627" y="-59473"/>
            <a:ext cx="7886700" cy="84295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线性回归</a:t>
            </a:r>
            <a:r>
              <a:rPr lang="en-US" altLang="zh-CN" sz="3200" dirty="0"/>
              <a:t>-</a:t>
            </a:r>
            <a:r>
              <a:rPr lang="zh-CN" altLang="en-US" sz="3200" dirty="0"/>
              <a:t>高阶内容</a:t>
            </a:r>
            <a:endParaRPr lang="zh-TW" altLang="en-US" sz="32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BF93DA7-369A-15D2-32FF-7237422A3D52}"/>
              </a:ext>
            </a:extLst>
          </p:cNvPr>
          <p:cNvSpPr/>
          <p:nvPr/>
        </p:nvSpPr>
        <p:spPr>
          <a:xfrm>
            <a:off x="1571347" y="1078044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AEE685-5738-6959-4164-8B4502792821}"/>
              </a:ext>
            </a:extLst>
          </p:cNvPr>
          <p:cNvSpPr/>
          <p:nvPr/>
        </p:nvSpPr>
        <p:spPr>
          <a:xfrm>
            <a:off x="1593113" y="1435721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3E81475-7805-98C8-179B-E446415D7C00}"/>
              </a:ext>
            </a:extLst>
          </p:cNvPr>
          <p:cNvSpPr/>
          <p:nvPr/>
        </p:nvSpPr>
        <p:spPr>
          <a:xfrm>
            <a:off x="1593116" y="1818275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01AA52F-46F5-70E9-E82A-5ABACD7B6B5C}"/>
              </a:ext>
            </a:extLst>
          </p:cNvPr>
          <p:cNvSpPr/>
          <p:nvPr/>
        </p:nvSpPr>
        <p:spPr>
          <a:xfrm>
            <a:off x="1614882" y="2175952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F2C0E36-FFFE-EBB2-7DC1-EDC2D78604A0}"/>
              </a:ext>
            </a:extLst>
          </p:cNvPr>
          <p:cNvSpPr/>
          <p:nvPr/>
        </p:nvSpPr>
        <p:spPr>
          <a:xfrm>
            <a:off x="1614884" y="2633145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8B1551A-D012-061D-3CD6-F07630121564}"/>
              </a:ext>
            </a:extLst>
          </p:cNvPr>
          <p:cNvSpPr/>
          <p:nvPr/>
        </p:nvSpPr>
        <p:spPr>
          <a:xfrm>
            <a:off x="1636650" y="2990822"/>
            <a:ext cx="205273" cy="205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B4FE20E-012F-65D1-F752-B518A7C2E19F}"/>
              </a:ext>
            </a:extLst>
          </p:cNvPr>
          <p:cNvSpPr/>
          <p:nvPr/>
        </p:nvSpPr>
        <p:spPr>
          <a:xfrm>
            <a:off x="3736201" y="1799613"/>
            <a:ext cx="559837" cy="662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11BACEE-06DB-93C0-0949-9F482682E3AF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709390" y="1108106"/>
            <a:ext cx="2026811" cy="1022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469A4D5-A456-F6C8-D74E-B0F2491F5FF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761218" y="1538358"/>
            <a:ext cx="1974983" cy="592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9636D53-2C21-E9CE-2BBB-8502AE6ED8BA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731159" y="1993487"/>
            <a:ext cx="2005042" cy="137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4CBA024-ABD9-E5C3-75E6-C8EE09822E22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752925" y="2130642"/>
            <a:ext cx="1983276" cy="220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07DB101-9DB9-E3B6-31D0-C05CA096BA4F}"/>
              </a:ext>
            </a:extLst>
          </p:cNvPr>
          <p:cNvCxnSpPr>
            <a:cxnSpLocks/>
          </p:cNvCxnSpPr>
          <p:nvPr/>
        </p:nvCxnSpPr>
        <p:spPr>
          <a:xfrm flipV="1">
            <a:off x="1782989" y="2160931"/>
            <a:ext cx="1981205" cy="574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2D18CA3-1A7A-FA18-41CE-0E402BDAB32B}"/>
              </a:ext>
            </a:extLst>
          </p:cNvPr>
          <p:cNvCxnSpPr/>
          <p:nvPr/>
        </p:nvCxnSpPr>
        <p:spPr>
          <a:xfrm flipV="1">
            <a:off x="1774693" y="2149533"/>
            <a:ext cx="1989501" cy="1016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09F71B2-8F7A-18C6-52D0-30612EFFE144}"/>
                  </a:ext>
                </a:extLst>
              </p:cNvPr>
              <p:cNvSpPr/>
              <p:nvPr/>
            </p:nvSpPr>
            <p:spPr>
              <a:xfrm>
                <a:off x="1027642" y="1000713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09F71B2-8F7A-18C6-52D0-30612EFFE1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642" y="1000713"/>
                <a:ext cx="620875" cy="387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E0AEC6B-CB6D-88B5-3C62-5313038EF72F}"/>
                  </a:ext>
                </a:extLst>
              </p:cNvPr>
              <p:cNvSpPr/>
              <p:nvPr/>
            </p:nvSpPr>
            <p:spPr>
              <a:xfrm>
                <a:off x="1002759" y="1358389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E0AEC6B-CB6D-88B5-3C62-5313038EF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59" y="1358389"/>
                <a:ext cx="620875" cy="387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52A05B0-13C1-4EE4-BB4F-71A091365373}"/>
                  </a:ext>
                </a:extLst>
              </p:cNvPr>
              <p:cNvSpPr/>
              <p:nvPr/>
            </p:nvSpPr>
            <p:spPr>
              <a:xfrm>
                <a:off x="1015203" y="1753391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52A05B0-13C1-4EE4-BB4F-71A091365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03" y="1753391"/>
                <a:ext cx="620875" cy="3879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81B5FE5-E79E-8A66-180F-B2E74E8A88F8}"/>
                  </a:ext>
                </a:extLst>
              </p:cNvPr>
              <p:cNvSpPr/>
              <p:nvPr/>
            </p:nvSpPr>
            <p:spPr>
              <a:xfrm>
                <a:off x="1018312" y="2092405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281B5FE5-E79E-8A66-180F-B2E74E8A8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312" y="2092405"/>
                <a:ext cx="620875" cy="3879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73CFAE4-EC6B-022C-CA9A-0E88DC9C493F}"/>
                  </a:ext>
                </a:extLst>
              </p:cNvPr>
              <p:cNvSpPr/>
              <p:nvPr/>
            </p:nvSpPr>
            <p:spPr>
              <a:xfrm>
                <a:off x="1030753" y="2552717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73CFAE4-EC6B-022C-CA9A-0E88DC9C4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53" y="2552717"/>
                <a:ext cx="620875" cy="3879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9B9B306-23BA-0714-364E-6D883276FB1E}"/>
                  </a:ext>
                </a:extLst>
              </p:cNvPr>
              <p:cNvSpPr/>
              <p:nvPr/>
            </p:nvSpPr>
            <p:spPr>
              <a:xfrm>
                <a:off x="1033862" y="2919722"/>
                <a:ext cx="620875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9B9B306-23BA-0714-364E-6D883276F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62" y="2919722"/>
                <a:ext cx="620875" cy="3879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BFF7030-5F13-9BAA-0583-329718CFD0C9}"/>
                  </a:ext>
                </a:extLst>
              </p:cNvPr>
              <p:cNvSpPr/>
              <p:nvPr/>
            </p:nvSpPr>
            <p:spPr>
              <a:xfrm>
                <a:off x="1900685" y="926033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BFF7030-5F13-9BAA-0583-329718CFD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85" y="926033"/>
                <a:ext cx="5018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9604AA3-7734-91F9-AE32-74AFBE078CC1}"/>
                  </a:ext>
                </a:extLst>
              </p:cNvPr>
              <p:cNvSpPr/>
              <p:nvPr/>
            </p:nvSpPr>
            <p:spPr>
              <a:xfrm>
                <a:off x="1846220" y="1321029"/>
                <a:ext cx="5071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9604AA3-7734-91F9-AE32-74AFBE078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220" y="1321029"/>
                <a:ext cx="5071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E98E118-0DA2-7D9E-DB18-56A66E8A80FF}"/>
                  </a:ext>
                </a:extLst>
              </p:cNvPr>
              <p:cNvSpPr/>
              <p:nvPr/>
            </p:nvSpPr>
            <p:spPr>
              <a:xfrm>
                <a:off x="1796456" y="1653823"/>
                <a:ext cx="5071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E98E118-0DA2-7D9E-DB18-56A66E8A8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56" y="1653823"/>
                <a:ext cx="50712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D981449-2511-6709-4FD3-841582447B1E}"/>
                  </a:ext>
                </a:extLst>
              </p:cNvPr>
              <p:cNvSpPr/>
              <p:nvPr/>
            </p:nvSpPr>
            <p:spPr>
              <a:xfrm>
                <a:off x="1734251" y="1955515"/>
                <a:ext cx="501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D981449-2511-6709-4FD3-841582447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251" y="1955515"/>
                <a:ext cx="5018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8E175B4-4CC1-F97D-B0DC-07ADF60EDD77}"/>
                  </a:ext>
                </a:extLst>
              </p:cNvPr>
              <p:cNvSpPr/>
              <p:nvPr/>
            </p:nvSpPr>
            <p:spPr>
              <a:xfrm>
                <a:off x="1737360" y="2322520"/>
                <a:ext cx="5071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98E175B4-4CC1-F97D-B0DC-07ADF60ED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0" y="2322520"/>
                <a:ext cx="50712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312A6E8-9953-74E6-9725-851F2577CEA7}"/>
                  </a:ext>
                </a:extLst>
              </p:cNvPr>
              <p:cNvSpPr/>
              <p:nvPr/>
            </p:nvSpPr>
            <p:spPr>
              <a:xfrm>
                <a:off x="1712477" y="2726847"/>
                <a:ext cx="5071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C312A6E8-9953-74E6-9725-851F2577C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477" y="2726847"/>
                <a:ext cx="50712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EA2C365-6B56-FC39-0F80-AFCA4B6B684C}"/>
              </a:ext>
            </a:extLst>
          </p:cNvPr>
          <p:cNvCxnSpPr>
            <a:stCxn id="19" idx="6"/>
          </p:cNvCxnSpPr>
          <p:nvPr/>
        </p:nvCxnSpPr>
        <p:spPr>
          <a:xfrm flipV="1">
            <a:off x="4296038" y="2130641"/>
            <a:ext cx="13809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78E8912-B38A-1328-9AD3-38E684023F43}"/>
              </a:ext>
            </a:extLst>
          </p:cNvPr>
          <p:cNvSpPr/>
          <p:nvPr/>
        </p:nvSpPr>
        <p:spPr>
          <a:xfrm>
            <a:off x="4742986" y="147189"/>
            <a:ext cx="3404839" cy="429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深度学习视角下的线性回归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3F62B58-10AC-8484-90EF-3FEC76DB1FC1}"/>
              </a:ext>
            </a:extLst>
          </p:cNvPr>
          <p:cNvSpPr/>
          <p:nvPr/>
        </p:nvSpPr>
        <p:spPr>
          <a:xfrm>
            <a:off x="1679781" y="3298499"/>
            <a:ext cx="205273" cy="2052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EF3610D-EF47-5715-2540-1B65A406477C}"/>
                  </a:ext>
                </a:extLst>
              </p:cNvPr>
              <p:cNvSpPr/>
              <p:nvPr/>
            </p:nvSpPr>
            <p:spPr>
              <a:xfrm>
                <a:off x="1030985" y="322739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EF3610D-EF47-5715-2540-1B65A4064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985" y="3227399"/>
                <a:ext cx="53893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4863DDA-B39A-94F3-3087-AB6E39771CA8}"/>
              </a:ext>
            </a:extLst>
          </p:cNvPr>
          <p:cNvCxnSpPr>
            <a:cxnSpLocks/>
            <a:stCxn id="3" idx="6"/>
            <a:endCxn id="19" idx="2"/>
          </p:cNvCxnSpPr>
          <p:nvPr/>
        </p:nvCxnSpPr>
        <p:spPr>
          <a:xfrm flipV="1">
            <a:off x="1885054" y="2130642"/>
            <a:ext cx="1851147" cy="1270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35EF358-E644-D9E8-A802-9DCB934E7B84}"/>
                  </a:ext>
                </a:extLst>
              </p:cNvPr>
              <p:cNvSpPr/>
              <p:nvPr/>
            </p:nvSpPr>
            <p:spPr>
              <a:xfrm>
                <a:off x="1974146" y="3143793"/>
                <a:ext cx="3676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35EF358-E644-D9E8-A802-9DCB934E7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146" y="3143793"/>
                <a:ext cx="36766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8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" grpId="0" animBg="1"/>
      <p:bldP spid="4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154" y="0"/>
            <a:ext cx="7886700" cy="1325563"/>
          </a:xfrm>
        </p:spPr>
        <p:txBody>
          <a:bodyPr/>
          <a:lstStyle/>
          <a:p>
            <a:r>
              <a:rPr lang="zh-CN" altLang="en-US" dirty="0"/>
              <a:t>线性回归</a:t>
            </a:r>
            <a:r>
              <a:rPr lang="en-US" altLang="zh-CN" dirty="0"/>
              <a:t>-</a:t>
            </a:r>
            <a:r>
              <a:rPr lang="zh-CN" altLang="en-US" dirty="0"/>
              <a:t>闭式解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874455"/>
            <a:ext cx="83233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线性回归的矩阵、向量形式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由微积分知识，若上述式子有最小值，则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12" name="图片 11" descr="\documentclass{article}&#10;\usepackage{amsmath}&#10;\pagestyle{empty}&#10;\begin{document}&#10;&#10;$$\min\limits_{w}L(w)=||X^Tw- y||_2^2\\&#10;$$&#10;&#10;&#10;\end{document}" title="IguanaTex Bitmap Display">
            <a:extLst>
              <a:ext uri="{FF2B5EF4-FFF2-40B4-BE49-F238E27FC236}">
                <a16:creationId xmlns:a16="http://schemas.microsoft.com/office/drawing/2014/main" id="{B3F1F7F3-95AB-46BD-3C06-16EA6D417B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11" y="1316021"/>
            <a:ext cx="3049216" cy="42058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$2{X}({X}^T{w}- y)=0\\&#10;$$&#10;&#10;&#10;\end{document}" title="IguanaTex Bitmap Display">
            <a:extLst>
              <a:ext uri="{FF2B5EF4-FFF2-40B4-BE49-F238E27FC236}">
                <a16:creationId xmlns:a16="http://schemas.microsoft.com/office/drawing/2014/main" id="{CD95F401-2717-EE95-20A7-E806498C08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11" y="3110171"/>
            <a:ext cx="2240276" cy="318828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${X}{X}^T{w}={X}y\\&#10;$$&#10;&#10;&#10;\end{document}" title="IguanaTex Bitmap Display">
            <a:extLst>
              <a:ext uri="{FF2B5EF4-FFF2-40B4-BE49-F238E27FC236}">
                <a16:creationId xmlns:a16="http://schemas.microsoft.com/office/drawing/2014/main" id="{94A39090-1DFB-7A70-98BF-ACC88B67798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237" y="3901962"/>
            <a:ext cx="1658584" cy="306957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&#10;\frac{\partial L}{\partial w}=0&#10;$&#10;&#10;&#10;\end{document}" title="IguanaTex Bitmap Display">
            <a:extLst>
              <a:ext uri="{FF2B5EF4-FFF2-40B4-BE49-F238E27FC236}">
                <a16:creationId xmlns:a16="http://schemas.microsoft.com/office/drawing/2014/main" id="{BE0598AC-B4B3-B9BB-1755-E33D9573418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780" y="2477796"/>
            <a:ext cx="841163" cy="35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9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\documentclass{article}&#10;\usepackage{amsmath}&#10;\pagestyle{empty}&#10;\begin{document}&#10;&#10;$$||{X}^T{w}- y||_2^2\\&#10;$$&#10;&#10;&#10;\end{document}" title="IguanaTex Bitmap Display">
            <a:extLst>
              <a:ext uri="{FF2B5EF4-FFF2-40B4-BE49-F238E27FC236}">
                <a16:creationId xmlns:a16="http://schemas.microsoft.com/office/drawing/2014/main" id="{28D21254-8C1F-8EE0-FDC1-4628AE1F32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61" y="306374"/>
            <a:ext cx="1514433" cy="318828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$=({X}^T{w}- y)^T({X}^T{w}- y)\\&#10;$$&#10;&#10;&#10;\end{document}" title="IguanaTex Bitmap Display">
            <a:extLst>
              <a:ext uri="{FF2B5EF4-FFF2-40B4-BE49-F238E27FC236}">
                <a16:creationId xmlns:a16="http://schemas.microsoft.com/office/drawing/2014/main" id="{6F8E55A6-7D0E-CDDA-33A8-AB9C0D5093F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63" y="1163624"/>
            <a:ext cx="3137403" cy="318828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$={w}^T{X}{X}^T{w}-2{w}^T{X}y+y^Ty&#10;$$&#10;&#10;&#10;\end{document}" title="IguanaTex Bitmap Display">
            <a:extLst>
              <a:ext uri="{FF2B5EF4-FFF2-40B4-BE49-F238E27FC236}">
                <a16:creationId xmlns:a16="http://schemas.microsoft.com/office/drawing/2014/main" id="{3DC9CC64-F8C4-D5B6-7C42-ACCB6F8C112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37" y="1582724"/>
            <a:ext cx="3647867" cy="30695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181725" y="666750"/>
            <a:ext cx="2352675" cy="21907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181725" y="819150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为对称矩阵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 descr="\documentclass{article}&#10;\usepackage{amsmath}&#10;\pagestyle{empty}&#10;\begin{document}&#10;&#10;$$\begin{array}{l}&#10;\frac{d(a^Tb)}{da}=b\\\\&#10;\frac{d(a^TBa)}{da}=2Ba&#10;\end{array}&#10;$$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512" y="1439846"/>
            <a:ext cx="1790864" cy="117356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14301" y="2143125"/>
            <a:ext cx="1981200" cy="35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对上式求导，得</a:t>
            </a:r>
          </a:p>
        </p:txBody>
      </p:sp>
      <p:cxnSp>
        <p:nvCxnSpPr>
          <p:cNvPr id="25" name="直接连接符 24"/>
          <p:cNvCxnSpPr>
            <a:cxnSpLocks/>
          </p:cNvCxnSpPr>
          <p:nvPr/>
        </p:nvCxnSpPr>
        <p:spPr>
          <a:xfrm flipV="1">
            <a:off x="1438275" y="1889681"/>
            <a:ext cx="488291" cy="16959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133725" y="1935215"/>
            <a:ext cx="466725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\documentclass{article}&#10;\usepackage{amsmath}&#10;\pagestyle{empty}&#10;\begin{document}&#10;&#10;$$=2{X}{X}^T{w}-2{X}y$$&#10;&#10;&#10;\end{document}" title="IguanaTex Bitmap Display">
            <a:extLst>
              <a:ext uri="{FF2B5EF4-FFF2-40B4-BE49-F238E27FC236}">
                <a16:creationId xmlns:a16="http://schemas.microsoft.com/office/drawing/2014/main" id="{BA3D5653-11ED-1718-EB77-65926F8431E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7" y="2868599"/>
            <a:ext cx="2199574" cy="3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59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627" y="-59473"/>
            <a:ext cx="7886700" cy="84295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线性回归</a:t>
            </a:r>
            <a:r>
              <a:rPr lang="en-US" altLang="zh-CN" sz="3200" dirty="0"/>
              <a:t>-</a:t>
            </a:r>
            <a:r>
              <a:rPr lang="zh-CN" altLang="en-US" sz="3200" dirty="0"/>
              <a:t>高阶内容</a:t>
            </a:r>
            <a:endParaRPr lang="zh-TW" altLang="en-US" sz="3200" dirty="0"/>
          </a:p>
        </p:txBody>
      </p:sp>
      <p:pic>
        <p:nvPicPr>
          <p:cNvPr id="6" name="图片 5" descr="\documentclass{article}&#10;\usepackage{amsmath}&#10;\pagestyle{empty}&#10;\begin{document}&#10;$$&#10;f(x)=w^T x&#10;$$&#10;\end{document}" title="IguanaTex Bitmap Display">
            <a:extLst>
              <a:ext uri="{FF2B5EF4-FFF2-40B4-BE49-F238E27FC236}">
                <a16:creationId xmlns:a16="http://schemas.microsoft.com/office/drawing/2014/main" id="{269D4607-9F77-7AA3-946D-DF9320B386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16" y="872227"/>
            <a:ext cx="1817827" cy="40111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$$&#10;L(w)=\frac{1}{2}\sum\limits_{i=1}^n(w^Tx_i-y_i)^2&#10;$$&#10;\end{document}" title="IguanaTex Bitmap Display">
            <a:extLst>
              <a:ext uri="{FF2B5EF4-FFF2-40B4-BE49-F238E27FC236}">
                <a16:creationId xmlns:a16="http://schemas.microsoft.com/office/drawing/2014/main" id="{8D8E7205-2743-3965-01BD-9F3EB9DF0DD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117" y="598565"/>
            <a:ext cx="4004767" cy="970788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$$&#10;f(x)=w^T x&#10;$$&#10;\end{document}" title="IguanaTex Bitmap Display">
            <a:extLst>
              <a:ext uri="{FF2B5EF4-FFF2-40B4-BE49-F238E27FC236}">
                <a16:creationId xmlns:a16="http://schemas.microsoft.com/office/drawing/2014/main" id="{F849D333-DB28-470A-D113-21BFF197BF7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27" y="1815543"/>
            <a:ext cx="1817827" cy="40111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$$&#10;L(w)=\frac{1}{2}\sum\limits_{i=1}^n(w^Tx_i-y_i)^2+\lambda(w_1^2+w_2^2+\cdots+w_d^2)&#10;$$&#10;\end{document}" title="IguanaTex Bitmap Display">
            <a:extLst>
              <a:ext uri="{FF2B5EF4-FFF2-40B4-BE49-F238E27FC236}">
                <a16:creationId xmlns:a16="http://schemas.microsoft.com/office/drawing/2014/main" id="{D2801E16-40D8-C193-6F48-79337031ADE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27" y="2384559"/>
            <a:ext cx="6766560" cy="832104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$$&#10;L(w)=\frac{1}{2}\sum\limits_{i=1}^n(w^Tx_i-y_i)^2+\lambda\|w\|_2^2&#10;$$&#10;\end{document}" title="IguanaTex Bitmap Display">
            <a:extLst>
              <a:ext uri="{FF2B5EF4-FFF2-40B4-BE49-F238E27FC236}">
                <a16:creationId xmlns:a16="http://schemas.microsoft.com/office/drawing/2014/main" id="{B097B96A-0A8A-9896-B6B9-97D9A58126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45" y="3301842"/>
            <a:ext cx="4645151" cy="832104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$$&#10;L(w)=\frac{1}{2}\sum\limits_{i=1}^n(w^Tx_i-y_i)^2+\lambda|w_1|+|w_2|+\cdots+|w_d|)&#10;$$&#10;\end{document}" title="IguanaTex Bitmap Display">
            <a:extLst>
              <a:ext uri="{FF2B5EF4-FFF2-40B4-BE49-F238E27FC236}">
                <a16:creationId xmlns:a16="http://schemas.microsoft.com/office/drawing/2014/main" id="{22815E99-39BE-63A4-EA37-AE880AA3996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0" y="4745325"/>
            <a:ext cx="7134149" cy="832104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$$&#10;L(w)=\frac{1}{2}\sum\limits_{i=1}^n(w^Tx_i-y_i)^2+\lambda\|w\|_1&#10;$$&#10;\end{document}" title="IguanaTex Bitmap Display">
            <a:extLst>
              <a:ext uri="{FF2B5EF4-FFF2-40B4-BE49-F238E27FC236}">
                <a16:creationId xmlns:a16="http://schemas.microsoft.com/office/drawing/2014/main" id="{ADF5F8D1-E6ED-2A50-1E82-D6B1B57119B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8" y="5662608"/>
            <a:ext cx="4637836" cy="832104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EBD11AAB-3A56-4BEF-8AA3-99AEB5019F23}"/>
              </a:ext>
            </a:extLst>
          </p:cNvPr>
          <p:cNvSpPr/>
          <p:nvPr/>
        </p:nvSpPr>
        <p:spPr>
          <a:xfrm>
            <a:off x="1063924" y="569810"/>
            <a:ext cx="7000157" cy="104907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6B44084-6755-2932-C686-42C2F3CD9D22}"/>
              </a:ext>
            </a:extLst>
          </p:cNvPr>
          <p:cNvSpPr/>
          <p:nvPr/>
        </p:nvSpPr>
        <p:spPr>
          <a:xfrm>
            <a:off x="91115" y="1732823"/>
            <a:ext cx="6861775" cy="24538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641779-32DF-AC53-469F-86E95F01F1DF}"/>
              </a:ext>
            </a:extLst>
          </p:cNvPr>
          <p:cNvSpPr/>
          <p:nvPr/>
        </p:nvSpPr>
        <p:spPr>
          <a:xfrm>
            <a:off x="108368" y="4718793"/>
            <a:ext cx="7212583" cy="17989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F4797A-0BF9-218A-18F9-E7EC18CB53B1}"/>
              </a:ext>
            </a:extLst>
          </p:cNvPr>
          <p:cNvSpPr/>
          <p:nvPr/>
        </p:nvSpPr>
        <p:spPr>
          <a:xfrm>
            <a:off x="7279899" y="2610928"/>
            <a:ext cx="1715474" cy="605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拟回归</a:t>
            </a:r>
            <a:endParaRPr lang="en-US" altLang="zh-CN" dirty="0"/>
          </a:p>
          <a:p>
            <a:pPr algn="ctr"/>
            <a:r>
              <a:rPr lang="en-US" altLang="zh-CN" dirty="0"/>
              <a:t>Ridge regression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D6ECEE-DB15-EDE6-3558-779DA1CA61F2}"/>
              </a:ext>
            </a:extLst>
          </p:cNvPr>
          <p:cNvSpPr/>
          <p:nvPr/>
        </p:nvSpPr>
        <p:spPr>
          <a:xfrm>
            <a:off x="7358333" y="5175754"/>
            <a:ext cx="1715474" cy="605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拉索</a:t>
            </a:r>
            <a:endParaRPr lang="en-US" altLang="zh-CN" dirty="0"/>
          </a:p>
          <a:p>
            <a:pPr algn="ctr"/>
            <a:r>
              <a:rPr lang="en-US" altLang="zh-CN" dirty="0"/>
              <a:t>Lasso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155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627" y="-59473"/>
            <a:ext cx="7886700" cy="84295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线性回归</a:t>
            </a:r>
            <a:r>
              <a:rPr lang="en-US" altLang="zh-CN" sz="3200" dirty="0"/>
              <a:t>-</a:t>
            </a:r>
            <a:r>
              <a:rPr lang="zh-CN" altLang="en-US" sz="3200" dirty="0"/>
              <a:t>高阶内容</a:t>
            </a:r>
            <a:endParaRPr lang="zh-TW" altLang="en-US" sz="3200" dirty="0"/>
          </a:p>
        </p:txBody>
      </p:sp>
      <p:pic>
        <p:nvPicPr>
          <p:cNvPr id="4" name="图片 3" descr="\documentclass{article}&#10;\usepackage{amsmath}&#10;\pagestyle{empty}&#10;\begin{document}&#10;&#10;&#10;$\|Xw-y\|_2^2+\lambda \|w\|_2^2$&#10;&#10;&#10;\end{document}" title="IguanaTex Bitmap Display">
            <a:extLst>
              <a:ext uri="{FF2B5EF4-FFF2-40B4-BE49-F238E27FC236}">
                <a16:creationId xmlns:a16="http://schemas.microsoft.com/office/drawing/2014/main" id="{59937840-98D2-7529-6CE2-57AA80FFEB7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18" y="2592374"/>
            <a:ext cx="3491789" cy="438912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&#10;$\|Xw-y\|_2^2+\lambda \|w\|_1$&#10;&#10;&#10;\end{document}" title="IguanaTex Bitmap Display">
            <a:extLst>
              <a:ext uri="{FF2B5EF4-FFF2-40B4-BE49-F238E27FC236}">
                <a16:creationId xmlns:a16="http://schemas.microsoft.com/office/drawing/2014/main" id="{977F406A-FA4B-11FD-EC42-8C05B837A1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34" y="4308831"/>
            <a:ext cx="3482036" cy="438912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&#10;$\|Xw-y\|_2^2$&#10;&#10;&#10;\end{document}" title="IguanaTex Bitmap Display">
            <a:extLst>
              <a:ext uri="{FF2B5EF4-FFF2-40B4-BE49-F238E27FC236}">
                <a16:creationId xmlns:a16="http://schemas.microsoft.com/office/drawing/2014/main" id="{77C16A48-FBAC-5FD7-EC14-A8EF2FCF4D6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68" y="1599867"/>
            <a:ext cx="1872692" cy="438912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5172A77-3C71-5179-5281-491586E52073}"/>
              </a:ext>
            </a:extLst>
          </p:cNvPr>
          <p:cNvCxnSpPr/>
          <p:nvPr/>
        </p:nvCxnSpPr>
        <p:spPr>
          <a:xfrm flipV="1">
            <a:off x="1512643" y="1011330"/>
            <a:ext cx="3226419" cy="588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33B668-651C-D57C-06DD-9AE8EF438C21}"/>
              </a:ext>
            </a:extLst>
          </p:cNvPr>
          <p:cNvSpPr/>
          <p:nvPr/>
        </p:nvSpPr>
        <p:spPr>
          <a:xfrm>
            <a:off x="4739063" y="711003"/>
            <a:ext cx="2121050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data,</a:t>
            </a:r>
            <a:r>
              <a:rPr lang="zh-CN" altLang="en-US" dirty="0"/>
              <a:t>输入数据矩阵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318A0FB-CD05-95DC-703C-9BC6A701E61D}"/>
              </a:ext>
            </a:extLst>
          </p:cNvPr>
          <p:cNvCxnSpPr>
            <a:cxnSpLocks/>
          </p:cNvCxnSpPr>
          <p:nvPr/>
        </p:nvCxnSpPr>
        <p:spPr>
          <a:xfrm flipV="1">
            <a:off x="2575726" y="1524286"/>
            <a:ext cx="3226419" cy="383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33A4001-5AA3-16DD-6093-A8967EDDB394}"/>
              </a:ext>
            </a:extLst>
          </p:cNvPr>
          <p:cNvSpPr/>
          <p:nvPr/>
        </p:nvSpPr>
        <p:spPr>
          <a:xfrm>
            <a:off x="5783558" y="1309413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target,</a:t>
            </a:r>
            <a:r>
              <a:rPr lang="zh-CN" altLang="en-US" dirty="0"/>
              <a:t>输出向量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DCE921D-0622-1EE0-1623-D0F738E41E1B}"/>
              </a:ext>
            </a:extLst>
          </p:cNvPr>
          <p:cNvSpPr/>
          <p:nvPr/>
        </p:nvSpPr>
        <p:spPr>
          <a:xfrm>
            <a:off x="4978847" y="2586623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ridge regression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53C9DFE-0D6D-CE7B-3202-6C836D36D15A}"/>
              </a:ext>
            </a:extLst>
          </p:cNvPr>
          <p:cNvSpPr/>
          <p:nvPr/>
        </p:nvSpPr>
        <p:spPr>
          <a:xfrm>
            <a:off x="5049897" y="4326104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lasso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E30D9FD-50C5-2DE0-0C9E-AF04DA2774A6}"/>
              </a:ext>
            </a:extLst>
          </p:cNvPr>
          <p:cNvSpPr/>
          <p:nvPr/>
        </p:nvSpPr>
        <p:spPr>
          <a:xfrm>
            <a:off x="4998974" y="3038075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岭回归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733D6A6-9EEF-3A60-8C79-58A1F4C54896}"/>
              </a:ext>
            </a:extLst>
          </p:cNvPr>
          <p:cNvSpPr/>
          <p:nvPr/>
        </p:nvSpPr>
        <p:spPr>
          <a:xfrm>
            <a:off x="5064272" y="4822189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拉索</a:t>
            </a:r>
            <a:r>
              <a:rPr lang="en-US" altLang="zh-CN" dirty="0"/>
              <a:t>/</a:t>
            </a:r>
            <a:r>
              <a:rPr lang="zh-CN" altLang="en-US" dirty="0"/>
              <a:t>套索</a:t>
            </a:r>
          </a:p>
        </p:txBody>
      </p:sp>
      <p:pic>
        <p:nvPicPr>
          <p:cNvPr id="9" name="图片 8" descr="\documentclass{article}&#10;\usepackage{amsmath}&#10;\pagestyle{empty}&#10;\begin{document}&#10;&#10;&#10;$\|Xw-y\|_2^2+\lambda_1\|w\|_1+\lambda_2\|w\|_2^2$&#10;&#10;&#10;\end{document}" title="IguanaTex Bitmap Display">
            <a:extLst>
              <a:ext uri="{FF2B5EF4-FFF2-40B4-BE49-F238E27FC236}">
                <a16:creationId xmlns:a16="http://schemas.microsoft.com/office/drawing/2014/main" id="{9B32AC3D-32BA-DB03-770E-A2914F518C2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23" y="5795446"/>
            <a:ext cx="5471770" cy="438912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90E30D-0953-6303-F751-0818290EFD2E}"/>
              </a:ext>
            </a:extLst>
          </p:cNvPr>
          <p:cNvSpPr/>
          <p:nvPr/>
        </p:nvSpPr>
        <p:spPr>
          <a:xfrm>
            <a:off x="7045543" y="5795446"/>
            <a:ext cx="1810216" cy="4389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Hybrid 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22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41430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机器学习基本概念</a:t>
            </a:r>
            <a:r>
              <a:rPr lang="en-US" altLang="zh-CN" sz="2400" dirty="0"/>
              <a:t>(</a:t>
            </a:r>
            <a:r>
              <a:rPr lang="zh-CN" altLang="en-US" sz="2400" dirty="0"/>
              <a:t>数据，维度，数据矩阵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线性回归的定义，求解</a:t>
            </a:r>
            <a:endParaRPr lang="en-US" altLang="zh-CN" sz="2400" dirty="0"/>
          </a:p>
          <a:p>
            <a:r>
              <a:rPr lang="zh-CN" altLang="en-US" dirty="0"/>
              <a:t>梯度下降法</a:t>
            </a:r>
            <a:endParaRPr lang="en-US" altLang="zh-CN" dirty="0"/>
          </a:p>
          <a:p>
            <a:r>
              <a:rPr lang="zh-CN" altLang="en-US" dirty="0"/>
              <a:t>自动求导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编程</a:t>
            </a:r>
            <a:r>
              <a:rPr lang="en-US" altLang="zh-CN" dirty="0"/>
              <a:t>(</a:t>
            </a:r>
            <a:r>
              <a:rPr lang="en-US" altLang="zh-CN" dirty="0" err="1"/>
              <a:t>Numpy,pytorch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673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655F6-7840-48D9-6CC6-C9E1B74B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D7580E-7BE3-D0AF-D08E-44059624D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63316"/>
                <a:ext cx="7886700" cy="4351338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1800" kern="1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. 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设有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=50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个训练样本，每个样本有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</m:t>
                    </m:r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=3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个特征（不包括需要另外添加的恒为</a:t>
                </a:r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的截距项），线性回归的最优解为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w</m:t>
                    </m:r>
                    <m: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1800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altLang="zh-CN" sz="1800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X</m:t>
                            </m:r>
                          </m:e>
                        </m:d>
                      </m:e>
                      <m:sup>
                        <m:r>
                          <a:rPr lang="zh-CN" altLang="en-US" sz="1800" i="1" kern="10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8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y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。对于给定</a:t>
                </a:r>
                <a14:m>
                  <m:oMath xmlns:m="http://schemas.openxmlformats.org/officeDocument/2006/math"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𝑛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d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的值，这个解中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X</m:t>
                    </m:r>
                    <m: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y</m:t>
                    </m:r>
                    <m: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800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w</m:t>
                    </m:r>
                  </m:oMath>
                </a14:m>
                <a:r>
                  <a:rPr lang="zh-CN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的维数分别是多少？（   ）</a:t>
                </a:r>
              </a:p>
              <a:p>
                <a:pPr algn="just"/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A. X:50×3, y: 50×1, w: 4×4      B. X:50×4, y:50×1, w: 4×1</a:t>
                </a:r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sz="18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C. X:51×3, y: 51×1, w: 3×1      D. X:51×3, y:51×3, w: 3×3</a:t>
                </a:r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sz="1800" dirty="0"/>
                  <a:t>2. </a:t>
                </a:r>
                <a:r>
                  <a:rPr lang="zh-CN" altLang="en-US" sz="1800" dirty="0"/>
                  <a:t>线性回归是指训练样本是线性相关的（</a:t>
                </a:r>
                <a:r>
                  <a:rPr lang="en-US" altLang="zh-CN" sz="1800" dirty="0"/>
                  <a:t>True </a:t>
                </a:r>
                <a:r>
                  <a:rPr lang="en-US" altLang="zh-CN" sz="1800"/>
                  <a:t>or False</a:t>
                </a:r>
                <a:r>
                  <a:rPr lang="zh-CN" altLang="en-US" sz="1800"/>
                  <a:t>）</a:t>
                </a:r>
                <a:endParaRPr lang="zh-CN" altLang="en-US" sz="18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BD7580E-7BE3-D0AF-D08E-44059624D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63316"/>
                <a:ext cx="7886700" cy="4351338"/>
              </a:xfrm>
              <a:blipFill>
                <a:blip r:embed="rId2"/>
                <a:stretch>
                  <a:fillRect l="-618" t="-1681" r="-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9402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2362"/>
  <p:tag name="ORIGINALWIDTH" val="449.1938"/>
  <p:tag name="LATEXADDIN" val="\documentclass{article}&#10;\usepackage{amsmath}&#10;\pagestyle{empty}&#10;\begin{document}&#10;&#10;&#10;$$w_1,w_2,b$$&#10;&#10;\end{document}"/>
  <p:tag name="IGUANATEXSIZE" val="36"/>
  <p:tag name="IGUANATEXCURSOR" val="9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1519.31"/>
  <p:tag name="LATEXADDIN" val="\documentclass{article}&#10;\usepackage{amsmath}&#10;\pagestyle{empty}&#10;\begin{document}&#10;&#10;$&#10;y=w_1*x^{(1)}+w_2*x^{(2)}+b&#10;$&#10;&#10;&#10;\end{document}"/>
  <p:tag name="IGUANATEXSIZE" val="20"/>
  <p:tag name="IGUANATEXCURSOR" val="110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5.75"/>
  <p:tag name="ORIGINALWIDTH" val="1537.5"/>
  <p:tag name="LATEXADDIN" val="\documentclass{article}&#10;\usepackage{amsmath}&#10;\pagestyle{empty}&#10;\begin{document}&#10;&#10;&#10;$\begin{array}{l}&#10;X=[x_1,x_2,\cdots,x_n]\in\mathbf{R}^{d\times n}\\&#10;y=[y_1,y_2,\cdots,y_n]^T\in\mathbf{R}^n&#10;\end{array}&#10;$&#10;\end{document}"/>
  <p:tag name="IGUANATEXSIZE" val="28"/>
  <p:tag name="IGUANATEXCURSOR" val="171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2038.995"/>
  <p:tag name="LATEXADDIN" val="\documentclass{article}&#10;\usepackage{amsmath}&#10;\pagestyle{empty}&#10;\begin{document}&#10;$$&#10;\begin{array}{ll}&#10;f(w,b;x)&amp;=w_1*x^{(1)}+w_2*x^{(2)}+b\\&#10;\end{array}&#10;$$&#10;\end{document}"/>
  <p:tag name="IGUANATEXSIZE" val="36"/>
  <p:tag name="IGUANATEXCURSOR" val="10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2038.995"/>
  <p:tag name="LATEXADDIN" val="\documentclass{article}&#10;\usepackage{amsmath}&#10;\pagestyle{empty}&#10;\begin{document}&#10;$$&#10;\begin{array}{ll}&#10;f(w,b;x)&amp;=w_1*x^{(1)}+w_2*x^{(2)}+b&#10;\end{array}&#10;$$&#10;\end{document}"/>
  <p:tag name="IGUANATEXSIZE" val="36"/>
  <p:tag name="IGUANATEXCURSOR" val="13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0.4274"/>
  <p:tag name="ORIGINALWIDTH" val="2038.995"/>
  <p:tag name="LATEXADDIN" val="\documentclass{article}&#10;\usepackage{amsmath}&#10;\pagestyle{empty}&#10;\begin{document}&#10;$$&#10;\begin{array}{ll}&#10;f(w,b;x)&amp;=w_1*x^{(1)}+w_2*x^{(2)}+b\\&#10;&amp;=[w_1,w_2]*\left[\begin{array}{l}&#10;                    x^{(1)}\\&#10;x^{(2)}\end{array}\right]+b\\&#10;&amp;=w^Tx+b&#10;\end{array}&#10;$$&#10;\end{document}"/>
  <p:tag name="IGUANATEXSIZE" val="36"/>
  <p:tag name="IGUANATEXCURSOR" val="24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625.5"/>
  <p:tag name="LATEXADDIN" val="\documentclass{article}&#10;\usepackage{amsmath}&#10;\pagestyle{empty}&#10;\begin{document}&#10;&#10;$&#10;w=\left[\begin{array}{l}&#10;w_1\\&#10;w_2&#10;\end{array}&#10;\right]&#10;$&#10;&#10;\end{document}"/>
  <p:tag name="IGUANATEXSIZE" val="36"/>
  <p:tag name="IGUANATEXCURSOR" val="129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5.25"/>
  <p:tag name="ORIGINALWIDTH" val="663.75"/>
  <p:tag name="LATEXADDIN" val="\documentclass{article}&#10;\usepackage{amsmath}&#10;\pagestyle{empty}&#10;\begin{document}&#10;&#10;$&#10;x=\left[\begin{array}{l}&#10;                    x^{(1)}\\&#10;x^{(2)}\end{array}\right]&#10;$&#10;&#10;\end{document}"/>
  <p:tag name="IGUANATEXSIZE" val="36"/>
  <p:tag name="IGUANATEXCURSOR" val="84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4822"/>
  <p:tag name="ORIGINALWIDTH" val="1486.314"/>
  <p:tag name="LATEXADDIN" val="\documentclass{article}&#10;\usepackage{amsmath}&#10;\pagestyle{empty}&#10;\begin{document}&#10;&#10;$$&#10;f(w,b;x_1)=w^Tx_1+b\approx y_1&#10;$$&#10;&#10;&#10;\end{document}"/>
  <p:tag name="IGUANATEXSIZE" val="28"/>
  <p:tag name="IGUANATEXCURSOR" val="10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2231.25"/>
  <p:tag name="LATEXADDIN" val="\documentclass{article}&#10;\usepackage{amsmath}&#10;\pagestyle{empty}&#10;\begin{document}&#10;&#10;&#10;$&#10;X=[x_1,x_2,\cdots,x_n],y=[y_1,y_2,\cdots,y_n]^T&#10;$&#10;&#10;\end{document}"/>
  <p:tag name="IGUANATEXSIZE" val="23"/>
  <p:tag name="IGUANATEXCURSOR" val="131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953.1309"/>
  <p:tag name="LATEXADDIN" val="\documentclass{article}&#10;\usepackage{amsmath}&#10;\pagestyle{empty}&#10;\begin{document}&#10;&#10;$$\begin{array}{l}&#10;(f(w,b;x_1)-y_1)^2&#10;\end{array}&#10;$$&#10;&#10;&#10;\end{document}"/>
  <p:tag name="IGUANATEXSIZE" val="28"/>
  <p:tag name="IGUANATEXCURSOR" val="10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3531.309"/>
  <p:tag name="LATEXADDIN" val="\documentclass{article}&#10;\usepackage{amsmath}&#10;\pagestyle{empty}&#10;\begin{document}&#10;$&#10;(f(w,b;x_1)-y_1)^2+(f(w,b;x_2)-y_2)^2+\cdots+(f(w,b;x_n)-y_n)^2&#10;$&#10;&#10;&#10;\end{document}"/>
  <p:tag name="IGUANATEXSIZE" val="28"/>
  <p:tag name="IGUANATEXCURSOR" val="13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"/>
  <p:tag name="ORIGINALWIDTH" val="109.5"/>
  <p:tag name="LATEXADDIN" val="\documentclass{article}&#10;\usepackage{amsmath}&#10;\pagestyle{empty}&#10;\begin{document}&#10;&#10;$x_1$&#10;&#10;&#10;\end{document}"/>
  <p:tag name="IGUANATEXSIZE" val="20"/>
  <p:tag name="IGUANATEXCURSOR" val="85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4822"/>
  <p:tag name="ORIGINALWIDTH" val="1104.612"/>
  <p:tag name="LATEXADDIN" val="\documentclass{article}&#10;\usepackage{amsmath}&#10;\pagestyle{empty}&#10;\begin{document}&#10;&#10;$$&#10;f(w,b;x)=w^Tx+b&#10;$$&#10;&#10;&#10;\end{document}"/>
  <p:tag name="IGUANATEXSIZE" val="36"/>
  <p:tag name="IGUANATEXCURSOR" val="9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4822"/>
  <p:tag name="ORIGINALWIDTH" val="1489.314"/>
  <p:tag name="LATEXADDIN" val="\documentclass{article}&#10;\usepackage{amsmath}&#10;\pagestyle{empty}&#10;\begin{document}&#10;&#10;$$&#10;f(w,b;x_2)=w^Tx_2+b\approx y_2&#10;$$&#10;&#10;&#10;\end{document}"/>
  <p:tag name="IGUANATEXSIZE" val="28"/>
  <p:tag name="IGUANATEXCURSOR" val="10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"/>
  <p:tag name="ORIGINALWIDTH" val="112.5"/>
  <p:tag name="LATEXADDIN" val="\documentclass{article}&#10;\usepackage{amsmath}&#10;\pagestyle{empty}&#10;\begin{document}&#10;&#10;$x_2$&#10;&#10;&#10;\end{document}"/>
  <p:tag name="IGUANATEXSIZE" val="20"/>
  <p:tag name="IGUANATEXCURSOR" val="85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4822"/>
  <p:tag name="ORIGINALWIDTH" val="1490.064"/>
  <p:tag name="LATEXADDIN" val="\documentclass{article}&#10;\usepackage{amsmath}&#10;\pagestyle{empty}&#10;\begin{document}&#10;&#10;$$&#10;f(w,b;x_3)=w^Tx_3+b\approx y_3&#10;$$&#10;&#10;&#10;\end{document}"/>
  <p:tag name="IGUANATEXSIZE" val="28"/>
  <p:tag name="IGUANATEXCURSOR" val="10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113.25"/>
  <p:tag name="LATEXADDIN" val="\documentclass{article}&#10;\usepackage{amsmath}&#10;\pagestyle{empty}&#10;\begin{document}&#10;&#10;$x_3$&#10;&#10;&#10;\end{document}"/>
  <p:tag name="IGUANATEXSIZE" val="20"/>
  <p:tag name="IGUANATEXCURSOR" val="85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1491.563"/>
  <p:tag name="LATEXADDIN" val="\documentclass{article}&#10;\usepackage{amsmath}&#10;\pagestyle{empty}&#10;\begin{document}&#10;&#10;$&#10;\begin{array}{l}&#10;f(w,b;x_4)=w^Tx_4+b\approx y_4&#10;\end{array}$&#10;&#10;&#10;&#10;\end{document}"/>
  <p:tag name="IGUANATEXSIZE" val="28"/>
  <p:tag name="IGUANATEXCURSOR" val="11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"/>
  <p:tag name="ORIGINALWIDTH" val="114.75"/>
  <p:tag name="LATEXADDIN" val="\documentclass{article}&#10;\usepackage{amsmath}&#10;\pagestyle{empty}&#10;\begin{document}&#10;&#10;$x_4$&#10;&#10;&#10;\end{document}"/>
  <p:tag name="IGUANATEXSIZE" val="20"/>
  <p:tag name="IGUANATEXCURSOR" val="85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953.1309"/>
  <p:tag name="LATEXADDIN" val="\documentclass{article}&#10;\usepackage{amsmath}&#10;\pagestyle{empty}&#10;\begin{document}&#10;&#10;&#10;$\begin{array}{l}&#10;(f(w,b;x_2)-y_2)^2&#10;\end{array}$&#10;\end{document}"/>
  <p:tag name="IGUANATEXSIZE" val="28"/>
  <p:tag name="IGUANATEXCURSOR" val="10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9666"/>
  <p:tag name="ORIGINALWIDTH" val="1322.085"/>
  <p:tag name="LATEXADDIN" val="\documentclass{article}&#10;\usepackage{amsmath}&#10;\pagestyle{empty}&#10;\begin{document}&#10;&#10;$\min\limits_{w,b}\sum\limits_{i=1}^n(f(w,b;x_i)-y_i)^2&#10;$&#10;&#10;&#10;\end{document}"/>
  <p:tag name="IGUANATEXSIZE" val="28"/>
  <p:tag name="IGUANATEXCURSOR" val="133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953.1309"/>
  <p:tag name="LATEXADDIN" val="\documentclass{article}&#10;\usepackage{amsmath}&#10;\pagestyle{empty}&#10;\begin{document}&#10;$&#10;(f(w,b;x_3)-y_3)^2&#10;$&#10;\end{document}"/>
  <p:tag name="IGUANATEXSIZE" val="28"/>
  <p:tag name="IGUANATEXCURSOR" val="8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953.1309"/>
  <p:tag name="LATEXADDIN" val="\documentclass{article}&#10;\usepackage{amsmath}&#10;\pagestyle{empty}&#10;\begin{document}&#10;$(f(w,b;x_4)-y_4)^2$&#10;\end{document}"/>
  <p:tag name="IGUANATEXSIZE" val="28"/>
  <p:tag name="IGUANATEXCURSOR" val="87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7.9153"/>
  <p:tag name="ORIGINALWIDTH" val="1491.563"/>
  <p:tag name="LATEXADDIN" val="\documentclass{article}&#10;\usepackage{amsmath}&#10;\pagestyle{empty}&#10;\begin{document}&#10;&#10;$$\begin{array}{l}&#10;f(w,b;x_1)=w^Tx_1+b\approx y_1\\&#10;f(w,b;x_2)=w^Tx_2+b\approx y_2\\&#10;f(w,b;x_3)=w^Tx_3+b\approx y_3\\&#10;f(w,b;x_4)=w^Tx_4+b\approx y_4\\&#10;\cdots\end{array}&#10;$$&#10;&#10;&#10;\end{document}"/>
  <p:tag name="IGUANATEXSIZE" val="36"/>
  <p:tag name="IGUANATEXCURSOR" val="21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2231.25"/>
  <p:tag name="LATEXADDIN" val="\documentclass{article}&#10;\usepackage{amsmath}&#10;\pagestyle{empty}&#10;\begin{document}&#10;&#10;&#10;$&#10;X=[x_1,x_2,\cdots,x_n],y=[y_1,y_2,\cdots,y_n]^T&#10;$&#10;&#10;\end{document}"/>
  <p:tag name="IGUANATEXSIZE" val="23"/>
  <p:tag name="IGUANATEXCURSOR" val="131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609.299"/>
  <p:tag name="LATEXADDIN" val="\documentclass{article}&#10;\usepackage{amsmath}&#10;\pagestyle{empty}&#10;\begin{document}&#10;&#10;$$L(w,b)=\sum\limits_{i=1}^n(w^Tx_i+b- y_i)^2\\&#10;$$&#10;&#10;&#10;\end{document}"/>
  <p:tag name="IGUANATEXSIZE" val="36"/>
  <p:tag name="IGUANATEXCURSOR" val="11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6.4154"/>
  <p:tag name="ORIGINALWIDTH" val="954.6306"/>
  <p:tag name="LATEXADDIN" val="\documentclass{article}&#10;\usepackage{amsmath}&#10;\pagestyle{empty}&#10;\begin{document}&#10;&#10;$$\begin{array}{l}&#10;(f(w,b;x_1)-y_1)^2\\&#10;(f(w,b;x_2)-y_2)^2\\&#10;(f(w,b;x_3)-y_3)^2\\&#10;(f(w,b;x_4)-y_4)^2\\&#10;\cdots&#10;\end{array}&#10;$$&#10;&#10;&#10;\end{document}"/>
  <p:tag name="IGUANATEXSIZE" val="36"/>
  <p:tag name="IGUANATEXCURSOR" val="16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.4822"/>
  <p:tag name="ORIGINALWIDTH" val="1104.612"/>
  <p:tag name="LATEXADDIN" val="\documentclass{article}&#10;\usepackage{amsmath}&#10;\pagestyle{empty}&#10;\begin{document}&#10;&#10;$$&#10;f(w,b;x)=w^Tx+b&#10;$$&#10;&#10;&#10;\end{document}"/>
  <p:tag name="IGUANATEXSIZE" val="36"/>
  <p:tag name="IGUANATEXCURSOR" val="9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1.976"/>
  <p:tag name="ORIGINALWIDTH" val="594.6757"/>
  <p:tag name="LATEXADDIN" val="\documentclass{article}&#10;\usepackage{amsmath}&#10;\pagestyle{empty}&#10;\begin{document}&#10;&#10;$\min\limits_{w,b}L(w,b)$&#10;&#10;&#10;\end{document}"/>
  <p:tag name="IGUANATEXSIZE" val="36"/>
  <p:tag name="IGUANATEXCURSOR" val="9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609.299"/>
  <p:tag name="LATEXADDIN" val="\documentclass{article}&#10;\usepackage{amsmath}&#10;\pagestyle{empty}&#10;\begin{document}&#10;&#10;$$L(w,b)=\sum\limits_{i=1}^n(w^Tx_i+b- y_i)^2\\&#10;$$&#10;&#10;&#10;\end{document}"/>
  <p:tag name="IGUANATEXSIZE" val="36"/>
  <p:tag name="IGUANATEXCURSOR" val="11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1324.334"/>
  <p:tag name="LATEXADDIN" val="\documentclass{article}&#10;\usepackage{amsmath}&#10;\pagestyle{empty}&#10;\begin{document}&#10;$&#10;f(w,b;x)=[w^T,b]\left[&#10;\begin{array}{l}&#10;x\\&#10;1&#10;\end{array}&#10;\right]&#10;$&#10;\end{document}"/>
  <p:tag name="IGUANATEXSIZE" val="28"/>
  <p:tag name="IGUANATEXCURSOR" val="97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600.6749"/>
  <p:tag name="LATEXADDIN" val="\documentclass{article}&#10;\usepackage{amsmath}&#10;\pagestyle{empty}&#10;\begin{document}&#10;$&#10;w\leftarrow\left[&#10;\begin{array}{l}&#10;w\\&#10;b&#10;\end{array}&#10;\right]&#10;$&#10;\end{document}"/>
  <p:tag name="IGUANATEXSIZE" val="28"/>
  <p:tag name="IGUANATEXCURSOR" val="159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5"/>
  <p:tag name="ORIGINALWIDTH" val="558"/>
  <p:tag name="LATEXADDIN" val="\documentclass{article}&#10;\usepackage{amsmath}&#10;\pagestyle{empty}&#10;\begin{document}&#10;$&#10;x\leftarrow\left[&#10;\begin{array}{l}&#10;x\\&#10;1&#10;\end{array}&#10;\right]&#10;$&#10;\end{document}"/>
  <p:tag name="IGUANATEXSIZE" val="28"/>
  <p:tag name="IGUANATEXCURSOR" val="122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276.5"/>
  <p:tag name="LATEXADDIN" val="\documentclass{article}&#10;\usepackage{amsmath}&#10;\pagestyle{empty}&#10;\begin{document}&#10;&#10;$L(w)=\sum\limits_{i=1}^n(w^Tx_i- y_i)^2\\&#10;$&#10;&#10;&#10;\end{document}"/>
  <p:tag name="IGUANATEXSIZE" val="28"/>
  <p:tag name="IGUANATEXCURSOR" val="8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276.5"/>
  <p:tag name="LATEXADDIN" val="\documentclass{article}&#10;\usepackage{amsmath}&#10;\pagestyle{empty}&#10;\begin{document}&#10;&#10;$L(w)=\sum\limits_{i=1}^n(w^Tx_i- y_i)^2\\&#10;$&#10;&#10;&#10;\end{document}"/>
  <p:tag name="IGUANATEXSIZE" val="28"/>
  <p:tag name="IGUANATEXCURSOR" val="8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4.75"/>
  <p:tag name="ORIGINALWIDTH" val="880.5"/>
  <p:tag name="LATEXADDIN" val="\documentclass{article}&#10;\usepackage{amsmath}&#10;\pagestyle{empty}&#10;\begin{document}&#10;&#10;$$&#10;\left\|\begin{array}{l}&#10;{w}^T{x}_1- y_1\\&#10;{w}^T{x}_2- y_2\\&#10;{w}^T{x}_3- y_3\\&#10;\vdots\\&#10;{w}^T{x}_n- y_n\\&#10;\end{array}&#10;\right\|_2^2$$&#10;\end{document}"/>
  <p:tag name="IGUANATEXSIZE" val="28"/>
  <p:tag name="IGUANATEXCURSOR" val="216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6"/>
  <p:tag name="ORIGINALWIDTH" val="708.75"/>
  <p:tag name="LATEXADDIN" val="\documentclass{article}&#10;\usepackage{amsmath}&#10;\pagestyle{empty}&#10;\begin{document}&#10;&#10;$$\begin{array}{l}&#10;{w}^T{x}_1={x}_1^T{w}\\&#10;{w}^T{x}_2={x}_2^T{w}\\&#10;{w}^T{x}_3={x}_3^T{w}\\&#10;\vdots\\&#10;{w}^T{x}_n={x}_n^T{w}&#10;\end{array}&#10;$$&#10;\end{document}"/>
  <p:tag name="IGUANATEXSIZE" val="28"/>
  <p:tag name="IGUANATEXCURSOR" val="232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4.75"/>
  <p:tag name="ORIGINALWIDTH" val="811.5"/>
  <p:tag name="LATEXADDIN" val="\documentclass{article}&#10;\usepackage{amsmath}&#10;\pagestyle{empty}&#10;\begin{document}&#10;&#10;$$&#10;\left\|\begin{array}{l}&#10;{x}_1^T{w}- y_1\\&#10;{x}_2^T{w}- y_2\\&#10;{x}_3^T{w}- y_3\\&#10;\vdots\\&#10;{x}_n^T{w}- y_n\\&#10;\end{array}&#10;\right\|_2^2$$&#10;&#10;\end{document}"/>
  <p:tag name="IGUANATEXSIZE" val="36"/>
  <p:tag name="IGUANATEXCURSOR" val="217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4.75"/>
  <p:tag name="ORIGINALWIDTH" val="1289.25"/>
  <p:tag name="LATEXADDIN" val="\documentclass{article}&#10;\usepackage{amsmath}&#10;\pagestyle{empty}&#10;\begin{document}&#10;&#10;$$&#10;\left\|&#10;\left[\begin{array}{l}{x}_1^T\\&#10;{x}_2^T\\&#10;{x}_3^T\\&#10;\vdots\\&#10;{x}_n^T\end{array}\right]&#10;{w}-\left[\begin{array}{l}&#10;y_1\\&#10;y_2\\&#10;y_3\\&#10;\vdots\\&#10;y_n\end{array}\right]&#10;\right\|_2^2$$&#10;&#10;\end{document}"/>
  <p:tag name="IGUANATEXSIZE" val="28"/>
  <p:tag name="IGUANATEXCURSOR" val="28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5"/>
  <p:tag name="ORIGINALWIDTH" val="179.25"/>
  <p:tag name="LATEXADDIN" val="\documentclass{article}&#10;\usepackage{amsmath}&#10;\pagestyle{empty}&#10;\begin{document}&#10;$X^T$&#10;\end{document}"/>
  <p:tag name="IGUANATEXSIZE" val="36"/>
  <p:tag name="IGUANATEXCURSOR" val="84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5"/>
  <p:tag name="ORIGINALWIDTH" val="58.5"/>
  <p:tag name="LATEXADDIN" val="\documentclass{article}&#10;\usepackage{amsmath}&#10;\pagestyle{empty}&#10;\begin{document}&#10;&#10;&#10;$y$&#10;&#10;\end{document}"/>
  <p:tag name="IGUANATEXSIZE" val="36"/>
  <p:tag name="IGUANATEXCURSOR" val="84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2761.5"/>
  <p:tag name="LATEXADDIN" val="\documentclass{article}&#10;\usepackage{amsmath}&#10;\pagestyle{empty}&#10;\begin{document}&#10;&#10;$&#10;({w}^Tx_1- y_1)^2+(w^Tx_2- y_2)^2+\cdots+({w}^T{x}_n- y_n)^2&#10;$&#10;&#10;&#10;\end{document}"/>
  <p:tag name="IGUANATEXSIZE" val="28"/>
  <p:tag name="IGUANATEXCURSOR" val="12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9.25"/>
  <p:tag name="ORIGINALWIDTH" val="1238.25"/>
  <p:tag name="LATEXADDIN" val="\documentclass{article}&#10;\usepackage{amsmath}&#10;\pagestyle{empty}&#10;\begin{document}&#10;&#10;$\begin{array}{l}&#10;a_1^2+a_2^2+a_3^2+\cdots+a_n^2\\&#10;=\left\|\left(&#10;\begin{array}{c}&#10;a_1\\&#10;a_2\\&#10;\cdots\\&#10;a_n&#10;\end{array}&#10;\right)\right\|=\|a\|_2^2&#10;\end{array}&#10;$&#10;&#10;&#10;\end{document}"/>
  <p:tag name="IGUANATEXSIZE" val="36"/>
  <p:tag name="IGUANATEXCURSOR" val="226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930"/>
  <p:tag name="LATEXADDIN" val="\documentclass{article}&#10;\usepackage{amsmath}&#10;\pagestyle{empty}&#10;\begin{document}&#10;&#10;$$L=||X^Tw- y||_2^2\\&#10;$$&#10;&#10;&#10;\end{document}"/>
  <p:tag name="IGUANATEXSIZE" val="28"/>
  <p:tag name="IGUANATEXCURSOR" val="87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"/>
  <p:tag name="ORIGINALWIDTH" val="109.5"/>
  <p:tag name="LATEXADDIN" val="\documentclass{article}&#10;\usepackage{amsmath}&#10;\pagestyle{empty}&#10;\begin{document}&#10;&#10;$x_1$&#10;&#10;&#10;\end{document}"/>
  <p:tag name="IGUANATEXSIZE" val="36"/>
  <p:tag name="IGUANATEXCURSOR" val="8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5"/>
  <p:tag name="ORIGINALWIDTH" val="112.5"/>
  <p:tag name="LATEXADDIN" val="\documentclass{article}&#10;\usepackage{amsmath}&#10;\pagestyle{empty}&#10;\begin{document}&#10;&#10;$x_2$&#10;&#10;&#10;\end{document}"/>
  <p:tag name="IGUANATEXSIZE" val="36"/>
  <p:tag name="IGUANATEXCURSOR" val="8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"/>
  <p:tag name="ORIGINALWIDTH" val="113.25"/>
  <p:tag name="LATEXADDIN" val="\documentclass{article}&#10;\usepackage{amsmath}&#10;\pagestyle{empty}&#10;\begin{document}&#10;&#10;$x_3$&#10;&#10;&#10;\end{document}"/>
  <p:tag name="IGUANATEXSIZE" val="36"/>
  <p:tag name="IGUANATEXCURSOR" val="8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5"/>
  <p:tag name="ORIGINALWIDTH" val="126"/>
  <p:tag name="LATEXADDIN" val="\documentclass{article}&#10;\usepackage{amsmath}&#10;\pagestyle{empty}&#10;\begin{document}&#10;&#10;$x_n$&#10;&#10;&#10;\end{document}"/>
  <p:tag name="IGUANATEXSIZE" val="36"/>
  <p:tag name="IGUANATEXCURSOR" val="8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609.299"/>
  <p:tag name="LATEXADDIN" val="\documentclass{article}&#10;\usepackage{amsmath}&#10;\pagestyle{empty}&#10;\begin{document}&#10;&#10;$$L(w,b)=\sum\limits_{i=1}^n(w^Tx_i+b- y_i)^2\\&#10;$$&#10;&#10;&#10;\end{document}"/>
  <p:tag name="IGUANATEXSIZE" val="36"/>
  <p:tag name="IGUANATEXCURSOR" val="11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276.5"/>
  <p:tag name="LATEXADDIN" val="\documentclass{article}&#10;\usepackage{amsmath}&#10;\pagestyle{empty}&#10;\begin{document}&#10;&#10;$L(w)=\sum\limits_{i=1}^n(w^Tx_i- y_i)^2\\&#10;$&#10;&#10;&#10;\end{document}"/>
  <p:tag name="IGUANATEXSIZE" val="28"/>
  <p:tag name="IGUANATEXCURSOR" val="8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1119"/>
  <p:tag name="LATEXADDIN" val="\documentclass{article}&#10;\usepackage{amsmath}&#10;\pagestyle{empty}&#10;\begin{document}&#10;&#10;$$L(w)=||X^Tw- y||_2^2\\&#10;$$&#10;&#10;&#10;\end{document}"/>
  <p:tag name="IGUANATEXSIZE" val="36"/>
  <p:tag name="IGUANATEXCURSOR" val="87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838.02"/>
  <p:tag name="LATEXADDIN" val="\documentclass{article}&#10;\usepackage{amsmath}&#10;\pagestyle{empty}&#10;\begin{document}&#10;&#10;$$\min_{w,b}L(w,b)=\sum\limits_{i=1}^n(w^Tx_i+b- y_i)^2\\&#10;$$&#10;&#10;&#10;\end{document}"/>
  <p:tag name="IGUANATEXSIZE" val="36"/>
  <p:tag name="IGUANATEXCURSOR" val="128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286.839"/>
  <p:tag name="LATEXADDIN" val="\documentclass{article}&#10;\usepackage{amsmath}&#10;\pagestyle{empty}&#10;\begin{document}&#10;&#10;$$2\sum\limits_{i=1}^n(w^Tx_i+b- y_i)x^{(1)}_i\\&#10;$$&#10;&#10;&#10;\end{document}"/>
  <p:tag name="IGUANATEXSIZE" val="36"/>
  <p:tag name="IGUANATEXCURSOR" val="11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085.114"/>
  <p:tag name="LATEXADDIN" val="\documentclass{article}&#10;\usepackage{amsmath}&#10;\pagestyle{empty}&#10;\begin{document}&#10;&#10;$$2\sum\limits_{i=1}^n(w^Tx_i+b- y_i)\\&#10;$$&#10;&#10;&#10;\end{document}"/>
  <p:tag name="IGUANATEXSIZE" val="36"/>
  <p:tag name="IGUANATEXCURSOR" val="11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767.25"/>
  <p:tag name="LATEXADDIN" val="\documentclass{article}&#10;\usepackage{amsmath}&#10;\pagestyle{empty}&#10;\begin{document}&#10;&#10;$$w=(w_1,w_2)^T&#10;$$&#10;&#10;&#10;\end{document}"/>
  <p:tag name="IGUANATEXSIZE" val="36"/>
  <p:tag name="IGUANATEXCURSOR" val="96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2177.728"/>
  <p:tag name="LATEXADDIN" val="\documentclass{article}&#10;\usepackage{amsmath}&#10;\pagestyle{empty}&#10;\begin{document}&#10;&#10;$$L(w,b)=\sum\limits_{i=1}^n(w_1x^{(1)}_i+w_2x^{(2)}_i+b- y_i)^2\\&#10;$$&#10;&#10;&#10;\end{document}"/>
  <p:tag name="IGUANATEXSIZE" val="36"/>
  <p:tag name="IGUANATEXCURSOR" val="137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286.839"/>
  <p:tag name="LATEXADDIN" val="\documentclass{article}&#10;\usepackage{amsmath}&#10;\pagestyle{empty}&#10;\begin{document}&#10;&#10;$$2\sum\limits_{i=1}^n(w^Tx_i+b- y_i)x^{(2)}_i\\&#10;$$&#10;&#10;&#10;\end{document}"/>
  <p:tag name="IGUANATEXSIZE" val="36"/>
  <p:tag name="IGUANATEXCURSOR" val="11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073"/>
  <p:tag name="ORIGINALWIDTH" val="1199.85"/>
  <p:tag name="LATEXADDIN" val="\documentclass{article}&#10;\usepackage{amsmath}&#10;\pagestyle{empty}&#10;\begin{document}&#10;&#10;$$2\sum\limits_{i=1}^n(w^Tx_i+b- y_i)x_i\\&#10;$$&#10;&#10;&#10;\end{document}"/>
  <p:tag name="IGUANATEXSIZE" val="36"/>
  <p:tag name="IGUANATEXCURSOR" val="11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0.6824"/>
  <p:tag name="ORIGINALWIDTH" val="1332.583"/>
  <p:tag name="LATEXADDIN" val="\documentclass{article}&#10;\usepackage{amsmath}&#10;\pagestyle{empty}&#10;\begin{document}&#10;$&#10;\begin{array}{l}&#10;w_{1}^{(t)}\leftarrow w_{1}^{(t-1)}-\eta \frac{\partial L(w,b)}{\partial w_1}\\&#10;w_{2}^{(t)}\leftarrow w_{2}^{(t-1)}-\eta \frac{\partial L(w,b)}{\partial w_2}\\&#10;b^{(t)}\leftarrow b^{(t-1)}-\eta \frac{\partial L(w,b)}{\partial b}&#10;\end{array}&#10;$&#10;&#10;\end{document}"/>
  <p:tag name="IGUANATEXSIZE" val="36"/>
  <p:tag name="IGUANATEXCURSOR" val="312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277.25"/>
  <p:tag name="LATEXADDIN" val="\documentclass{article}&#10;\usepackage{amsmath}&#10;\pagestyle{empty}&#10;\begin{document}&#10;&#10;$MSE=\frac{1}{m}\sum\limits_{i=1}^m(y_i-\bar{y}_i)^2$&#10;&#10;&#10;\end{document}"/>
  <p:tag name="IGUANATEXSIZE" val="20"/>
  <p:tag name="IGUANATEXCURSOR" val="94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.25"/>
  <p:tag name="ORIGINALWIDTH" val="1509"/>
  <p:tag name="LATEXADDIN" val="\documentclass{article}&#10;\usepackage{amsmath}&#10;\pagestyle{empty}&#10;\begin{document}&#10;&#10;$RMSE=\sqrt{\frac{1}{m}\sum\limits_{i=1}^m(y_i-\bar{y}_i)^2}$&#10;&#10;&#10;\end{document}"/>
  <p:tag name="IGUANATEXSIZE" val="20"/>
  <p:tag name="IGUANATEXCURSOR" val="141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7"/>
  <p:tag name="ORIGINALWIDTH" val="1287"/>
  <p:tag name="LATEXADDIN" val="\documentclass{article}&#10;\usepackage{amsmath}&#10;\pagestyle{empty}&#10;\begin{document}&#10;&#10;$MAE=\frac{1}{m}\sum\limits_{i=1}^m(y_i-\bar{y}_i)^2$&#10;&#10;&#10;\end{document}"/>
  <p:tag name="IGUANATEXSIZE" val="20"/>
  <p:tag name="IGUANATEXCURSOR" val="84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612.75"/>
  <p:tag name="LATEXADDIN" val="\documentclass{article}&#10;\usepackage{amsmath}&#10;\pagestyle{empty}&#10;\begin{document}&#10;&#10;$f(x)=a^Tx$&#10;&#10;&#10;\end{document}"/>
  <p:tag name="IGUANATEXSIZE" val="36"/>
  <p:tag name="IGUANATEXCURSOR" val="91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5"/>
  <p:tag name="ORIGINALWIDTH" val="2145.75"/>
  <p:tag name="LATEXADDIN" val="\documentclass{article}&#10;\usepackage{amsmath}&#10;\pagestyle{empty}&#10;\begin{document}&#10;&#10;$f(x)=a^Tx=a_1x_1+a_2x_2+\cdots+a_nx_n$&#10;&#10;&#10;\end{document}"/>
  <p:tag name="IGUANATEXSIZE" val="36"/>
  <p:tag name="IGUANATEXCURSOR" val="119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2.5"/>
  <p:tag name="ORIGINALWIDTH" val="445.5"/>
  <p:tag name="LATEXADDIN" val="\documentclass{article}&#10;\usepackage{amsmath}&#10;\pagestyle{empty}&#10;\begin{document}&#10;&#10;$\frac{df}{dx_1}=a_1$&#10;&#10;&#10;\end{document}"/>
  <p:tag name="IGUANATEXSIZE" val="36"/>
  <p:tag name="IGUANATEXCURSOR" val="102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1.75"/>
  <p:tag name="ORIGINALWIDTH" val="448.5"/>
  <p:tag name="LATEXADDIN" val="\documentclass{article}&#10;\usepackage{amsmath}&#10;\pagestyle{empty}&#10;\begin{document}&#10;&#10;$\frac{df}{dx_2}=a_2$&#10;&#10;&#10;\end{document}"/>
  <p:tag name="IGUANATEXSIZE" val="36"/>
  <p:tag name="IGUANATEXCURSOR" val="96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"/>
  <p:tag name="ORIGINALWIDTH" val="474"/>
  <p:tag name="LATEXADDIN" val="\documentclass{article}&#10;\usepackage{amsmath}&#10;\pagestyle{empty}&#10;\begin{document}&#10;$\begin{array}{c}&#10;\vdots\\&#10;\frac{df}{dx_n}=a_n&#10;\end{array}$&#10;&#10;&#10;\end{document}"/>
  <p:tag name="IGUANATEXSIZE" val="36"/>
  <p:tag name="IGUANATEXCURSOR" val="127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.75"/>
  <p:tag name="ORIGINALWIDTH" val="108.75"/>
  <p:tag name="LATEXADDIN" val="\documentclass{article}&#10;\usepackage{amsmath}&#10;\pagestyle{empty}&#10;\begin{document}&#10;&#10;$\frac{df}{dx}$&#10;&#10;&#10;\end{document}"/>
  <p:tag name="IGUANATEXSIZE" val="36"/>
  <p:tag name="IGUANATEXCURSOR" val="95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5"/>
  <p:tag name="ORIGINALWIDTH" val="57.75"/>
  <p:tag name="LATEXADDIN" val="\documentclass{article}&#10;\usepackage{amsmath}&#10;\pagestyle{empty}&#10;\begin{document}&#10;&#10;$a$&#10;&#10;&#10;\end{document}"/>
  <p:tag name="IGUANATEXSIZE" val="36"/>
  <p:tag name="IGUANATEXCURSOR" val="83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"/>
  <p:tag name="ORIGINALWIDTH" val="329.25"/>
  <p:tag name="LATEXADDIN" val="\documentclass{article}&#10;\usepackage{amsmath}&#10;\pagestyle{empty}&#10;\begin{document}&#10;&#10;$\nabla f(x)$&#10;&#10;&#10;\end{document}"/>
  <p:tag name="IGUANATEXSIZE" val="36"/>
  <p:tag name="IGUANATEXCURSOR" val="93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9.5"/>
  <p:tag name="ORIGINALWIDTH" val="952.5"/>
  <p:tag name="LATEXADDIN" val="\documentclass{article}&#10;\usepackage{amsmath}&#10;\pagestyle{empty}&#10;\begin{document}&#10;&#10;$\begin{array}{l}&#10;f(x)=a^Tx+1\\&#10;f(x)=\frac{1}{1+\exp(a^Tx)}&#10;\end{array}&#10;$&#10;&#10;&#10;\end{document}"/>
  <p:tag name="IGUANATEXSIZE" val="36"/>
  <p:tag name="IGUANATEXCURSOR" val="130"/>
  <p:tag name="TRANSPARENCY" val="True"/>
  <p:tag name="LATEXENGINEID" val="0"/>
  <p:tag name="TEMPFOLDER" val="F:\Njau\Course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5.9505"/>
  <p:tag name="ORIGINALWIDTH" val="1029.621"/>
  <p:tag name="LATEXADDIN" val="\documentclass{article}&#10;\usepackage{amsmath}&#10;\pagestyle{empty}&#10;\begin{document}&#10;$\begin{array}{l}&#10;f(w,b,x)=wx+b\\&#10;w=0.8612\\&#10;b=0.6109&#10;\end{array}&#10;$&#10;\end{document}"/>
  <p:tag name="IGUANATEXSIZE" val="36"/>
  <p:tag name="IGUANATEXCURSOR" val="126"/>
  <p:tag name="TRANSPARENCY" val="True"/>
  <p:tag name="LATEXENGINEID" val="0"/>
  <p:tag name="TEMPFOLDER" val="D:\Tools\Office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"/>
  <p:tag name="ORIGINALWIDTH" val="1348.5"/>
  <p:tag name="LATEXADDIN" val="\documentclass{article}&#10;\usepackage{amsmath}&#10;\pagestyle{empty}&#10;\begin{document}&#10;&#10;$$\min\limits_{w}L(w)=||X^Tw- y||_2^2\\&#10;$$&#10;&#10;&#10;\end{document}"/>
  <p:tag name="IGUANATEXSIZE" val="36"/>
  <p:tag name="IGUANATEXCURSOR" val="103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990.75"/>
  <p:tag name="LATEXADDIN" val="\documentclass{article}&#10;\usepackage{amsmath}&#10;\pagestyle{empty}&#10;\begin{document}&#10;&#10;$$2{X}({X}^T{w}- y)=0\\&#10;$$&#10;&#10;&#10;\end{document}"/>
  <p:tag name="IGUANATEXSIZE" val="36"/>
  <p:tag name="IGUANATEXCURSOR" val="102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5"/>
  <p:tag name="ORIGINALWIDTH" val="733.5"/>
  <p:tag name="LATEXADDIN" val="\documentclass{article}&#10;\usepackage{amsmath}&#10;\pagestyle{empty}&#10;\begin{document}&#10;&#10;$${X}{X}^T{w}={X}y\\&#10;$$&#10;&#10;&#10;\end{document}"/>
  <p:tag name="IGUANATEXSIZE" val="36"/>
  <p:tag name="IGUANATEXCURSOR" val="9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.75"/>
  <p:tag name="ORIGINALWIDTH" val="372"/>
  <p:tag name="LATEXADDIN" val="\documentclass{article}&#10;\usepackage{amsmath}&#10;\pagestyle{empty}&#10;\begin{document}&#10;&#10;$&#10;\frac{\partial L}{\partial w}=0&#10;$&#10;&#10;&#10;\end{document}"/>
  <p:tag name="IGUANATEXSIZE" val="36"/>
  <p:tag name="IGUANATEXCURSOR" val="100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669.75"/>
  <p:tag name="LATEXADDIN" val="\documentclass{article}&#10;\usepackage{amsmath}&#10;\pagestyle{empty}&#10;\begin{document}&#10;&#10;$$||{X}^T{w}- y||_2^2\\&#10;$$&#10;&#10;&#10;\end{document}"/>
  <p:tag name="IGUANATEXSIZE" val="36"/>
  <p:tag name="IGUANATEXCURSOR" val="90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1387.5"/>
  <p:tag name="LATEXADDIN" val="\documentclass{article}&#10;\usepackage{amsmath}&#10;\pagestyle{empty}&#10;\begin{document}&#10;&#10;$$=({X}^T{w}- y)^T({X}^T{w}- y)\\&#10;$$&#10;&#10;&#10;\end{document}"/>
  <p:tag name="IGUANATEXSIZE" val="36"/>
  <p:tag name="IGUANATEXCURSOR" val="105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5"/>
  <p:tag name="ORIGINALWIDTH" val="1613.25"/>
  <p:tag name="LATEXADDIN" val="\documentclass{article}&#10;\usepackage{amsmath}&#10;\pagestyle{empty}&#10;\begin{document}&#10;&#10;$$={w}^T{X}{X}^T{w}-2{w}^T{X}y+y^Ty&#10;$$&#10;&#10;&#10;\end{document}"/>
  <p:tag name="IGUANATEXSIZE" val="36"/>
  <p:tag name="IGUANATEXCURSOR" val="107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9"/>
  <p:tag name="ORIGINALWIDTH" val="792"/>
  <p:tag name="LATEXADDIN" val="\documentclass{article}&#10;\usepackage{amsmath}&#10;\pagestyle{empty}&#10;\begin{document}&#10;&#10;$$\begin{array}{l}&#10;\frac{d(a^Tb)}{da}=b\\\\&#10;\frac{d(a^TBa)}{da}=2Ba&#10;\end{array}&#10;$$&#10;&#10;&#10;\end{document}"/>
  <p:tag name="IGUANATEXSIZE" val="36"/>
  <p:tag name="IGUANATEXCURSOR" val="124"/>
  <p:tag name="TRANSPARENCY" val="True"/>
  <p:tag name="FILENAME" val=""/>
  <p:tag name="LATEXENGINEID" val="0"/>
  <p:tag name="TEMPFOLDER" val="D:\work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5"/>
  <p:tag name="ORIGINALWIDTH" val="972.75"/>
  <p:tag name="LATEXADDIN" val="\documentclass{article}&#10;\usepackage{amsmath}&#10;\pagestyle{empty}&#10;\begin{document}&#10;&#10;$$=2{X}{X}^T{w}-2{X}y$$&#10;&#10;&#10;\end{document}"/>
  <p:tag name="IGUANATEXSIZE" val="36"/>
  <p:tag name="IGUANATEXCURSOR" val="98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639"/>
  <p:tag name="LATEXADDIN" val="\documentclass{article}&#10;\usepackage{amsmath}&#10;\pagestyle{empty}&#10;\begin{document}&#10;$$&#10;f(x)=w^T x&#10;$$&#10;\end{document}"/>
  <p:tag name="IGUANATEXSIZE" val="28"/>
  <p:tag name="IGUANATEXCURSOR" val="93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5"/>
  <p:tag name="ORIGINALWIDTH" val="1407.75"/>
  <p:tag name="LATEXADDIN" val="\documentclass{article}&#10;\usepackage{amsmath}&#10;\pagestyle{empty}&#10;\begin{document}&#10;$$&#10;L(w)=\frac{1}{2}\sum\limits_{i=1}^n(w^Tx_i-y_i)^2&#10;$$&#10;\end{document}"/>
  <p:tag name="IGUANATEXSIZE" val="28"/>
  <p:tag name="IGUANATEXCURSOR" val="132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"/>
  <p:tag name="ORIGINALWIDTH" val="639"/>
  <p:tag name="LATEXADDIN" val="\documentclass{article}&#10;\usepackage{amsmath}&#10;\pagestyle{empty}&#10;\begin{document}&#10;$$&#10;f(x)=w^T x&#10;$$&#10;\end{document}"/>
  <p:tag name="IGUANATEXSIZE" val="28"/>
  <p:tag name="IGUANATEXCURSOR" val="93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5"/>
  <p:tag name="ORIGINALWIDTH" val="2775"/>
  <p:tag name="LATEXADDIN" val="\documentclass{article}&#10;\usepackage{amsmath}&#10;\pagestyle{empty}&#10;\begin{document}&#10;$$&#10;L(w)=\frac{1}{2}\sum\limits_{i=1}^n(w^Tx_i-y_i)^2+\lambda(w_1^2+w_2^2+\cdots+w_d^2)&#10;$$&#10;\end{document}"/>
  <p:tag name="IGUANATEXSIZE" val="24"/>
  <p:tag name="IGUANATEXCURSOR" val="82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5"/>
  <p:tag name="ORIGINALWIDTH" val="1905"/>
  <p:tag name="LATEXADDIN" val="\documentclass{article}&#10;\usepackage{amsmath}&#10;\pagestyle{empty}&#10;\begin{document}&#10;$$&#10;L(w)=\frac{1}{2}\sum\limits_{i=1}^n(w^Tx_i-y_i)^2+\lambda\|w\|_2^2&#10;$$&#10;\end{document}"/>
  <p:tag name="IGUANATEXSIZE" val="24"/>
  <p:tag name="IGUANATEXCURSOR" val="149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5"/>
  <p:tag name="ORIGINALWIDTH" val="2925.75"/>
  <p:tag name="LATEXADDIN" val="\documentclass{article}&#10;\usepackage{amsmath}&#10;\pagestyle{empty}&#10;\begin{document}&#10;$$&#10;L(w)=\frac{1}{2}\sum\limits_{i=1}^n(w^Tx_i-y_i)^2+\lambda|w_1|+|w_2|+\cdots+|w_d|)&#10;$$&#10;\end{document}"/>
  <p:tag name="IGUANATEXSIZE" val="24"/>
  <p:tag name="IGUANATEXCURSOR" val="164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25"/>
  <p:tag name="ORIGINALWIDTH" val="1902"/>
  <p:tag name="LATEXADDIN" val="\documentclass{article}&#10;\usepackage{amsmath}&#10;\pagestyle{empty}&#10;\begin{document}&#10;$$&#10;L(w)=\frac{1}{2}\sum\limits_{i=1}^n(w^Tx_i-y_i)^2+\lambda\|w\|_1&#10;$$&#10;\end{document}"/>
  <p:tag name="IGUANATEXSIZE" val="24"/>
  <p:tag name="IGUANATEXCURSOR" val="147"/>
  <p:tag name="TRANSPARENCY" val="True"/>
  <p:tag name="LATEXENGINEID" val="0"/>
  <p:tag name="TEMPFOLDER" val="D:\Tools\fun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"/>
  <p:tag name="ORIGINALWIDTH" val="1074"/>
  <p:tag name="LATEXADDIN" val="\documentclass{article}&#10;\usepackage{amsmath}&#10;\pagestyle{empty}&#10;\begin{document}&#10;&#10;&#10;$\|Xw-y\|_2^2+\lambda \|w\|_2^2$&#10;&#10;&#10;\end{document}"/>
  <p:tag name="IGUANATEXSIZE" val="32"/>
  <p:tag name="IGUANATEXCURSOR" val="114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"/>
  <p:tag name="ORIGINALWIDTH" val="1071"/>
  <p:tag name="LATEXADDIN" val="\documentclass{article}&#10;\usepackage{amsmath}&#10;\pagestyle{empty}&#10;\begin{document}&#10;&#10;&#10;$\|Xw-y\|_2^2+\lambda \|w\|_1$&#10;&#10;&#10;\end{document}"/>
  <p:tag name="IGUANATEXSIZE" val="32"/>
  <p:tag name="IGUANATEXCURSOR" val="111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"/>
  <p:tag name="ORIGINALWIDTH" val="576"/>
  <p:tag name="LATEXADDIN" val="\documentclass{article}&#10;\usepackage{amsmath}&#10;\pagestyle{empty}&#10;\begin{document}&#10;&#10;&#10;$\|Xw-y\|_2^2$&#10;&#10;&#10;\end{document}"/>
  <p:tag name="IGUANATEXSIZE" val="32"/>
  <p:tag name="IGUANATEXCURSOR" val="95"/>
  <p:tag name="TRANSPARENCY" val="True"/>
  <p:tag name="LATEXENGINEID" val="0"/>
  <p:tag name="TEMPFOLDER" val="D:\Toolbox\Office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"/>
  <p:tag name="ORIGINALWIDTH" val="1683"/>
  <p:tag name="LATEXADDIN" val="\documentclass{article}&#10;\usepackage{amsmath}&#10;\pagestyle{empty}&#10;\begin{document}&#10;&#10;&#10;$\|Xw-y\|_2^2+\lambda_1\|w\|_1+\lambda_2\|w\|_2^2$&#10;&#10;&#10;\end{document}"/>
  <p:tag name="IGUANATEXSIZE" val="32"/>
  <p:tag name="IGUANATEXCURSOR" val="131"/>
  <p:tag name="TRANSPARENCY" val="True"/>
  <p:tag name="LATEXENGINEID" val="0"/>
  <p:tag name="TEMPFOLDER" val="d:\tools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10691</TotalTime>
  <Words>1711</Words>
  <Application>Microsoft Office PowerPoint</Application>
  <PresentationFormat>全屏显示(4:3)</PresentationFormat>
  <Paragraphs>325</Paragraphs>
  <Slides>36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方程式</vt:lpstr>
      <vt:lpstr>线性回归 Regression</vt:lpstr>
      <vt:lpstr>教学内容</vt:lpstr>
      <vt:lpstr>线性回归 f : 输出一个标量值</vt:lpstr>
      <vt:lpstr>应用案例</vt:lpstr>
      <vt:lpstr>线性回归</vt:lpstr>
      <vt:lpstr>线性回归</vt:lpstr>
      <vt:lpstr>PowerPoint 演示文稿</vt:lpstr>
      <vt:lpstr>PowerPoint 演示文稿</vt:lpstr>
      <vt:lpstr>线性回归模型</vt:lpstr>
      <vt:lpstr>模型</vt:lpstr>
      <vt:lpstr>模型-线性回归</vt:lpstr>
      <vt:lpstr>策略</vt:lpstr>
      <vt:lpstr>策略</vt:lpstr>
      <vt:lpstr>线性回归</vt:lpstr>
      <vt:lpstr>线性回归</vt:lpstr>
      <vt:lpstr>线性回归-矩阵形式</vt:lpstr>
      <vt:lpstr>线性回归-总结</vt:lpstr>
      <vt:lpstr>梯度下降法</vt:lpstr>
      <vt:lpstr>梯度下降法</vt:lpstr>
      <vt:lpstr>梯度下降法</vt:lpstr>
      <vt:lpstr>梯度下降法</vt:lpstr>
      <vt:lpstr>Step 3: Gradient Descent</vt:lpstr>
      <vt:lpstr>线性回归的梯度下降法</vt:lpstr>
      <vt:lpstr>线性回归的梯度下降法     给定w1,w2,b的初值, t=0</vt:lpstr>
      <vt:lpstr>回归的评价指标</vt:lpstr>
      <vt:lpstr>关于梯度计算补充</vt:lpstr>
      <vt:lpstr>线性回归示例</vt:lpstr>
      <vt:lpstr>线性回归示例</vt:lpstr>
      <vt:lpstr>线性回归示例</vt:lpstr>
      <vt:lpstr>线性回归-高阶内容</vt:lpstr>
      <vt:lpstr>线性回归-闭式解</vt:lpstr>
      <vt:lpstr>PowerPoint 演示文稿</vt:lpstr>
      <vt:lpstr>线性回归-高阶内容</vt:lpstr>
      <vt:lpstr>线性回归-高阶内容</vt:lpstr>
      <vt:lpstr>总结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 and Overfitting</dc:title>
  <dc:creator>Lee Hung-yi</dc:creator>
  <cp:lastModifiedBy>xin shu</cp:lastModifiedBy>
  <cp:revision>266</cp:revision>
  <dcterms:created xsi:type="dcterms:W3CDTF">2016-09-18T07:33:37Z</dcterms:created>
  <dcterms:modified xsi:type="dcterms:W3CDTF">2026-09-06T22:31:11Z</dcterms:modified>
</cp:coreProperties>
</file>