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tags/tag5.xml" ContentType="application/vnd.openxmlformats-officedocument.presentationml.tags+xml"/>
  <Override PartName="/ppt/notesSlides/notesSlide14.xml" ContentType="application/vnd.openxmlformats-officedocument.presentationml.notesSlide+xml"/>
  <Override PartName="/ppt/tags/tag6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7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6.xml" ContentType="application/vnd.openxmlformats-officedocument.presentationml.notesSlide+xml"/>
  <Override PartName="/ppt/tags/tag11.xml" ContentType="application/vnd.openxmlformats-officedocument.presentationml.tags+xml"/>
  <Override PartName="/ppt/notesSlides/notesSlide27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9.xml" ContentType="application/vnd.openxmlformats-officedocument.presentationml.notesSlide+xml"/>
  <Override PartName="/ppt/tags/tag17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18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3"/>
  </p:notesMasterIdLst>
  <p:sldIdLst>
    <p:sldId id="257" r:id="rId2"/>
    <p:sldId id="411" r:id="rId3"/>
    <p:sldId id="329" r:id="rId4"/>
    <p:sldId id="415" r:id="rId5"/>
    <p:sldId id="358" r:id="rId6"/>
    <p:sldId id="402" r:id="rId7"/>
    <p:sldId id="403" r:id="rId8"/>
    <p:sldId id="404" r:id="rId9"/>
    <p:sldId id="360" r:id="rId10"/>
    <p:sldId id="361" r:id="rId11"/>
    <p:sldId id="362" r:id="rId12"/>
    <p:sldId id="406" r:id="rId13"/>
    <p:sldId id="391" r:id="rId14"/>
    <p:sldId id="413" r:id="rId15"/>
    <p:sldId id="412" r:id="rId16"/>
    <p:sldId id="414" r:id="rId17"/>
    <p:sldId id="417" r:id="rId18"/>
    <p:sldId id="393" r:id="rId19"/>
    <p:sldId id="394" r:id="rId20"/>
    <p:sldId id="395" r:id="rId21"/>
    <p:sldId id="396" r:id="rId22"/>
    <p:sldId id="397" r:id="rId23"/>
    <p:sldId id="400" r:id="rId24"/>
    <p:sldId id="401" r:id="rId25"/>
    <p:sldId id="399" r:id="rId26"/>
    <p:sldId id="363" r:id="rId27"/>
    <p:sldId id="368" r:id="rId28"/>
    <p:sldId id="369" r:id="rId29"/>
    <p:sldId id="407" r:id="rId30"/>
    <p:sldId id="370" r:id="rId31"/>
    <p:sldId id="371" r:id="rId32"/>
    <p:sldId id="372" r:id="rId33"/>
    <p:sldId id="373" r:id="rId34"/>
    <p:sldId id="374" r:id="rId35"/>
    <p:sldId id="427" r:id="rId36"/>
    <p:sldId id="375" r:id="rId37"/>
    <p:sldId id="429" r:id="rId38"/>
    <p:sldId id="428" r:id="rId39"/>
    <p:sldId id="376" r:id="rId40"/>
    <p:sldId id="377" r:id="rId41"/>
    <p:sldId id="378" r:id="rId42"/>
    <p:sldId id="430" r:id="rId43"/>
    <p:sldId id="40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409" r:id="rId52"/>
    <p:sldId id="431" r:id="rId53"/>
    <p:sldId id="421" r:id="rId54"/>
    <p:sldId id="420" r:id="rId55"/>
    <p:sldId id="422" r:id="rId56"/>
    <p:sldId id="423" r:id="rId57"/>
    <p:sldId id="424" r:id="rId58"/>
    <p:sldId id="425" r:id="rId59"/>
    <p:sldId id="426" r:id="rId60"/>
    <p:sldId id="419" r:id="rId61"/>
    <p:sldId id="390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9193"/>
  </p:normalViewPr>
  <p:slideViewPr>
    <p:cSldViewPr snapToGrid="0" snapToObjects="1">
      <p:cViewPr varScale="1">
        <p:scale>
          <a:sx n="70" d="100"/>
          <a:sy n="70" d="100"/>
        </p:scale>
        <p:origin x="906" y="3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399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93E60-0B11-D341-BA73-9DD93BA2AC3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56022-F963-B847-8F7F-AF77D61C6D4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F6292-CFE9-1B49-A9F3-08B94B8117A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073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9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50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346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107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795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811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770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8822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3027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0861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92B5D-4C12-4694-9357-C4D47F78D8DC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929FE-6AC2-8840-BAEC-98877422E83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C9D2F-BA23-6143-87AA-ED5B01CBD85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24.png"/><Relationship Id="rId4" Type="http://schemas.openxmlformats.org/officeDocument/2006/relationships/hyperlink" Target="https://www.zhihu.com/question/352299820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10.xml"/><Relationship Id="rId7" Type="http://schemas.openxmlformats.org/officeDocument/2006/relationships/image" Target="../media/image37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6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tags" Target="../tags/tag14.xml"/><Relationship Id="rId7" Type="http://schemas.openxmlformats.org/officeDocument/2006/relationships/image" Target="../media/image41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40.png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0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notesSlide" Target="../notesSlides/notesSlide3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69230" y="133481"/>
            <a:ext cx="8756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zh-CN" sz="3600" b="1" dirty="0"/>
            </a:br>
            <a:r>
              <a:rPr lang="zh-CN" altLang="en-US" sz="3600" b="1" dirty="0"/>
              <a:t>机器学习基础知识</a:t>
            </a:r>
            <a:endParaRPr lang="zh-CN" altLang="en-US" sz="3600" b="1" dirty="0"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181131" y="5523423"/>
            <a:ext cx="318257" cy="318257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7" name="直接连接符 6"/>
          <p:cNvCxnSpPr/>
          <p:nvPr/>
        </p:nvCxnSpPr>
        <p:spPr>
          <a:xfrm>
            <a:off x="6874960" y="5834491"/>
            <a:ext cx="3306170" cy="0"/>
          </a:xfrm>
          <a:prstGeom prst="line">
            <a:avLst/>
          </a:prstGeom>
          <a:ln w="19050">
            <a:solidFill>
              <a:srgbClr val="782C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8328711" y="2218832"/>
            <a:ext cx="2302809" cy="3859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文本框 1"/>
          <p:cNvSpPr txBox="1"/>
          <p:nvPr/>
        </p:nvSpPr>
        <p:spPr>
          <a:xfrm>
            <a:off x="1399032" y="2651760"/>
            <a:ext cx="78638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舒欣</a:t>
            </a:r>
            <a:endParaRPr lang="en-US" altLang="zh-CN" sz="4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4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南京农业大学</a:t>
            </a:r>
            <a:endParaRPr lang="en-US" altLang="zh-CN" sz="4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4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xinshu@njau.edu.cn</a:t>
            </a:r>
          </a:p>
          <a:p>
            <a:endParaRPr lang="zh-CN" altLang="en-US" sz="4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2920" y="493776"/>
            <a:ext cx="112379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理解以下概念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输入、输出空间，实例，特征向量，维数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监督学习、半监督学习，主动学习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模型，假设空间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策略、损失函数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风险函数、期望损失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经验风险、经验损失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经验风险最小化、结构风险最小化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训练误差、测试误差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泛化能力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过拟合、模型选择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正则化、交叉验证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泛化误差，泛化误差上界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生成模型、判别模型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精确率、召回率、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F1</a:t>
            </a:r>
          </a:p>
        </p:txBody>
      </p:sp>
    </p:spTree>
    <p:extLst>
      <p:ext uri="{BB962C8B-B14F-4D97-AF65-F5344CB8AC3E}">
        <p14:creationId xmlns:p14="http://schemas.microsoft.com/office/powerpoint/2010/main" val="941640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28"/>
          <p:cNvSpPr/>
          <p:nvPr/>
        </p:nvSpPr>
        <p:spPr>
          <a:xfrm>
            <a:off x="-1" y="1278399"/>
            <a:ext cx="9071191" cy="5134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0" y="262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机器学习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>
          <a:xfrm>
            <a:off x="112637" y="1431325"/>
            <a:ext cx="11539214" cy="4839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机器学习有下面几种</a:t>
            </a:r>
            <a:r>
              <a:rPr lang="zh-CN" altLang="en-US" dirty="0">
                <a:solidFill>
                  <a:srgbClr val="C00000"/>
                </a:solidFill>
              </a:rPr>
              <a:t>定义</a:t>
            </a:r>
            <a:r>
              <a:rPr lang="zh-CN" altLang="en-US" dirty="0"/>
              <a:t>： </a:t>
            </a:r>
            <a:endParaRPr lang="en-US" altLang="zh-CN" dirty="0"/>
          </a:p>
          <a:p>
            <a:pPr lvl="1"/>
            <a:r>
              <a:rPr lang="zh-CN" altLang="en-US" dirty="0"/>
              <a:t>“机器学习是一门人工智能的科学，该领域的主要研究对象是人工智能，特别是如何在经验学习中改善具体算法的性能”。</a:t>
            </a:r>
            <a:endParaRPr lang="en-US" altLang="zh-CN" dirty="0"/>
          </a:p>
          <a:p>
            <a:pPr lvl="1"/>
            <a:r>
              <a:rPr lang="zh-CN" altLang="en-US" dirty="0"/>
              <a:t>“机器学习是对能通过经验自动改进的计算机算法的研究”。 </a:t>
            </a:r>
            <a:endParaRPr lang="en-US" altLang="zh-CN" dirty="0"/>
          </a:p>
          <a:p>
            <a:pPr lvl="1"/>
            <a:r>
              <a:rPr lang="zh-CN" altLang="en-US" dirty="0"/>
              <a:t>“机器学习是用数据或以往的经验，以此优化计算机程序的性能标准。” 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B0F0"/>
                </a:solidFill>
              </a:rPr>
              <a:t>英文定义</a:t>
            </a:r>
            <a:r>
              <a:rPr lang="zh-CN" altLang="en-US" dirty="0"/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program is said to learn from experience E with respect to some class of tasks T and performance measure P, if its performance at tasks in T, as measured by P, improves with experience E.</a:t>
            </a:r>
          </a:p>
          <a:p>
            <a:pPr marL="457200" lvl="1" indent="0">
              <a:buNone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假设用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衡量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计算机程序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在任务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上的性能，如果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计算机程序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在任务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上的性能随着经验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而提高，则称计算机程序从经验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中学习。</a:t>
            </a:r>
          </a:p>
          <a:p>
            <a:pPr marL="457200" lvl="1" indent="0">
              <a:buNone/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26393" y="733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rgbClr val="0070C0"/>
                </a:solidFill>
              </a:rPr>
              <a:t>形象描述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75" y="1405496"/>
            <a:ext cx="8610796" cy="5205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855657" y="7497456"/>
            <a:ext cx="7620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68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机器学习基本概念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98401" y="2548496"/>
            <a:ext cx="8424936" cy="4839816"/>
          </a:xfrm>
        </p:spPr>
        <p:txBody>
          <a:bodyPr/>
          <a:lstStyle/>
          <a:p>
            <a:r>
              <a:rPr lang="zh-CN" altLang="en-US" dirty="0"/>
              <a:t>机器学习的方法</a:t>
            </a:r>
            <a:endParaRPr lang="en-US" altLang="zh-CN" dirty="0"/>
          </a:p>
          <a:p>
            <a:pPr lvl="1"/>
            <a:r>
              <a:rPr lang="zh-CN" altLang="en-US" dirty="0"/>
              <a:t>分类：</a:t>
            </a:r>
            <a:endParaRPr lang="en-US" altLang="zh-CN" dirty="0"/>
          </a:p>
          <a:p>
            <a:pPr lvl="2"/>
            <a:r>
              <a:rPr lang="en-US" altLang="zh-CN" dirty="0"/>
              <a:t>Supervised learning</a:t>
            </a:r>
          </a:p>
          <a:p>
            <a:pPr lvl="2"/>
            <a:r>
              <a:rPr lang="en-US" altLang="zh-CN" dirty="0"/>
              <a:t>Unsupervised learning</a:t>
            </a:r>
          </a:p>
          <a:p>
            <a:pPr lvl="2"/>
            <a:r>
              <a:rPr lang="en-US" altLang="zh-CN" dirty="0"/>
              <a:t>Semi-supervised learning</a:t>
            </a:r>
          </a:p>
          <a:p>
            <a:pPr lvl="2"/>
            <a:r>
              <a:rPr lang="en-US" altLang="zh-CN" dirty="0"/>
              <a:t>Reinforcement learning</a:t>
            </a:r>
          </a:p>
          <a:p>
            <a:pPr lvl="1"/>
            <a:r>
              <a:rPr lang="zh-CN" altLang="en-US" dirty="0"/>
              <a:t>监督学习：</a:t>
            </a:r>
            <a:endParaRPr lang="en-US" altLang="zh-CN" dirty="0"/>
          </a:p>
          <a:p>
            <a:pPr lvl="2"/>
            <a:r>
              <a:rPr lang="zh-CN" altLang="en-US" dirty="0"/>
              <a:t>训练数据 </a:t>
            </a:r>
            <a:r>
              <a:rPr lang="en-US" altLang="zh-CN" dirty="0"/>
              <a:t>training data</a:t>
            </a:r>
          </a:p>
          <a:p>
            <a:pPr lvl="2"/>
            <a:r>
              <a:rPr lang="zh-CN" altLang="en-US" dirty="0"/>
              <a:t>模型 </a:t>
            </a:r>
            <a:r>
              <a:rPr lang="en-US" altLang="zh-CN" dirty="0"/>
              <a:t>model   -------  </a:t>
            </a:r>
            <a:r>
              <a:rPr lang="zh-CN" altLang="en-US" dirty="0"/>
              <a:t>假设空间 </a:t>
            </a:r>
            <a:r>
              <a:rPr lang="en-US" altLang="zh-CN" dirty="0"/>
              <a:t>hypothesis</a:t>
            </a:r>
          </a:p>
          <a:p>
            <a:pPr lvl="2"/>
            <a:r>
              <a:rPr lang="zh-CN" altLang="en-US" dirty="0"/>
              <a:t>评价准则 </a:t>
            </a:r>
            <a:r>
              <a:rPr lang="en-US" altLang="zh-CN" dirty="0"/>
              <a:t>evaluation  criterion --------</a:t>
            </a:r>
            <a:r>
              <a:rPr lang="zh-CN" altLang="en-US" dirty="0"/>
              <a:t> 策略 </a:t>
            </a:r>
            <a:r>
              <a:rPr lang="en-US" altLang="zh-CN" dirty="0"/>
              <a:t>strategy</a:t>
            </a:r>
          </a:p>
          <a:p>
            <a:pPr lvl="2"/>
            <a:r>
              <a:rPr lang="zh-CN" altLang="en-US" dirty="0"/>
              <a:t>算法 </a:t>
            </a:r>
            <a:r>
              <a:rPr lang="en-US" altLang="zh-CN" dirty="0"/>
              <a:t>algorithm</a:t>
            </a:r>
          </a:p>
          <a:p>
            <a:pPr lvl="2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监督学习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2351314" y="2189452"/>
            <a:ext cx="9854334" cy="3486953"/>
          </a:xfrm>
        </p:spPr>
        <p:txBody>
          <a:bodyPr>
            <a:normAutofit/>
          </a:bodyPr>
          <a:lstStyle/>
          <a:p>
            <a:r>
              <a:rPr lang="zh-CN" altLang="en-US" dirty="0"/>
              <a:t>从标注数据中学习预测模型的机器学习问题。</a:t>
            </a:r>
            <a:endParaRPr lang="en-US" altLang="zh-CN" dirty="0"/>
          </a:p>
          <a:p>
            <a:pPr lvl="1"/>
            <a:r>
              <a:rPr lang="zh-CN" altLang="en-US" dirty="0"/>
              <a:t>标注数据描述了输入输出的对应关系</a:t>
            </a:r>
            <a:endParaRPr lang="en-US" altLang="zh-CN" dirty="0"/>
          </a:p>
          <a:p>
            <a:pPr lvl="1"/>
            <a:r>
              <a:rPr lang="zh-CN" altLang="en-US" dirty="0"/>
              <a:t>本质输入到输出映射的统计规律</a:t>
            </a:r>
            <a:endParaRPr lang="en-US" altLang="zh-CN" dirty="0"/>
          </a:p>
          <a:p>
            <a:r>
              <a:rPr lang="zh-CN" altLang="en-US" dirty="0"/>
              <a:t>监督学习中，将输入和输出所有可能取值的集合分别称为 </a:t>
            </a:r>
            <a:r>
              <a:rPr lang="zh-CN" altLang="en-US" b="1" dirty="0">
                <a:solidFill>
                  <a:srgbClr val="FF0000"/>
                </a:solidFill>
              </a:rPr>
              <a:t>输入空间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dirty="0"/>
              <a:t>Input space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与</a:t>
            </a:r>
            <a:r>
              <a:rPr lang="zh-CN" altLang="en-US" b="1" dirty="0">
                <a:solidFill>
                  <a:srgbClr val="FF0000"/>
                </a:solidFill>
              </a:rPr>
              <a:t>输出空间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dirty="0"/>
              <a:t>output space).</a:t>
            </a:r>
          </a:p>
          <a:p>
            <a:pPr lvl="1"/>
            <a:r>
              <a:rPr lang="zh-CN" altLang="en-US" dirty="0"/>
              <a:t>输入与输出空间可以是有限元素的集合，也可以是整个欧式空间。</a:t>
            </a:r>
            <a:endParaRPr lang="en-US" altLang="zh-CN" dirty="0"/>
          </a:p>
          <a:p>
            <a:pPr lvl="1"/>
            <a:r>
              <a:rPr lang="zh-CN" altLang="en-US" dirty="0"/>
              <a:t>输入、输出空间可以相同，也可以不同</a:t>
            </a:r>
            <a:r>
              <a:rPr lang="en-US" altLang="zh-CN" dirty="0"/>
              <a:t>.</a:t>
            </a:r>
          </a:p>
          <a:p>
            <a:pPr lvl="1"/>
            <a:r>
              <a:rPr lang="zh-CN" altLang="en-US" dirty="0"/>
              <a:t>一般输出空间</a:t>
            </a:r>
            <a:r>
              <a:rPr lang="en-US" altLang="zh-CN" dirty="0"/>
              <a:t>&lt;</a:t>
            </a:r>
            <a:r>
              <a:rPr lang="zh-CN" altLang="en-US" dirty="0"/>
              <a:t>输入空间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434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398401" y="56615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监督学习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017821" y="601969"/>
            <a:ext cx="8424936" cy="206321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监督学习中，将输入和输出所有可能取值的集合分别称为 </a:t>
            </a:r>
            <a:r>
              <a:rPr lang="zh-CN" altLang="en-US" b="1" dirty="0">
                <a:solidFill>
                  <a:srgbClr val="FF0000"/>
                </a:solidFill>
              </a:rPr>
              <a:t>输入空间</a:t>
            </a:r>
            <a:r>
              <a:rPr lang="zh-CN" altLang="en-US" dirty="0"/>
              <a:t>与</a:t>
            </a:r>
            <a:r>
              <a:rPr lang="zh-CN" altLang="en-US" b="1" dirty="0">
                <a:solidFill>
                  <a:srgbClr val="FF0000"/>
                </a:solidFill>
              </a:rPr>
              <a:t>输出空间</a:t>
            </a:r>
            <a:r>
              <a:rPr lang="en-US" altLang="zh-CN" dirty="0"/>
              <a:t>.</a:t>
            </a:r>
          </a:p>
          <a:p>
            <a:pPr lvl="1"/>
            <a:r>
              <a:rPr lang="zh-CN" altLang="en-US" dirty="0"/>
              <a:t>输入与输出空间可以是有限元素的集合，也可以是整个欧式空间。</a:t>
            </a:r>
            <a:endParaRPr lang="en-US" altLang="zh-CN" dirty="0"/>
          </a:p>
          <a:p>
            <a:pPr lvl="1"/>
            <a:r>
              <a:rPr lang="zh-CN" altLang="en-US" dirty="0"/>
              <a:t>输入、输出空间可以相同，也可以不同</a:t>
            </a:r>
            <a:r>
              <a:rPr lang="en-US" altLang="zh-CN" dirty="0"/>
              <a:t>.</a:t>
            </a:r>
          </a:p>
          <a:p>
            <a:pPr lvl="1"/>
            <a:r>
              <a:rPr lang="zh-CN" altLang="en-US" dirty="0"/>
              <a:t>一般输出空间</a:t>
            </a:r>
            <a:r>
              <a:rPr lang="en-US" altLang="zh-CN" dirty="0"/>
              <a:t>&lt;</a:t>
            </a:r>
            <a:r>
              <a:rPr lang="zh-CN" altLang="en-US" dirty="0"/>
              <a:t>输入空间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755" y="3370416"/>
            <a:ext cx="3138117" cy="179955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53839" y="2927592"/>
            <a:ext cx="192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输入空间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109289" y="3010976"/>
            <a:ext cx="192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输出空间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76233" y="3546919"/>
            <a:ext cx="52226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             )</a:t>
            </a:r>
            <a:endParaRPr lang="zh-CN" alt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38951" y="3571726"/>
            <a:ext cx="3317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正常，不正常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396349" y="4222891"/>
            <a:ext cx="3317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372599" y="4674151"/>
            <a:ext cx="3317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-1,1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6176329" y="4029347"/>
            <a:ext cx="843149" cy="760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379034" y="4409475"/>
            <a:ext cx="170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注意</a:t>
            </a:r>
            <a:r>
              <a:rPr lang="en-US" altLang="zh-CN" dirty="0"/>
              <a:t>:</a:t>
            </a:r>
            <a:r>
              <a:rPr lang="zh-CN" altLang="en-US" dirty="0"/>
              <a:t>任选一组</a:t>
            </a:r>
          </a:p>
        </p:txBody>
      </p:sp>
    </p:spTree>
    <p:extLst>
      <p:ext uri="{BB962C8B-B14F-4D97-AF65-F5344CB8AC3E}">
        <p14:creationId xmlns:p14="http://schemas.microsoft.com/office/powerpoint/2010/main" val="234076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监督学习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017820" y="1690688"/>
            <a:ext cx="9174179" cy="4839816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每个具体的输入是一个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Instance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，通常由特征向量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(feature vector)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构成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的通常记为特征向量：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后者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表示第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个输入实例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其特征向量为：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特征向量中的每一维对应一个特征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所有特征总数称为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维数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(dimensionality/dimension)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实例有时也称为样本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一个实例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就是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一个样本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 descr="\documentclass{article}&#10;\usepackage{amsmath}&#10;\pagestyle{empty}&#10;\begin{document}&#10;&#10;&#10;$&#10;x=(x^{(1)},x^{(2)},\cdots,x^{(i)},\cdots,x^{(d)})^T&#10;$&#10;&#10;\end{document}" title="IguanaTex Bitmap Display">
            <a:extLst>
              <a:ext uri="{FF2B5EF4-FFF2-40B4-BE49-F238E27FC236}">
                <a16:creationId xmlns:a16="http://schemas.microsoft.com/office/drawing/2014/main" id="{727245EF-3755-98DC-2C90-A1D67A52D7F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10808" y="2431045"/>
            <a:ext cx="6039916" cy="460858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&#10;$&#10;x_i=(x_i^{(1)},x_i^{(2)},\cdots,x_i^{(d)})^T&#10;$&#10;&#10;\end{document}" title="IguanaTex Bitmap Display">
            <a:extLst>
              <a:ext uri="{FF2B5EF4-FFF2-40B4-BE49-F238E27FC236}">
                <a16:creationId xmlns:a16="http://schemas.microsoft.com/office/drawing/2014/main" id="{D89857F1-8340-E96F-0C3B-43CB44E3040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186959" y="3554555"/>
            <a:ext cx="4589070" cy="53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44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监督学习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993" y="1362405"/>
            <a:ext cx="7245441" cy="2939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8401" y="5011390"/>
            <a:ext cx="10681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个实例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样本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，输出是价格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实例表示为：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=(2104,3)</a:t>
            </a:r>
            <a:r>
              <a:rPr lang="en-US" altLang="zh-CN" sz="2800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=(1600,3)</a:t>
            </a:r>
            <a:r>
              <a:rPr lang="en-US" altLang="zh-CN" sz="2800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=(2400,3)</a:t>
            </a:r>
            <a:r>
              <a:rPr lang="en-US" altLang="zh-CN" sz="2800" baseline="6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样本集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的维数是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74" y="-905535"/>
            <a:ext cx="10515600" cy="1325563"/>
          </a:xfrm>
        </p:spPr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89805" y="1277836"/>
            <a:ext cx="10880869" cy="4839816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联合概率分布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假设输入与输出的随机变量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遵循联合概率分布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P(X,Y)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P(X,Y)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为分布函数或分布密度函数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对于学习系统来说，联合概率分布是未知的，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训练数据和测试数据被看作是依联合概率分布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P(X,Y)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独立同分布产生的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假设空间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监督学习目的是学习一个由输入到输出的映射，称为模型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模型的集合就是假设空间（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space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概率模型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条件概率分布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P(Y|X),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决策函数：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Y=f(X)</a:t>
            </a: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具体输入：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y|x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y=f(x)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15275" y="13483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监督学习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259114" y="2139003"/>
            <a:ext cx="4514768" cy="366491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问题的形式化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620" y="1671181"/>
            <a:ext cx="6496457" cy="378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736" y="5973825"/>
            <a:ext cx="4032448" cy="701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267" y="5508360"/>
            <a:ext cx="1926214" cy="512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标题 1"/>
          <p:cNvSpPr txBox="1"/>
          <p:nvPr/>
        </p:nvSpPr>
        <p:spPr>
          <a:xfrm>
            <a:off x="160897" y="1405496"/>
            <a:ext cx="8229600" cy="491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监督学习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88076" y="2596700"/>
            <a:ext cx="5273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T={(x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),…, 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  <a:endParaRPr lang="en-US" altLang="zh-CN" sz="2800" dirty="0"/>
          </a:p>
        </p:txBody>
      </p:sp>
      <p:sp>
        <p:nvSpPr>
          <p:cNvPr id="18" name="内容占位符 2"/>
          <p:cNvSpPr txBox="1">
            <a:spLocks/>
          </p:cNvSpPr>
          <p:nvPr/>
        </p:nvSpPr>
        <p:spPr>
          <a:xfrm>
            <a:off x="160897" y="3276101"/>
            <a:ext cx="5739909" cy="13068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=1,2,…N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样本或样本点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维的输入的观测值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输入或者实例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是输出的观测值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6201" y="2564869"/>
            <a:ext cx="4620194" cy="6144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60897" y="1405496"/>
            <a:ext cx="8229600" cy="491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监督学习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18805" y="2671948"/>
            <a:ext cx="8027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线性回归</a:t>
            </a:r>
            <a:r>
              <a:rPr lang="en-US" altLang="zh-CN" sz="4800" dirty="0"/>
              <a:t>-</a:t>
            </a:r>
            <a:r>
              <a:rPr lang="zh-CN" altLang="en-US" sz="4800" dirty="0"/>
              <a:t>监督学习的例子</a:t>
            </a:r>
          </a:p>
        </p:txBody>
      </p:sp>
    </p:spTree>
    <p:extLst>
      <p:ext uri="{BB962C8B-B14F-4D97-AF65-F5344CB8AC3E}">
        <p14:creationId xmlns:p14="http://schemas.microsoft.com/office/powerpoint/2010/main" val="765292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r="8957" b="2840"/>
          <a:stretch>
            <a:fillRect/>
          </a:stretch>
        </p:blipFill>
        <p:spPr>
          <a:xfrm>
            <a:off x="4126328" y="2101973"/>
            <a:ext cx="8079320" cy="40277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无</a:t>
            </a:r>
            <a:r>
              <a:rPr lang="zh-CN" altLang="en-US" dirty="0"/>
              <a:t>监督学习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556846" y="2411779"/>
            <a:ext cx="10515600" cy="4351338"/>
          </a:xfrm>
        </p:spPr>
        <p:txBody>
          <a:bodyPr/>
          <a:lstStyle/>
          <a:p>
            <a:r>
              <a:rPr lang="zh-CN" altLang="en-US" dirty="0"/>
              <a:t>训练集：</a:t>
            </a:r>
            <a:endParaRPr lang="en-GB" altLang="zh-CN" dirty="0"/>
          </a:p>
          <a:p>
            <a:endParaRPr lang="en-GB" altLang="ja-JP" dirty="0"/>
          </a:p>
          <a:p>
            <a:endParaRPr lang="en-US" altLang="ja-JP" dirty="0"/>
          </a:p>
          <a:p>
            <a:r>
              <a:rPr lang="ja-JP" altLang="en-US" dirty="0"/>
              <a:t>模型</a:t>
            </a:r>
            <a:endParaRPr lang="en-US" altLang="ja-JP" dirty="0"/>
          </a:p>
          <a:p>
            <a:pPr lvl="1"/>
            <a:r>
              <a:rPr lang="ja-JP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endParaRPr lang="en-GB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ja-JP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条件概率分布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62" y="3011363"/>
            <a:ext cx="3608930" cy="62582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6"/>
          <a:srcRect t="-1" r="6246" b="7265"/>
          <a:stretch>
            <a:fillRect/>
          </a:stretch>
        </p:blipFill>
        <p:spPr>
          <a:xfrm>
            <a:off x="2064076" y="4262215"/>
            <a:ext cx="1469479" cy="62582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7"/>
          <a:srcRect l="6246" t="-4352" b="-1"/>
          <a:stretch>
            <a:fillRect/>
          </a:stretch>
        </p:blipFill>
        <p:spPr>
          <a:xfrm>
            <a:off x="2276492" y="5134436"/>
            <a:ext cx="838792" cy="336718"/>
          </a:xfrm>
          <a:prstGeom prst="rect">
            <a:avLst/>
          </a:prstGeom>
        </p:spPr>
      </p:pic>
      <p:pic>
        <p:nvPicPr>
          <p:cNvPr id="3" name="图片 2" descr="\documentclass{article}&#10;\usepackage{amsmath}&#10;\pagestyle{empty}&#10;\begin{document}&#10;$P(x|z)$&#10;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212" y="5511626"/>
            <a:ext cx="704088" cy="2529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r="8957" b="2840"/>
          <a:stretch>
            <a:fillRect/>
          </a:stretch>
        </p:blipFill>
        <p:spPr>
          <a:xfrm>
            <a:off x="3921908" y="2101973"/>
            <a:ext cx="8079320" cy="40277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无</a:t>
            </a:r>
            <a:r>
              <a:rPr lang="zh-CN" altLang="en-US" dirty="0"/>
              <a:t>监督学习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556846" y="2411779"/>
            <a:ext cx="10515600" cy="4351338"/>
          </a:xfrm>
        </p:spPr>
        <p:txBody>
          <a:bodyPr/>
          <a:lstStyle/>
          <a:p>
            <a:r>
              <a:rPr lang="zh-CN" altLang="en-US" dirty="0"/>
              <a:t>训练集：</a:t>
            </a:r>
            <a:endParaRPr lang="en-GB" altLang="zh-CN" dirty="0"/>
          </a:p>
          <a:p>
            <a:endParaRPr lang="en-GB" altLang="ja-JP" dirty="0"/>
          </a:p>
          <a:p>
            <a:endParaRPr lang="en-US" altLang="ja-JP" dirty="0"/>
          </a:p>
          <a:p>
            <a:r>
              <a:rPr lang="ja-JP" altLang="en-US" dirty="0"/>
              <a:t>模型</a:t>
            </a:r>
            <a:endParaRPr lang="en-US" altLang="ja-JP" dirty="0"/>
          </a:p>
          <a:p>
            <a:pPr lvl="1"/>
            <a:r>
              <a:rPr lang="ja-JP" altLang="en-US" dirty="0"/>
              <a:t>函数</a:t>
            </a:r>
            <a:r>
              <a:rPr lang="zh-CN" altLang="en-US" dirty="0"/>
              <a:t>： </a:t>
            </a:r>
            <a:endParaRPr lang="en-GB" altLang="zh-CN" dirty="0"/>
          </a:p>
          <a:p>
            <a:pPr lvl="1"/>
            <a:r>
              <a:rPr lang="ja-JP" altLang="en-US" dirty="0"/>
              <a:t>条件概率分布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62" y="3011363"/>
            <a:ext cx="3608930" cy="62582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6"/>
          <a:srcRect t="-1" r="6246" b="7265"/>
          <a:stretch>
            <a:fillRect/>
          </a:stretch>
        </p:blipFill>
        <p:spPr>
          <a:xfrm>
            <a:off x="2172165" y="4213629"/>
            <a:ext cx="1469479" cy="62582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7"/>
          <a:srcRect l="6246" t="-4352" b="-1"/>
          <a:stretch>
            <a:fillRect/>
          </a:stretch>
        </p:blipFill>
        <p:spPr>
          <a:xfrm>
            <a:off x="2045007" y="5175346"/>
            <a:ext cx="823924" cy="33074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257032" y="2548496"/>
            <a:ext cx="950976" cy="3044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645460" y="1794474"/>
            <a:ext cx="690880" cy="335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转换</a:t>
            </a:r>
          </a:p>
        </p:txBody>
      </p:sp>
      <p:cxnSp>
        <p:nvCxnSpPr>
          <p:cNvPr id="6" name="直接箭头连接符 5"/>
          <p:cNvCxnSpPr>
            <a:endCxn id="4" idx="1"/>
          </p:cNvCxnSpPr>
          <p:nvPr/>
        </p:nvCxnSpPr>
        <p:spPr>
          <a:xfrm flipV="1">
            <a:off x="9071191" y="1962114"/>
            <a:ext cx="574269" cy="5863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\documentclass{article}&#10;\usepackage{amsmath}&#10;\pagestyle{empty}&#10;\begin{document}&#10;&#10;$P(x|z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867" y="5552536"/>
            <a:ext cx="704088" cy="25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985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r="8957" b="2840"/>
          <a:stretch>
            <a:fillRect/>
          </a:stretch>
        </p:blipFill>
        <p:spPr>
          <a:xfrm>
            <a:off x="3921908" y="2101973"/>
            <a:ext cx="8079320" cy="40277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无</a:t>
            </a:r>
            <a:r>
              <a:rPr lang="zh-CN" altLang="en-US" dirty="0"/>
              <a:t>监督学习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556846" y="2411779"/>
            <a:ext cx="10515600" cy="4351338"/>
          </a:xfrm>
        </p:spPr>
        <p:txBody>
          <a:bodyPr/>
          <a:lstStyle/>
          <a:p>
            <a:r>
              <a:rPr lang="zh-CN" altLang="en-US" dirty="0"/>
              <a:t>训练集：</a:t>
            </a:r>
            <a:endParaRPr lang="en-GB" altLang="zh-CN" dirty="0"/>
          </a:p>
          <a:p>
            <a:endParaRPr lang="en-GB" altLang="ja-JP" dirty="0"/>
          </a:p>
          <a:p>
            <a:endParaRPr lang="en-US" altLang="ja-JP" dirty="0"/>
          </a:p>
          <a:p>
            <a:r>
              <a:rPr lang="ja-JP" altLang="en-US" dirty="0"/>
              <a:t>模型</a:t>
            </a:r>
            <a:endParaRPr lang="en-US" altLang="ja-JP" dirty="0"/>
          </a:p>
          <a:p>
            <a:pPr lvl="1"/>
            <a:r>
              <a:rPr lang="ja-JP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ja-JP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条件概率分布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62" y="3011363"/>
            <a:ext cx="3608930" cy="62582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6"/>
          <a:srcRect t="-1" r="6246" b="7265"/>
          <a:stretch>
            <a:fillRect/>
          </a:stretch>
        </p:blipFill>
        <p:spPr>
          <a:xfrm>
            <a:off x="2046435" y="4297532"/>
            <a:ext cx="1153965" cy="49145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7"/>
          <a:srcRect l="6246" t="-4352" b="-1"/>
          <a:stretch>
            <a:fillRect/>
          </a:stretch>
        </p:blipFill>
        <p:spPr>
          <a:xfrm>
            <a:off x="2046435" y="5145375"/>
            <a:ext cx="775077" cy="31114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257032" y="2548496"/>
            <a:ext cx="950976" cy="3044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645460" y="1794474"/>
            <a:ext cx="690880" cy="335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转换</a:t>
            </a:r>
          </a:p>
        </p:txBody>
      </p:sp>
      <p:cxnSp>
        <p:nvCxnSpPr>
          <p:cNvPr id="6" name="直接箭头连接符 5"/>
          <p:cNvCxnSpPr>
            <a:endCxn id="4" idx="1"/>
          </p:cNvCxnSpPr>
          <p:nvPr/>
        </p:nvCxnSpPr>
        <p:spPr>
          <a:xfrm flipV="1">
            <a:off x="9071191" y="1962114"/>
            <a:ext cx="574269" cy="5863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8307832" y="2934576"/>
            <a:ext cx="775208" cy="3044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7566152" y="2407521"/>
            <a:ext cx="735140" cy="6416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7272049" y="2072241"/>
            <a:ext cx="690880" cy="335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类别</a:t>
            </a:r>
          </a:p>
        </p:txBody>
      </p:sp>
      <p:pic>
        <p:nvPicPr>
          <p:cNvPr id="24" name="图片 23" descr="\documentclass{article}&#10;\usepackage{amsmath}&#10;\pagestyle{empty}&#10;\begin{document}&#10;&#10;$P(x|z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867" y="5552536"/>
            <a:ext cx="704088" cy="25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45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/>
          <a:srcRect r="8957" b="2840"/>
          <a:stretch>
            <a:fillRect/>
          </a:stretch>
        </p:blipFill>
        <p:spPr>
          <a:xfrm>
            <a:off x="3921908" y="2101973"/>
            <a:ext cx="8079320" cy="40277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无</a:t>
            </a:r>
            <a:r>
              <a:rPr lang="zh-CN" altLang="en-US" dirty="0"/>
              <a:t>监督学习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556846" y="2411779"/>
            <a:ext cx="10515600" cy="4351338"/>
          </a:xfrm>
        </p:spPr>
        <p:txBody>
          <a:bodyPr/>
          <a:lstStyle/>
          <a:p>
            <a:r>
              <a:rPr lang="zh-CN" altLang="en-US" dirty="0"/>
              <a:t>训练集：</a:t>
            </a:r>
            <a:endParaRPr lang="en-GB" altLang="zh-CN" dirty="0"/>
          </a:p>
          <a:p>
            <a:endParaRPr lang="en-GB" altLang="ja-JP" dirty="0"/>
          </a:p>
          <a:p>
            <a:endParaRPr lang="en-US" altLang="ja-JP" dirty="0"/>
          </a:p>
          <a:p>
            <a:r>
              <a:rPr lang="ja-JP" altLang="en-US" dirty="0"/>
              <a:t>模型</a:t>
            </a:r>
            <a:endParaRPr lang="en-US" altLang="ja-JP" dirty="0"/>
          </a:p>
          <a:p>
            <a:pPr lvl="1"/>
            <a:r>
              <a:rPr lang="ja-JP" altLang="en-US" dirty="0"/>
              <a:t>函数</a:t>
            </a:r>
            <a:r>
              <a:rPr lang="zh-CN" altLang="en-US" dirty="0"/>
              <a:t>： </a:t>
            </a:r>
            <a:endParaRPr lang="en-GB" altLang="zh-CN" dirty="0"/>
          </a:p>
          <a:p>
            <a:pPr lvl="1"/>
            <a:r>
              <a:rPr lang="ja-JP" altLang="en-US" dirty="0"/>
              <a:t>条件概率分布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62" y="3011363"/>
            <a:ext cx="3608930" cy="62582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6"/>
          <a:srcRect t="-1" r="6246" b="7265"/>
          <a:stretch>
            <a:fillRect/>
          </a:stretch>
        </p:blipFill>
        <p:spPr>
          <a:xfrm>
            <a:off x="2189807" y="4310163"/>
            <a:ext cx="1216334" cy="51801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7"/>
          <a:srcRect l="6246" t="-4352" b="-1"/>
          <a:stretch>
            <a:fillRect/>
          </a:stretch>
        </p:blipFill>
        <p:spPr>
          <a:xfrm>
            <a:off x="2217886" y="5146697"/>
            <a:ext cx="775240" cy="31120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257032" y="2548496"/>
            <a:ext cx="950976" cy="3044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645460" y="1794474"/>
            <a:ext cx="690880" cy="335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转换</a:t>
            </a:r>
          </a:p>
        </p:txBody>
      </p:sp>
      <p:cxnSp>
        <p:nvCxnSpPr>
          <p:cNvPr id="6" name="直接箭头连接符 5"/>
          <p:cNvCxnSpPr>
            <a:endCxn id="4" idx="1"/>
          </p:cNvCxnSpPr>
          <p:nvPr/>
        </p:nvCxnSpPr>
        <p:spPr>
          <a:xfrm flipV="1">
            <a:off x="9071191" y="1962114"/>
            <a:ext cx="574269" cy="5863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8307832" y="2934576"/>
            <a:ext cx="775208" cy="3044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7566152" y="2407521"/>
            <a:ext cx="735140" cy="6416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7272049" y="2072241"/>
            <a:ext cx="690880" cy="335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类别</a:t>
            </a:r>
          </a:p>
        </p:txBody>
      </p:sp>
      <p:sp>
        <p:nvSpPr>
          <p:cNvPr id="24" name="矩形 23"/>
          <p:cNvSpPr/>
          <p:nvPr/>
        </p:nvSpPr>
        <p:spPr>
          <a:xfrm>
            <a:off x="8297672" y="3340976"/>
            <a:ext cx="775208" cy="3044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9081351" y="2494249"/>
            <a:ext cx="1254989" cy="9991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0305860" y="2170394"/>
            <a:ext cx="690880" cy="335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概率</a:t>
            </a:r>
          </a:p>
        </p:txBody>
      </p:sp>
      <p:pic>
        <p:nvPicPr>
          <p:cNvPr id="27" name="图片 26" descr="\documentclass{article}&#10;\usepackage{amsmath}&#10;\pagestyle{empty}&#10;\begin{document}&#10;&#10;$P(x|z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398" y="5547188"/>
            <a:ext cx="704088" cy="25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51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012390" cy="912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无</a:t>
            </a:r>
            <a:r>
              <a:rPr lang="zh-CN" altLang="en-US" dirty="0"/>
              <a:t>监督学习</a:t>
            </a:r>
            <a:r>
              <a:rPr lang="en-US" altLang="zh-CN" dirty="0"/>
              <a:t>-</a:t>
            </a:r>
            <a:r>
              <a:rPr lang="zh-CN" altLang="en-US" dirty="0"/>
              <a:t>示例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556846" y="2411779"/>
            <a:ext cx="1603424" cy="514301"/>
          </a:xfrm>
        </p:spPr>
        <p:txBody>
          <a:bodyPr/>
          <a:lstStyle/>
          <a:p>
            <a:r>
              <a:rPr lang="zh-CN" altLang="en-US" dirty="0"/>
              <a:t>聚类</a:t>
            </a:r>
            <a:endParaRPr lang="en-GB" altLang="ja-JP" dirty="0"/>
          </a:p>
          <a:p>
            <a:endParaRPr lang="en-US" altLang="ja-JP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29" y="3233103"/>
            <a:ext cx="4109565" cy="24679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871" y="3233103"/>
            <a:ext cx="6289310" cy="3121977"/>
          </a:xfrm>
          <a:prstGeom prst="rect">
            <a:avLst/>
          </a:prstGeom>
        </p:spPr>
      </p:pic>
      <p:sp>
        <p:nvSpPr>
          <p:cNvPr id="28" name="Content Placeholder 15"/>
          <p:cNvSpPr txBox="1">
            <a:spLocks/>
          </p:cNvSpPr>
          <p:nvPr/>
        </p:nvSpPr>
        <p:spPr>
          <a:xfrm>
            <a:off x="5841316" y="2415589"/>
            <a:ext cx="2822624" cy="510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低维嵌入</a:t>
            </a:r>
            <a:r>
              <a:rPr lang="en-US" altLang="zh-CN" dirty="0"/>
              <a:t>(</a:t>
            </a:r>
            <a:r>
              <a:rPr lang="zh-CN" altLang="en-US" dirty="0"/>
              <a:t>降维</a:t>
            </a:r>
            <a:r>
              <a:rPr lang="en-US" altLang="zh-CN" dirty="0"/>
              <a:t>)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5508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强化</a:t>
            </a:r>
            <a:r>
              <a:rPr lang="zh-CN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学习（</a:t>
            </a:r>
            <a:r>
              <a:rPr lang="zh-CN" altLang="en-US" b="1" dirty="0">
                <a:solidFill>
                  <a:srgbClr val="FF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不作为教学</a:t>
            </a:r>
            <a:r>
              <a:rPr lang="zh-CN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）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01" y="2404505"/>
            <a:ext cx="9385300" cy="381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242" y="2884722"/>
            <a:ext cx="4375539" cy="25835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>
                <a:latin typeface="DengXian Light" panose="02010600030101010101" pitchFamily="2" charset="-122"/>
                <a:ea typeface="DengXian Light" panose="02010600030101010101" pitchFamily="2" charset="-122"/>
              </a:rPr>
              <a:t>强化</a:t>
            </a:r>
            <a:r>
              <a:rPr lang="zh-CN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学习</a:t>
            </a:r>
          </a:p>
        </p:txBody>
      </p:sp>
      <p:sp>
        <p:nvSpPr>
          <p:cNvPr id="14" name="Content Placeholder 15"/>
          <p:cNvSpPr>
            <a:spLocks noGrp="1"/>
          </p:cNvSpPr>
          <p:nvPr>
            <p:ph idx="1"/>
          </p:nvPr>
        </p:nvSpPr>
        <p:spPr>
          <a:xfrm>
            <a:off x="556846" y="2411779"/>
            <a:ext cx="10515600" cy="4351338"/>
          </a:xfrm>
        </p:spPr>
        <p:txBody>
          <a:bodyPr>
            <a:normAutofit/>
          </a:bodyPr>
          <a:lstStyle/>
          <a:p>
            <a:r>
              <a:rPr lang="ja-JP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状态转移概率函数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endParaRPr lang="en-GB" altLang="zh-CN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GB" altLang="ja-JP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ja-JP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奖励函数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endParaRPr lang="en-GB" altLang="zh-CN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GB" altLang="zh-CN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ja-JP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策略</a:t>
            </a:r>
            <a:r>
              <a:rPr lang="en-US" altLang="ja-JP" sz="2400" dirty="0">
                <a:latin typeface="DengXian" panose="02010600030101010101" pitchFamily="2" charset="-122"/>
                <a:ea typeface="DengXian" panose="02010600030101010101" pitchFamily="2" charset="-122"/>
              </a:rPr>
              <a:t>π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r>
              <a:rPr lang="ja-JP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给定状态下动作的函数</a:t>
            </a:r>
            <a:r>
              <a:rPr lang="en-GB" altLang="ja-JP" sz="2400" dirty="0">
                <a:latin typeface="DengXian" panose="02010600030101010101" pitchFamily="2" charset="-122"/>
                <a:ea typeface="DengXian" panose="02010600030101010101" pitchFamily="2" charset="-122"/>
              </a:rPr>
              <a:t>		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       </a:t>
            </a:r>
            <a:r>
              <a:rPr lang="ja-JP" altLang="en-GB" sz="2400">
                <a:latin typeface="DengXian" panose="02010600030101010101" pitchFamily="2" charset="-122"/>
                <a:ea typeface="DengXian" panose="02010600030101010101" pitchFamily="2" charset="-122"/>
              </a:rPr>
              <a:t>或者</a:t>
            </a:r>
            <a:r>
              <a:rPr lang="ja-JP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条件概率分布</a:t>
            </a:r>
            <a:endParaRPr lang="en-GB" altLang="zh-CN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GB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ja-JP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状态价值函数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endParaRPr lang="en-GB" altLang="zh-CN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GB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ja-JP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动作价值函数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endParaRPr lang="en-US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64924" t="11962" r="2847" b="-2313"/>
          <a:stretch>
            <a:fillRect/>
          </a:stretch>
        </p:blipFill>
        <p:spPr>
          <a:xfrm>
            <a:off x="4146330" y="2364014"/>
            <a:ext cx="1623849" cy="6156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838" y="3222991"/>
            <a:ext cx="1230791" cy="62582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l="89799" r="960" b="2696"/>
          <a:stretch>
            <a:fillRect/>
          </a:stretch>
        </p:blipFill>
        <p:spPr>
          <a:xfrm>
            <a:off x="9220062" y="4199710"/>
            <a:ext cx="852406" cy="41956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5288" y="5057517"/>
            <a:ext cx="5956300" cy="61052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5288" y="6061688"/>
            <a:ext cx="7489878" cy="43118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8"/>
          <a:srcRect r="5013" b="7812"/>
          <a:stretch>
            <a:fillRect/>
          </a:stretch>
        </p:blipFill>
        <p:spPr>
          <a:xfrm>
            <a:off x="5103762" y="4188083"/>
            <a:ext cx="1332834" cy="4311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>
                <a:latin typeface="DengXian Light" panose="02010600030101010101" pitchFamily="2" charset="-122"/>
                <a:ea typeface="DengXian Light" panose="02010600030101010101" pitchFamily="2" charset="-122"/>
              </a:rPr>
              <a:t>强化</a:t>
            </a:r>
            <a:r>
              <a:rPr lang="zh-CN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学习</a:t>
            </a:r>
            <a:r>
              <a:rPr lang="ja-JP" altLang="en-US">
                <a:latin typeface="DengXian Light" panose="02010600030101010101" pitchFamily="2" charset="-122"/>
                <a:ea typeface="DengXian Light" panose="02010600030101010101" pitchFamily="2" charset="-122"/>
              </a:rPr>
              <a:t>方法</a:t>
            </a:r>
            <a:endParaRPr lang="zh-CN" altLang="en-US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14" name="Content Placeholder 15"/>
          <p:cNvSpPr>
            <a:spLocks noGrp="1"/>
          </p:cNvSpPr>
          <p:nvPr>
            <p:ph idx="1"/>
          </p:nvPr>
        </p:nvSpPr>
        <p:spPr>
          <a:xfrm>
            <a:off x="556846" y="2411779"/>
            <a:ext cx="10515600" cy="4351338"/>
          </a:xfrm>
        </p:spPr>
        <p:txBody>
          <a:bodyPr>
            <a:normAutofit/>
          </a:bodyPr>
          <a:lstStyle/>
          <a:p>
            <a:r>
              <a:rPr lang="ja-JP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无模型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sz="2400" dirty="0">
                <a:latin typeface="DengXian" panose="02010600030101010101" pitchFamily="2" charset="-122"/>
                <a:ea typeface="DengXian" panose="02010600030101010101" pitchFamily="2" charset="-122"/>
              </a:rPr>
              <a:t>model-free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）</a:t>
            </a:r>
            <a:endParaRPr lang="en-GB" altLang="zh-CN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endParaRPr lang="en-GB" altLang="zh-CN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基于策略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policy-based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）：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求解最优策略</a:t>
            </a:r>
            <a:r>
              <a:rPr lang="en-US" altLang="ja-JP" dirty="0">
                <a:latin typeface="DengXian" panose="02010600030101010101" pitchFamily="2" charset="-122"/>
                <a:ea typeface="DengXian" panose="02010600030101010101" pitchFamily="2" charset="-122"/>
              </a:rPr>
              <a:t>π</a:t>
            </a:r>
            <a:r>
              <a:rPr lang="zh-CN" altLang="en-US" baseline="30000" dirty="0"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endParaRPr lang="en-GB" altLang="ja-JP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基于价值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value-based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）：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求解最优价值函数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GB" altLang="ja-JP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ja-JP" altLang="en-US" sz="2400">
                <a:latin typeface="DengXian" panose="02010600030101010101" pitchFamily="2" charset="-122"/>
                <a:ea typeface="DengXian" panose="02010600030101010101" pitchFamily="2" charset="-122"/>
              </a:rPr>
              <a:t>有模型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sz="2400" dirty="0">
                <a:latin typeface="DengXian" panose="02010600030101010101" pitchFamily="2" charset="-122"/>
                <a:ea typeface="DengXian" panose="02010600030101010101" pitchFamily="2" charset="-122"/>
              </a:rPr>
              <a:t>model-based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）</a:t>
            </a:r>
            <a:endParaRPr lang="en-GB" altLang="zh-CN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endParaRPr lang="en-GB" altLang="zh-CN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通过学习马尔可夫决策过程的模型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包括转移概率函数和奖励函数</a:t>
            </a:r>
            <a:endParaRPr lang="en-GB" altLang="ja-JP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通过模型对环境的反馈进行预测</a:t>
            </a:r>
            <a:endParaRPr lang="en-GB" altLang="ja-JP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求解价值函数最大的策略</a:t>
            </a:r>
            <a:r>
              <a:rPr lang="en-US" altLang="ja-JP" dirty="0">
                <a:latin typeface="DengXian" panose="02010600030101010101" pitchFamily="2" charset="-122"/>
                <a:ea typeface="DengXian" panose="02010600030101010101" pitchFamily="2" charset="-122"/>
              </a:rPr>
              <a:t>π</a:t>
            </a:r>
            <a:r>
              <a:rPr lang="zh-CN" altLang="en-US" baseline="30000" dirty="0"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0" y="1405496"/>
            <a:ext cx="9637139" cy="956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半监督</a:t>
            </a:r>
            <a:r>
              <a:rPr lang="zh-CN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学习</a:t>
            </a:r>
            <a:r>
              <a:rPr lang="en-US" altLang="zh-CN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(semi-supervised learning)</a:t>
            </a:r>
            <a:endParaRPr lang="zh-CN" altLang="en-US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14" name="Content Placeholder 15"/>
          <p:cNvSpPr>
            <a:spLocks noGrp="1"/>
          </p:cNvSpPr>
          <p:nvPr>
            <p:ph idx="1"/>
          </p:nvPr>
        </p:nvSpPr>
        <p:spPr>
          <a:xfrm>
            <a:off x="556846" y="2411779"/>
            <a:ext cx="10515600" cy="1697116"/>
          </a:xfrm>
        </p:spPr>
        <p:txBody>
          <a:bodyPr>
            <a:normAutofit/>
          </a:bodyPr>
          <a:lstStyle/>
          <a:p>
            <a:r>
              <a:rPr lang="ja-JP" altLang="en-GB">
                <a:latin typeface="DengXian" panose="02010600030101010101" pitchFamily="2" charset="-122"/>
                <a:ea typeface="DengXian" panose="02010600030101010101" pitchFamily="2" charset="-122"/>
              </a:rPr>
              <a:t>少量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标注数据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大量未标注数据</a:t>
            </a:r>
            <a:endParaRPr lang="en-GB" altLang="ja-JP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利用未标注数据的信息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辅助标注数据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进行监督学习</a:t>
            </a:r>
            <a:endParaRPr lang="en-GB" altLang="ja-JP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较低成本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398401" y="397217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主动</a:t>
            </a:r>
            <a:r>
              <a:rPr lang="zh-CN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学习</a:t>
            </a:r>
            <a:r>
              <a:rPr lang="en-US" altLang="zh-CN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(active learning)</a:t>
            </a:r>
            <a:endParaRPr lang="zh-CN" altLang="en-US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12" name="Content Placeholder 15"/>
          <p:cNvSpPr txBox="1"/>
          <p:nvPr/>
        </p:nvSpPr>
        <p:spPr>
          <a:xfrm>
            <a:off x="838200" y="545474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Content Placeholder 15"/>
          <p:cNvSpPr txBox="1"/>
          <p:nvPr/>
        </p:nvSpPr>
        <p:spPr>
          <a:xfrm>
            <a:off x="556846" y="4953771"/>
            <a:ext cx="10515600" cy="9555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GB" dirty="0">
                <a:latin typeface="DengXian" panose="02010600030101010101" pitchFamily="2" charset="-122"/>
                <a:ea typeface="DengXian" panose="02010600030101010101" pitchFamily="2" charset="-122"/>
              </a:rPr>
              <a:t>机器</a:t>
            </a:r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主动给出实例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教师进行标注</a:t>
            </a:r>
            <a:endParaRPr lang="en-GB" altLang="ja-JP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利用标注数据学习预测模型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7011" y="6367355"/>
            <a:ext cx="664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4"/>
              </a:rPr>
              <a:t>1. https://www.zhihu.com/question/352299820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5" name="图片 4" descr="\documentclass{article}&#10;\usepackage{amsmath}&#10;\pagestyle{empty}&#10;\begin{document}&#10;&#10;1&#10;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911" y="4151631"/>
            <a:ext cx="146049" cy="2894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机器</a:t>
            </a:r>
            <a:r>
              <a:rPr lang="ja-JP" altLang="en-GB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学习</a:t>
            </a:r>
            <a:endParaRPr lang="zh-CN" altLang="en-US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14" name="Content Placeholder 15"/>
          <p:cNvSpPr>
            <a:spLocks noGrp="1"/>
          </p:cNvSpPr>
          <p:nvPr>
            <p:ph idx="1"/>
          </p:nvPr>
        </p:nvSpPr>
        <p:spPr>
          <a:xfrm>
            <a:off x="398401" y="2240275"/>
            <a:ext cx="6541184" cy="3086912"/>
          </a:xfrm>
        </p:spPr>
        <p:txBody>
          <a:bodyPr>
            <a:normAutofit lnSpcReduction="10000"/>
          </a:bodyPr>
          <a:lstStyle/>
          <a:p>
            <a:endParaRPr lang="en-GB" altLang="ja-JP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ja-JP" altLang="en-GB" dirty="0">
                <a:latin typeface="DengXian" panose="02010600030101010101" pitchFamily="2" charset="-122"/>
                <a:ea typeface="DengXian" panose="02010600030101010101" pitchFamily="2" charset="-122"/>
              </a:rPr>
              <a:t>按</a:t>
            </a:r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算法分类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在线学习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online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learning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）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2"/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每次接受一个样本，进行预测，之后学习模型。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457200" lvl="1" indent="0">
              <a:buNone/>
            </a:pP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ja-JP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批量学习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batch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learning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）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2"/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一次接受所有数据，学习模型，然后预测。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" name="Content Placeholder 15"/>
          <p:cNvSpPr txBox="1"/>
          <p:nvPr/>
        </p:nvSpPr>
        <p:spPr>
          <a:xfrm>
            <a:off x="838200" y="545474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585" y="2329716"/>
            <a:ext cx="4851131" cy="16281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76090" y="6093191"/>
            <a:ext cx="522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在线学习通常比批量学习更难，预测准确率较低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749540" y="5697952"/>
            <a:ext cx="4041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Incremental learning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机器</a:t>
            </a:r>
            <a:r>
              <a:rPr lang="ja-JP" altLang="en-GB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学习</a:t>
            </a:r>
            <a:endParaRPr lang="zh-CN" altLang="en-US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14" name="Content Placeholder 15"/>
          <p:cNvSpPr>
            <a:spLocks noGrp="1"/>
          </p:cNvSpPr>
          <p:nvPr>
            <p:ph idx="1"/>
          </p:nvPr>
        </p:nvSpPr>
        <p:spPr>
          <a:xfrm>
            <a:off x="556846" y="2411779"/>
            <a:ext cx="10515600" cy="3749870"/>
          </a:xfrm>
        </p:spPr>
        <p:txBody>
          <a:bodyPr>
            <a:normAutofit/>
          </a:bodyPr>
          <a:lstStyle/>
          <a:p>
            <a:r>
              <a:rPr lang="ja-JP" altLang="en-GB">
                <a:latin typeface="DengXian" panose="02010600030101010101" pitchFamily="2" charset="-122"/>
                <a:ea typeface="DengXian" panose="02010600030101010101" pitchFamily="2" charset="-122"/>
              </a:rPr>
              <a:t>按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技巧分类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贝叶斯学习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Bayesian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learning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）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457200" lvl="1" indent="0">
              <a:buNone/>
            </a:pP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457200" lvl="1" indent="0">
              <a:buNone/>
            </a:pP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" name="Content Placeholder 15"/>
          <p:cNvSpPr txBox="1"/>
          <p:nvPr/>
        </p:nvSpPr>
        <p:spPr>
          <a:xfrm>
            <a:off x="838200" y="545474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174" y="3405749"/>
            <a:ext cx="9385300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5024" y="450740"/>
            <a:ext cx="10515600" cy="1325563"/>
          </a:xfrm>
        </p:spPr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机器</a:t>
            </a:r>
            <a:r>
              <a:rPr lang="ja-JP" altLang="en-GB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学习</a:t>
            </a:r>
            <a:endParaRPr lang="zh-CN" altLang="en-US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14" name="Content Placeholder 15"/>
          <p:cNvSpPr>
            <a:spLocks noGrp="1"/>
          </p:cNvSpPr>
          <p:nvPr>
            <p:ph idx="1"/>
          </p:nvPr>
        </p:nvSpPr>
        <p:spPr>
          <a:xfrm>
            <a:off x="556846" y="2411778"/>
            <a:ext cx="6392594" cy="798781"/>
          </a:xfrm>
        </p:spPr>
        <p:txBody>
          <a:bodyPr>
            <a:noAutofit/>
          </a:bodyPr>
          <a:lstStyle/>
          <a:p>
            <a:r>
              <a:rPr lang="ja-JP" altLang="en-GB" sz="2400" dirty="0">
                <a:latin typeface="DengXian" panose="02010600030101010101" pitchFamily="2" charset="-122"/>
                <a:ea typeface="DengXian" panose="02010600030101010101" pitchFamily="2" charset="-122"/>
              </a:rPr>
              <a:t>按</a:t>
            </a:r>
            <a:r>
              <a:rPr lang="ja-JP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技巧分类</a:t>
            </a:r>
            <a:r>
              <a:rPr lang="zh-CN" altLang="en-US" sz="2400" dirty="0"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endParaRPr lang="en-GB" altLang="zh-CN" sz="24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ja-JP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贝叶斯学习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Bayesian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learning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）</a:t>
            </a:r>
            <a:endParaRPr lang="en-GB" altLang="zh-CN" sz="20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457200" lvl="1" indent="0">
              <a:buNone/>
            </a:pP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457200" lvl="1" indent="0">
              <a:buNone/>
            </a:pP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" name="Content Placeholder 15"/>
          <p:cNvSpPr txBox="1"/>
          <p:nvPr/>
        </p:nvSpPr>
        <p:spPr>
          <a:xfrm>
            <a:off x="838200" y="545474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776" y="4343400"/>
            <a:ext cx="6652872" cy="225358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695" y="2059620"/>
            <a:ext cx="3938679" cy="1092531"/>
          </a:xfrm>
          <a:prstGeom prst="rect">
            <a:avLst/>
          </a:prstGeom>
        </p:spPr>
      </p:pic>
      <p:sp>
        <p:nvSpPr>
          <p:cNvPr id="15" name="Content Placeholder 15"/>
          <p:cNvSpPr txBox="1">
            <a:spLocks/>
          </p:cNvSpPr>
          <p:nvPr/>
        </p:nvSpPr>
        <p:spPr>
          <a:xfrm>
            <a:off x="255270" y="3152151"/>
            <a:ext cx="6392594" cy="798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利用贝叶斯定理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计算在给定条件下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的条件概率，从而进行模型的估计以及数据的预测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GB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GB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GB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46" y="3982752"/>
            <a:ext cx="3007043" cy="533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270" y="4739108"/>
            <a:ext cx="4607086" cy="3231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98401" y="14054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机器</a:t>
            </a:r>
            <a:r>
              <a:rPr lang="ja-JP" altLang="en-GB" dirty="0">
                <a:latin typeface="DengXian Light" panose="02010600030101010101" pitchFamily="2" charset="-122"/>
                <a:ea typeface="DengXian Light" panose="02010600030101010101" pitchFamily="2" charset="-122"/>
              </a:rPr>
              <a:t>学习</a:t>
            </a:r>
            <a:endParaRPr lang="zh-CN" altLang="en-US" dirty="0"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14" name="Content Placeholder 15"/>
          <p:cNvSpPr>
            <a:spLocks noGrp="1"/>
          </p:cNvSpPr>
          <p:nvPr>
            <p:ph idx="1"/>
          </p:nvPr>
        </p:nvSpPr>
        <p:spPr>
          <a:xfrm>
            <a:off x="556845" y="2411779"/>
            <a:ext cx="11358489" cy="3749870"/>
          </a:xfrm>
        </p:spPr>
        <p:txBody>
          <a:bodyPr>
            <a:normAutofit/>
          </a:bodyPr>
          <a:lstStyle/>
          <a:p>
            <a:r>
              <a:rPr lang="ja-JP" altLang="en-GB">
                <a:latin typeface="DengXian" panose="02010600030101010101" pitchFamily="2" charset="-122"/>
                <a:ea typeface="DengXian" panose="02010600030101010101" pitchFamily="2" charset="-122"/>
              </a:rPr>
              <a:t>按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技巧分类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1"/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核方法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Kernel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method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）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2"/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使用核函数表示和学习非线性模型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将线性模型学习方法扩展到非线性模型的学习</a:t>
            </a:r>
            <a:endParaRPr lang="en-GB" altLang="ja-JP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914400" lvl="2" indent="0">
              <a:buNone/>
            </a:pPr>
            <a:endParaRPr lang="en-GB" altLang="ja-JP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2"/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不显式地定义输入空间到特征空间的映射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而是直接定义核函数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即映射之后在特征空间的</a:t>
            </a:r>
            <a:r>
              <a:rPr lang="ja-JP" altLang="en-GB">
                <a:latin typeface="DengXian" panose="02010600030101010101" pitchFamily="2" charset="-122"/>
                <a:ea typeface="DengXian" panose="02010600030101010101" pitchFamily="2" charset="-122"/>
              </a:rPr>
              <a:t>内积</a:t>
            </a:r>
            <a:endParaRPr lang="en-GB" altLang="ja-JP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2"/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lvl="2"/>
            <a:r>
              <a:rPr lang="ja-JP" altLang="en-GB">
                <a:latin typeface="DengXian" panose="02010600030101010101" pitchFamily="2" charset="-122"/>
                <a:ea typeface="DengXian" panose="02010600030101010101" pitchFamily="2" charset="-122"/>
              </a:rPr>
              <a:t>假设</a:t>
            </a:r>
            <a:r>
              <a:rPr lang="en-US" altLang="ja-JP" dirty="0">
                <a:latin typeface="DengXian" panose="02010600030101010101" pitchFamily="2" charset="-122"/>
                <a:ea typeface="DengXian" panose="02010600030101010101" pitchFamily="2" charset="-122"/>
              </a:rPr>
              <a:t>x</a:t>
            </a:r>
            <a:r>
              <a:rPr lang="en-US" altLang="zh-CN" baseline="-25000" dirty="0"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x</a:t>
            </a:r>
            <a:r>
              <a:rPr lang="en-US" altLang="zh-CN" baseline="-25000" dirty="0">
                <a:latin typeface="DengXian" panose="02010600030101010101" pitchFamily="2" charset="-122"/>
                <a:ea typeface="DengXian" panose="02010600030101010101" pitchFamily="2" charset="-122"/>
              </a:rPr>
              <a:t>2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是输入空间的任意两个实例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内积为</a:t>
            </a:r>
            <a:r>
              <a:rPr lang="en-US" altLang="ja-JP" dirty="0">
                <a:latin typeface="DengXian" panose="02010600030101010101" pitchFamily="2" charset="-122"/>
                <a:ea typeface="DengXian" panose="02010600030101010101" pitchFamily="2" charset="-122"/>
              </a:rPr>
              <a:t>&lt;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x</a:t>
            </a:r>
            <a:r>
              <a:rPr lang="en-US" altLang="zh-CN" baseline="-25000" dirty="0"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, x</a:t>
            </a:r>
            <a:r>
              <a:rPr lang="en-US" altLang="zh-CN" baseline="-25000" dirty="0">
                <a:latin typeface="DengXian" panose="02010600030101010101" pitchFamily="2" charset="-122"/>
                <a:ea typeface="DengXian" panose="02010600030101010101" pitchFamily="2" charset="-122"/>
              </a:rPr>
              <a:t>2</a:t>
            </a:r>
            <a:r>
              <a:rPr lang="en-US" altLang="ja-JP" dirty="0">
                <a:latin typeface="DengXian" panose="02010600030101010101" pitchFamily="2" charset="-122"/>
                <a:ea typeface="DengXian" panose="02010600030101010101" pitchFamily="2" charset="-122"/>
              </a:rPr>
              <a:t>&gt;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输入空间到特征空间的映射为</a:t>
            </a:r>
            <a:r>
              <a:rPr lang="en-US" altLang="ja-JP" dirty="0" err="1">
                <a:latin typeface="DengXian" panose="02010600030101010101" pitchFamily="2" charset="-122"/>
                <a:ea typeface="DengXian" panose="02010600030101010101" pitchFamily="2" charset="-122"/>
              </a:rPr>
              <a:t>φ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914400" lvl="2" indent="0">
              <a:buNone/>
            </a:pPr>
            <a:r>
              <a:rPr lang="ja-JP" altLang="en-GB">
                <a:latin typeface="DengXian" panose="02010600030101010101" pitchFamily="2" charset="-122"/>
                <a:ea typeface="DengXian" panose="02010600030101010101" pitchFamily="2" charset="-122"/>
              </a:rPr>
              <a:t>核方法</a:t>
            </a:r>
            <a:r>
              <a:rPr lang="ja-JP" altLang="en-US">
                <a:latin typeface="DengXian" panose="02010600030101010101" pitchFamily="2" charset="-122"/>
                <a:ea typeface="DengXian" panose="02010600030101010101" pitchFamily="2" charset="-122"/>
              </a:rPr>
              <a:t>在输入空间中定义核函数</a:t>
            </a:r>
            <a:r>
              <a:rPr lang="en-US" altLang="ja-JP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K(x</a:t>
            </a:r>
            <a:r>
              <a:rPr lang="en-US" altLang="zh-CN" baseline="-25000"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, x</a:t>
            </a:r>
            <a:r>
              <a:rPr lang="en-US" altLang="zh-CN" baseline="-25000">
                <a:latin typeface="DengXian" panose="02010600030101010101" pitchFamily="2" charset="-122"/>
                <a:ea typeface="DengXian" panose="02010600030101010101" pitchFamily="2" charset="-122"/>
              </a:rPr>
              <a:t>2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ja-JP" altLang="en-GB">
                <a:latin typeface="DengXian" panose="02010600030101010101" pitchFamily="2" charset="-122"/>
                <a:ea typeface="DengXian" panose="02010600030101010101" pitchFamily="2" charset="-122"/>
              </a:rPr>
              <a:t>使其满足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K(x</a:t>
            </a:r>
            <a:r>
              <a:rPr lang="en-US" altLang="zh-CN" baseline="-25000"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, x</a:t>
            </a:r>
            <a:r>
              <a:rPr lang="en-US" altLang="zh-CN" baseline="-25000">
                <a:latin typeface="DengXian" panose="02010600030101010101" pitchFamily="2" charset="-122"/>
                <a:ea typeface="DengXian" panose="02010600030101010101" pitchFamily="2" charset="-122"/>
              </a:rPr>
              <a:t>2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=</a:t>
            </a:r>
            <a:r>
              <a:rPr lang="zh-CN" altLang="en-US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&lt;</a:t>
            </a:r>
            <a:r>
              <a:rPr lang="en-US" altLang="ja-JP">
                <a:latin typeface="DengXian" panose="02010600030101010101" pitchFamily="2" charset="-122"/>
                <a:ea typeface="DengXian" panose="02010600030101010101" pitchFamily="2" charset="-122"/>
              </a:rPr>
              <a:t> φ(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x</a:t>
            </a:r>
            <a:r>
              <a:rPr lang="en-US" altLang="zh-CN" baseline="-25000"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r>
              <a:rPr lang="en-US" altLang="ja-JP">
                <a:latin typeface="DengXian" panose="02010600030101010101" pitchFamily="2" charset="-122"/>
                <a:ea typeface="DengXian" panose="02010600030101010101" pitchFamily="2" charset="-122"/>
              </a:rPr>
              <a:t>), φ(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x</a:t>
            </a:r>
            <a:r>
              <a:rPr lang="en-US" altLang="zh-CN" baseline="-25000">
                <a:latin typeface="DengXian" panose="02010600030101010101" pitchFamily="2" charset="-122"/>
                <a:ea typeface="DengXian" panose="02010600030101010101" pitchFamily="2" charset="-122"/>
              </a:rPr>
              <a:t>2</a:t>
            </a:r>
            <a:r>
              <a:rPr lang="en-US" altLang="ja-JP"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  <a:r>
              <a:rPr lang="en-US" altLang="zh-CN">
                <a:latin typeface="DengXian" panose="02010600030101010101" pitchFamily="2" charset="-122"/>
                <a:ea typeface="DengXian" panose="02010600030101010101" pitchFamily="2" charset="-122"/>
              </a:rPr>
              <a:t>&gt;</a:t>
            </a:r>
            <a:endParaRPr lang="en-US" altLang="ja-JP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" name="Content Placeholder 15"/>
          <p:cNvSpPr txBox="1"/>
          <p:nvPr/>
        </p:nvSpPr>
        <p:spPr>
          <a:xfrm>
            <a:off x="838200" y="545474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机器学习三要素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98401" y="2381306"/>
            <a:ext cx="8424936" cy="4839816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模型：</a:t>
            </a:r>
            <a:endParaRPr lang="en-US" altLang="zh-CN" dirty="0"/>
          </a:p>
          <a:p>
            <a:pPr lvl="1"/>
            <a:r>
              <a:rPr lang="zh-CN" altLang="en-US" b="1" dirty="0"/>
              <a:t>决策函数</a:t>
            </a:r>
            <a:r>
              <a:rPr lang="zh-CN" altLang="en-US" dirty="0"/>
              <a:t>的集合：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2"/>
            <a:r>
              <a:rPr lang="zh-CN" altLang="en-US" dirty="0"/>
              <a:t>参数空间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b="1" dirty="0"/>
              <a:t>条件概率</a:t>
            </a:r>
            <a:r>
              <a:rPr lang="zh-CN" altLang="en-US" dirty="0"/>
              <a:t>的集合：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2"/>
            <a:r>
              <a:rPr lang="zh-CN" altLang="en-US" dirty="0"/>
              <a:t>参数空间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673" y="2652875"/>
            <a:ext cx="3265190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476" y="3381702"/>
            <a:ext cx="2200796" cy="344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396" y="4108106"/>
            <a:ext cx="3350092" cy="464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796" y="4827677"/>
            <a:ext cx="229116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76" y="5623911"/>
            <a:ext cx="3388877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内容占位符 2 1"/>
          <p:cNvSpPr>
            <a:spLocks noGrp="1"/>
          </p:cNvSpPr>
          <p:nvPr>
            <p:ph idx="1"/>
          </p:nvPr>
        </p:nvSpPr>
        <p:spPr>
          <a:xfrm>
            <a:off x="860237" y="3269028"/>
            <a:ext cx="6160323" cy="3471407"/>
          </a:xfrm>
        </p:spPr>
        <p:txBody>
          <a:bodyPr>
            <a:normAutofit/>
          </a:bodyPr>
          <a:lstStyle/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损失函数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(0-1 loss function)</a:t>
            </a: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平方损失函数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(quadratic loss function)</a:t>
            </a: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绝对损失函数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(absolute loss function)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90522" y="2369738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损失函数：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一次预测的好坏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风险函数：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平均意义下模型预测的好坏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内容占位符 2 2"/>
          <p:cNvSpPr txBox="1">
            <a:spLocks/>
          </p:cNvSpPr>
          <p:nvPr/>
        </p:nvSpPr>
        <p:spPr>
          <a:xfrm>
            <a:off x="598470" y="1943128"/>
            <a:ext cx="8301608" cy="3301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按照什么样的准则学习或选择最优化的模型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DF453FF-C3A7-0F43-3F47-868D9446E072}"/>
              </a:ext>
            </a:extLst>
          </p:cNvPr>
          <p:cNvSpPr/>
          <p:nvPr/>
        </p:nvSpPr>
        <p:spPr>
          <a:xfrm>
            <a:off x="7585165" y="2838994"/>
            <a:ext cx="657497" cy="3727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C6A335-D56C-FB66-CF2F-15180A8FB602}"/>
              </a:ext>
            </a:extLst>
          </p:cNvPr>
          <p:cNvSpPr/>
          <p:nvPr/>
        </p:nvSpPr>
        <p:spPr>
          <a:xfrm>
            <a:off x="7606937" y="3313613"/>
            <a:ext cx="657497" cy="4213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03D64B-1884-81B2-8704-5F6BC4DDE6A2}"/>
              </a:ext>
            </a:extLst>
          </p:cNvPr>
          <p:cNvSpPr txBox="1"/>
          <p:nvPr/>
        </p:nvSpPr>
        <p:spPr>
          <a:xfrm>
            <a:off x="8359718" y="2795000"/>
            <a:ext cx="1332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真实值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425DA6-17CC-755E-5C8B-0EA42B7F45B5}"/>
              </a:ext>
            </a:extLst>
          </p:cNvPr>
          <p:cNvSpPr txBox="1"/>
          <p:nvPr/>
        </p:nvSpPr>
        <p:spPr>
          <a:xfrm>
            <a:off x="8451155" y="3304453"/>
            <a:ext cx="1332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预测值</a:t>
            </a:r>
          </a:p>
        </p:txBody>
      </p:sp>
      <p:pic>
        <p:nvPicPr>
          <p:cNvPr id="14" name="图片 13" descr="\documentclass{article}&#10;\usepackage{amsmath}&#10;\pagestyle{empty}&#10;\begin{document}&#10;&#10;$&#10;L(Y,f(X)))=\left\{&#10;\begin{array}{ll}&#10;1,&amp;Y\neq f(X)\\&#10;0,&amp;Y=f(X)&#10;\end{array}&#10;\right.&#10;$&#10;&#10;&#10;\end{document}" title="IguanaTex Bitmap Display">
            <a:extLst>
              <a:ext uri="{FF2B5EF4-FFF2-40B4-BE49-F238E27FC236}">
                <a16:creationId xmlns:a16="http://schemas.microsoft.com/office/drawing/2014/main" id="{0DE66A9F-7200-3A86-5C33-032E7D5E8D2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17208" y="3732537"/>
            <a:ext cx="4206240" cy="729691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&#10;L(Y,f(X)))=(Y-f(X))^2&#10;$&#10;&#10;&#10;\end{document}" title="IguanaTex Bitmap Display">
            <a:extLst>
              <a:ext uri="{FF2B5EF4-FFF2-40B4-BE49-F238E27FC236}">
                <a16:creationId xmlns:a16="http://schemas.microsoft.com/office/drawing/2014/main" id="{99F870A9-0138-CC1B-AD6D-FDA159FAA42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16682" y="5019810"/>
            <a:ext cx="3628339" cy="327355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&#10;L(Y,f(X)))=|Y-f(X)|&#10;$&#10;&#10;&#10;\end{document}" title="IguanaTex Bitmap Display">
            <a:extLst>
              <a:ext uri="{FF2B5EF4-FFF2-40B4-BE49-F238E27FC236}">
                <a16:creationId xmlns:a16="http://schemas.microsoft.com/office/drawing/2014/main" id="{66397E02-BAE7-F7F4-D163-C84B715E1A7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378010" y="6148028"/>
            <a:ext cx="3418027" cy="30358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726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机器学习三要素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26393" y="2035866"/>
            <a:ext cx="11352463" cy="4839816"/>
          </a:xfrm>
        </p:spPr>
        <p:txBody>
          <a:bodyPr/>
          <a:lstStyle/>
          <a:p>
            <a:r>
              <a:rPr lang="zh-CN" altLang="en-US" dirty="0"/>
              <a:t>策略</a:t>
            </a:r>
            <a:endParaRPr lang="en-US" altLang="zh-CN" dirty="0"/>
          </a:p>
          <a:p>
            <a:pPr lvl="1"/>
            <a:r>
              <a:rPr lang="zh-CN" altLang="en-US" dirty="0"/>
              <a:t>对数损失函数 </a:t>
            </a:r>
            <a:r>
              <a:rPr lang="en-US" altLang="zh-CN" dirty="0"/>
              <a:t>logarithmic loss function </a:t>
            </a:r>
            <a:r>
              <a:rPr lang="zh-CN" altLang="en-US" dirty="0"/>
              <a:t>或对数似然损失函数 </a:t>
            </a:r>
            <a:r>
              <a:rPr lang="en-US" altLang="zh-CN" dirty="0" err="1"/>
              <a:t>loglikelihood</a:t>
            </a:r>
            <a:r>
              <a:rPr lang="en-US" altLang="zh-CN" dirty="0"/>
              <a:t> loss function </a:t>
            </a:r>
          </a:p>
          <a:p>
            <a:pPr marL="393065" lvl="1" indent="0">
              <a:buNone/>
            </a:pPr>
            <a:endParaRPr lang="en-US" altLang="zh-CN" dirty="0"/>
          </a:p>
        </p:txBody>
      </p:sp>
      <p:pic>
        <p:nvPicPr>
          <p:cNvPr id="5" name="图片 4" descr="\documentclass{article}&#10;\usepackage{amsmath}&#10;\pagestyle{empty}&#10;\begin{document}&#10;&#10;$&#10;L(Y,P(Y|X))=-\log P(Y|X)$&#10;&#10;&#10;\end{document}" title="IguanaTex Bitmap Display">
            <a:extLst>
              <a:ext uri="{FF2B5EF4-FFF2-40B4-BE49-F238E27FC236}">
                <a16:creationId xmlns:a16="http://schemas.microsoft.com/office/drawing/2014/main" id="{02B60A83-D09D-05D9-0406-963F862122F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12468" y="3811788"/>
            <a:ext cx="6119991" cy="4624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7260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机器学习三要素</a:t>
            </a:r>
          </a:p>
        </p:txBody>
      </p:sp>
      <p:sp>
        <p:nvSpPr>
          <p:cNvPr id="12" name="内容占位符 2 1"/>
          <p:cNvSpPr>
            <a:spLocks noGrp="1"/>
          </p:cNvSpPr>
          <p:nvPr>
            <p:ph idx="1"/>
          </p:nvPr>
        </p:nvSpPr>
        <p:spPr>
          <a:xfrm>
            <a:off x="316233" y="2035866"/>
            <a:ext cx="11352463" cy="1625872"/>
          </a:xfrm>
        </p:spPr>
        <p:txBody>
          <a:bodyPr>
            <a:normAutofit/>
          </a:bodyPr>
          <a:lstStyle/>
          <a:p>
            <a:r>
              <a:rPr lang="zh-CN" altLang="en-US" dirty="0"/>
              <a:t>策略</a:t>
            </a:r>
            <a:endParaRPr lang="en-US" altLang="zh-CN" dirty="0"/>
          </a:p>
          <a:p>
            <a:pPr lvl="1"/>
            <a:r>
              <a:rPr lang="zh-CN" altLang="en-US" dirty="0"/>
              <a:t>损失函数的期望</a:t>
            </a:r>
            <a:endParaRPr lang="en-US" altLang="zh-CN" dirty="0"/>
          </a:p>
          <a:p>
            <a:pPr marL="393065" lvl="1" indent="0">
              <a:buNone/>
            </a:pPr>
            <a:endParaRPr lang="en-US" altLang="zh-CN" dirty="0"/>
          </a:p>
        </p:txBody>
      </p:sp>
      <p:sp>
        <p:nvSpPr>
          <p:cNvPr id="17" name="内容占位符 2 2"/>
          <p:cNvSpPr txBox="1">
            <a:spLocks/>
          </p:cNvSpPr>
          <p:nvPr/>
        </p:nvSpPr>
        <p:spPr>
          <a:xfrm>
            <a:off x="266321" y="4514907"/>
            <a:ext cx="11352463" cy="1565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/>
              <a:t>经验风险</a:t>
            </a:r>
            <a:r>
              <a:rPr lang="en-US" altLang="zh-CN" dirty="0"/>
              <a:t>(empirical risk) ,</a:t>
            </a:r>
            <a:r>
              <a:rPr lang="zh-CN" altLang="en-US" dirty="0"/>
              <a:t>经验损失</a:t>
            </a:r>
            <a:r>
              <a:rPr lang="en-US" altLang="zh-CN" dirty="0"/>
              <a:t>(empirical loss)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7680" y="3484291"/>
            <a:ext cx="79636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zh-CN" altLang="en-US" sz="2000" b="1" dirty="0"/>
              <a:t>风险函数</a:t>
            </a:r>
            <a:r>
              <a:rPr lang="zh-CN" altLang="en-US" sz="2000" dirty="0"/>
              <a:t> </a:t>
            </a:r>
            <a:r>
              <a:rPr lang="en-US" altLang="zh-CN" sz="2000" dirty="0"/>
              <a:t>(risk function)</a:t>
            </a:r>
            <a:r>
              <a:rPr lang="zh-CN" altLang="en-US" sz="2000" dirty="0"/>
              <a:t>或</a:t>
            </a:r>
            <a:r>
              <a:rPr lang="en-US" altLang="zh-CN" sz="2000" dirty="0"/>
              <a:t> </a:t>
            </a:r>
            <a:r>
              <a:rPr lang="zh-CN" altLang="en-US" sz="2000" b="1" dirty="0"/>
              <a:t>期望损失 </a:t>
            </a:r>
            <a:r>
              <a:rPr lang="en-US" altLang="zh-CN" sz="2000" dirty="0"/>
              <a:t>(expected loss)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zh-CN" altLang="en-US" sz="2000" dirty="0"/>
              <a:t>由</a:t>
            </a:r>
            <a:r>
              <a:rPr lang="en-US" altLang="zh-CN" sz="2000" dirty="0"/>
              <a:t>P(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</a:t>
            </a:r>
            <a:r>
              <a:rPr lang="zh-CN" altLang="en-US" sz="2000" dirty="0"/>
              <a:t>可以直接求出</a:t>
            </a:r>
            <a:r>
              <a:rPr lang="en-US" altLang="zh-CN" sz="2000" dirty="0"/>
              <a:t>P(</a:t>
            </a:r>
            <a:r>
              <a:rPr lang="en-US" altLang="zh-CN" sz="2000" dirty="0" err="1"/>
              <a:t>x|y</a:t>
            </a:r>
            <a:r>
              <a:rPr lang="en-US" altLang="zh-CN" sz="2000" dirty="0"/>
              <a:t>),</a:t>
            </a:r>
            <a:r>
              <a:rPr lang="zh-CN" altLang="en-US" sz="2000" dirty="0"/>
              <a:t>但</a:t>
            </a:r>
            <a:r>
              <a:rPr lang="en-US" altLang="zh-CN" sz="2000" dirty="0"/>
              <a:t>P(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</a:t>
            </a:r>
            <a:r>
              <a:rPr lang="zh-CN" altLang="en-US" sz="2000" dirty="0"/>
              <a:t>未知</a:t>
            </a:r>
            <a:endParaRPr lang="en-US" altLang="zh-CN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1411339" y="2856908"/>
            <a:ext cx="1138821" cy="5587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\documentclass{article}&#10;\usepackage{amsmath}&#10;\pagestyle{empty}&#10;\begin{document}&#10;&#10;$&#10;R_{\mathrm{exp}}(f)=E_{P}[L(Y,f(X))]=\int_{\mathcal{X}\times \mathcal{Y}}L(y,f(x))P(x,y)dxdy&#10;$&#10;&#10;&#10;\end{document}" title="IguanaTex Bitmap Display">
            <a:extLst>
              <a:ext uri="{FF2B5EF4-FFF2-40B4-BE49-F238E27FC236}">
                <a16:creationId xmlns:a16="http://schemas.microsoft.com/office/drawing/2014/main" id="{FF61354E-8053-F5DF-097D-8769830C69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493982" y="2945182"/>
            <a:ext cx="7584033" cy="382219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&#10;T=\{(x_1,y_1),(x_2,y_2),\cdots,(x_N,y_N)\}$&#10;&#10;&#10;\end{document}" title="IguanaTex Bitmap Display">
            <a:extLst>
              <a:ext uri="{FF2B5EF4-FFF2-40B4-BE49-F238E27FC236}">
                <a16:creationId xmlns:a16="http://schemas.microsoft.com/office/drawing/2014/main" id="{EB50D0CE-9715-5BEB-3151-C0A4A0525EB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544472" y="5035241"/>
            <a:ext cx="4846320" cy="303581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&#10;R_{\mathrm{emp}}(f)=\frac{1}{N}\sum\limits_{i=1}^NL(y_i,f(x_i))&#10;$&#10;&#10;&#10;\end{document}" title="IguanaTex Bitmap Display">
            <a:extLst>
              <a:ext uri="{FF2B5EF4-FFF2-40B4-BE49-F238E27FC236}">
                <a16:creationId xmlns:a16="http://schemas.microsoft.com/office/drawing/2014/main" id="{4EC20181-A0F7-AC84-26A2-F2140D1E452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544472" y="5812060"/>
            <a:ext cx="3770985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1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机器学习三要素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98401" y="2472746"/>
            <a:ext cx="11468210" cy="4839816"/>
          </a:xfrm>
        </p:spPr>
        <p:txBody>
          <a:bodyPr/>
          <a:lstStyle/>
          <a:p>
            <a:r>
              <a:rPr lang="zh-CN" altLang="en-US" dirty="0"/>
              <a:t>策略：经验风险最小化与结构风险最小化</a:t>
            </a:r>
            <a:endParaRPr lang="en-US" altLang="zh-CN" dirty="0"/>
          </a:p>
          <a:p>
            <a:pPr lvl="1"/>
            <a:r>
              <a:rPr lang="zh-CN" altLang="en-US" dirty="0"/>
              <a:t>经验风险最小化最优模型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当样本容量很小时，经验风险最小化学习的效果未必很好，会产生“过拟合</a:t>
            </a:r>
            <a:r>
              <a:rPr lang="en-US" altLang="zh-CN" dirty="0"/>
              <a:t>over-fitting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zh-CN" altLang="en-US" dirty="0"/>
              <a:t>结构风险最小化 </a:t>
            </a:r>
            <a:r>
              <a:rPr lang="en-US" altLang="zh-CN" dirty="0"/>
              <a:t>(structure risk minimization):</a:t>
            </a:r>
            <a:r>
              <a:rPr lang="zh-CN" altLang="en-US" dirty="0"/>
              <a:t>为防止过拟合提出的策略，等价于正则化（</a:t>
            </a:r>
            <a:r>
              <a:rPr lang="en-US" altLang="zh-CN" dirty="0"/>
              <a:t>regularization</a:t>
            </a:r>
            <a:r>
              <a:rPr lang="zh-CN" altLang="en-US" dirty="0"/>
              <a:t>），加入正则化项</a:t>
            </a:r>
            <a:r>
              <a:rPr lang="en-US" altLang="zh-CN" dirty="0"/>
              <a:t>(</a:t>
            </a:r>
            <a:r>
              <a:rPr lang="en-US" altLang="zh-CN" dirty="0" err="1"/>
              <a:t>regularizer</a:t>
            </a:r>
            <a:r>
              <a:rPr lang="en-US" altLang="zh-CN" dirty="0"/>
              <a:t>)</a:t>
            </a:r>
            <a:r>
              <a:rPr lang="zh-CN" altLang="en-US" dirty="0"/>
              <a:t>，或罚项 </a:t>
            </a:r>
            <a:r>
              <a:rPr lang="en-US" altLang="zh-CN" dirty="0"/>
              <a:t>(penalty term)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8" name="图片 7" descr="\documentclass{article}&#10;\usepackage{amsmath}&#10;\pagestyle{empty}&#10;\begin{document}&#10;&#10;$&#10;\min\limits_{f\in\mathcal{F}}\frac{1}{N}\sum\limits_{i=1}^NL(y_i,f(x_i))&#10;$&#10;&#10;&#10;\end{document}" title="IguanaTex Bitmap Display">
            <a:extLst>
              <a:ext uri="{FF2B5EF4-FFF2-40B4-BE49-F238E27FC236}">
                <a16:creationId xmlns:a16="http://schemas.microsoft.com/office/drawing/2014/main" id="{8BDC4E4F-D9D1-1462-5999-8A73E8F39C5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33406" y="3270507"/>
            <a:ext cx="2820009" cy="704088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&#10;\frac{1}{N}\sum\limits_{i=1}^NL(y_i,f(x_i))+\lambda J(f)&#10;$&#10;&#10;&#10;\end{document}" title="IguanaTex Bitmap Display">
            <a:extLst>
              <a:ext uri="{FF2B5EF4-FFF2-40B4-BE49-F238E27FC236}">
                <a16:creationId xmlns:a16="http://schemas.microsoft.com/office/drawing/2014/main" id="{87C06D66-64AE-58DB-0CC9-231BC085AFB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371094" y="5904793"/>
            <a:ext cx="3397910" cy="7040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机器学习三要素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26393" y="2625890"/>
            <a:ext cx="8424936" cy="4839816"/>
          </a:xfrm>
        </p:spPr>
        <p:txBody>
          <a:bodyPr/>
          <a:lstStyle/>
          <a:p>
            <a:pPr lvl="1"/>
            <a:r>
              <a:rPr lang="zh-CN" altLang="en-US" dirty="0"/>
              <a:t>求最优模型就是求解</a:t>
            </a:r>
            <a:r>
              <a:rPr lang="zh-CN" altLang="en-US" dirty="0">
                <a:solidFill>
                  <a:srgbClr val="FF0000"/>
                </a:solidFill>
              </a:rPr>
              <a:t>最优化问题：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8" name="图片 7" descr="\documentclass{article}&#10;\usepackage{amsmath}&#10;\pagestyle{empty}&#10;\begin{document}&#10;&#10;$&#10;\min\limits_{f\in\mathcal{F}}\,\,\frac{1}{N}\sum\limits_{i=1}^NL(y_i,f(x_i))+\lambda J(f)&#10;$&#10;&#10;&#10;\end{document}" title="IguanaTex Bitmap Display">
            <a:extLst>
              <a:ext uri="{FF2B5EF4-FFF2-40B4-BE49-F238E27FC236}">
                <a16:creationId xmlns:a16="http://schemas.microsoft.com/office/drawing/2014/main" id="{EC38025E-C7A9-70B8-FDBA-E9008C68300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70593" y="3652912"/>
            <a:ext cx="4083710" cy="7040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机器学习三要素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646255" y="2260130"/>
            <a:ext cx="8424936" cy="1651470"/>
          </a:xfrm>
        </p:spPr>
        <p:txBody>
          <a:bodyPr/>
          <a:lstStyle/>
          <a:p>
            <a:r>
              <a:rPr lang="zh-CN" altLang="en-US" dirty="0"/>
              <a:t>算法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：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如果最优化问题有显式的解析式，算法比较简单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但通常解析式不存在，就需要数值计算的方法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1323074" y="3810000"/>
            <a:ext cx="8493760" cy="2214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0" dirty="0"/>
              <a:t>梯度下降法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模型评估与模型选择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251870" y="2302423"/>
            <a:ext cx="10085632" cy="1738819"/>
          </a:xfrm>
        </p:spPr>
        <p:txBody>
          <a:bodyPr>
            <a:normAutofit/>
          </a:bodyPr>
          <a:lstStyle/>
          <a:p>
            <a:r>
              <a:rPr lang="zh-CN" altLang="en-US" dirty="0"/>
              <a:t>训练误差，训练数据集的平均损失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测试误差，测试数据集的平均损失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555" y="2179452"/>
            <a:ext cx="4181475" cy="762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074" y="3157861"/>
            <a:ext cx="3429000" cy="771525"/>
          </a:xfrm>
          <a:prstGeom prst="rect">
            <a:avLst/>
          </a:prstGeom>
        </p:spPr>
      </p:pic>
      <p:sp>
        <p:nvSpPr>
          <p:cNvPr id="17" name="内容占位符 2"/>
          <p:cNvSpPr txBox="1">
            <a:spLocks/>
          </p:cNvSpPr>
          <p:nvPr/>
        </p:nvSpPr>
        <p:spPr>
          <a:xfrm>
            <a:off x="646117" y="4068431"/>
            <a:ext cx="10085632" cy="329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/>
              <a:t>损失函数是</a:t>
            </a:r>
            <a:r>
              <a:rPr lang="en-US" altLang="zh-CN" dirty="0"/>
              <a:t>0-1 </a:t>
            </a:r>
            <a:r>
              <a:rPr lang="zh-CN" altLang="en-US" dirty="0"/>
              <a:t>损失时，误差率</a:t>
            </a:r>
            <a:r>
              <a:rPr lang="en-US" altLang="zh-CN" dirty="0"/>
              <a:t>(error rate)</a:t>
            </a:r>
            <a:r>
              <a:rPr lang="zh-CN" altLang="en-US" dirty="0"/>
              <a:t>为</a:t>
            </a:r>
            <a:r>
              <a:rPr lang="en-US" altLang="zh-CN" dirty="0"/>
              <a:t>: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测试数据集的准确率：</a:t>
            </a:r>
          </a:p>
          <a:p>
            <a:pPr lvl="1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7943" y="4502926"/>
            <a:ext cx="3619500" cy="714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2195" y="5758572"/>
            <a:ext cx="369570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模型评估与模型选择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26393" y="2625890"/>
            <a:ext cx="8424936" cy="4839816"/>
          </a:xfrm>
        </p:spPr>
        <p:txBody>
          <a:bodyPr/>
          <a:lstStyle/>
          <a:p>
            <a:r>
              <a:rPr lang="zh-CN" altLang="en-US" dirty="0"/>
              <a:t>过拟合与模型选择</a:t>
            </a:r>
            <a:endParaRPr lang="en-US" altLang="zh-CN" dirty="0"/>
          </a:p>
          <a:p>
            <a:r>
              <a:rPr lang="zh-CN" altLang="en-US" dirty="0"/>
              <a:t>假设给定训练数据集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经验风险最小：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793" y="3057938"/>
            <a:ext cx="4048200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60" y="3587957"/>
            <a:ext cx="5980163" cy="85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63" y="5214362"/>
            <a:ext cx="3404291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5172399"/>
            <a:ext cx="3168352" cy="90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646" y="5132309"/>
            <a:ext cx="3596756" cy="149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70855" y="108272"/>
            <a:ext cx="8322518" cy="1925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模型评估与模型选择</a:t>
            </a:r>
            <a:endParaRPr lang="en-US" altLang="zh-CN" dirty="0"/>
          </a:p>
          <a:p>
            <a:endParaRPr lang="en-US" altLang="zh-CN" sz="3200" dirty="0"/>
          </a:p>
          <a:p>
            <a:r>
              <a:rPr lang="zh-CN" altLang="en-US" sz="3200" dirty="0"/>
              <a:t>多项式拟合任务</a:t>
            </a:r>
          </a:p>
        </p:txBody>
      </p:sp>
      <p:pic>
        <p:nvPicPr>
          <p:cNvPr id="3" name="图片 2" descr="\documentclass{article}&#10;\usepackage{amsmath}&#10;\pagestyle{empty}&#10;\begin{document}&#10;&#10;$T=\{(x_1,y_1),(x_2,y_2),\cdots,(x_n,y_n)\}$&#10;&#10;&#10;\end{document}" title="IguanaTex Bitmap Display">
            <a:extLst>
              <a:ext uri="{FF2B5EF4-FFF2-40B4-BE49-F238E27FC236}">
                <a16:creationId xmlns:a16="http://schemas.microsoft.com/office/drawing/2014/main" id="{068C8A10-E280-5425-E2BA-AD1C67DF1C7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2028" y="2191982"/>
            <a:ext cx="7074712" cy="4553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CE1AEA4-07A0-E81C-7EFE-70D4D1C73553}"/>
                  </a:ext>
                </a:extLst>
              </p:cNvPr>
              <p:cNvSpPr txBox="1"/>
              <p:nvPr/>
            </p:nvSpPr>
            <p:spPr>
              <a:xfrm>
                <a:off x="300250" y="2866029"/>
                <a:ext cx="69057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𝑅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是</m:t>
                        </m:r>
                        <m:r>
                          <a:rPr lang="zh-CN" altLang="en-US" sz="240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输入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𝑅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为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对应的输出。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CE1AEA4-07A0-E81C-7EFE-70D4D1C73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50" y="2866029"/>
                <a:ext cx="6905767" cy="461665"/>
              </a:xfrm>
              <a:prstGeom prst="rect">
                <a:avLst/>
              </a:prstGeom>
              <a:blipFill>
                <a:blip r:embed="rId5"/>
                <a:stretch>
                  <a:fillRect l="-1324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DB437B73-1207-1C13-39EA-328C61FC1487}"/>
              </a:ext>
            </a:extLst>
          </p:cNvPr>
          <p:cNvSpPr txBox="1"/>
          <p:nvPr/>
        </p:nvSpPr>
        <p:spPr>
          <a:xfrm>
            <a:off x="300249" y="3507475"/>
            <a:ext cx="11737075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任务定义：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假设上述数据由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次多项式函数生成，选择最有可能产生数据的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次多项式函数。即：在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次多项式函数中选择一个在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已知数据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未知数据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上都有很好的预测能力的函数。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51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70855" y="108272"/>
            <a:ext cx="7981324" cy="901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模型评估与模型选择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3C33B8E-F51B-CB36-AB1F-B57DF7FD6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966" y="847682"/>
            <a:ext cx="9205453" cy="506862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2D40C8-99F4-660C-F339-D7DD5B774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8" y="164235"/>
            <a:ext cx="10861964" cy="65318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D3FCFA-0C79-FDBB-53A0-C380A10183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123892"/>
                <a:ext cx="10515600" cy="4351338"/>
              </a:xfrm>
            </p:spPr>
            <p:txBody>
              <a:bodyPr/>
              <a:lstStyle/>
              <a:p>
                <a:r>
                  <a:rPr lang="zh-CN" altLang="en-US" dirty="0"/>
                  <a:t>设有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dirty="0"/>
                  <a:t>次多项式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损失函数为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代入训练数据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D3FCFA-0C79-FDBB-53A0-C380A10183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23892"/>
                <a:ext cx="10515600" cy="4351338"/>
              </a:xfrm>
              <a:blipFill>
                <a:blip r:embed="rId4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\documentclass{article}&#10;\usepackage{amsmath}&#10;\pagestyle{empty}&#10;\begin{document}&#10;&#10;$L(w)=\frac{1}{2}\sum\limits_{i=1}^{n}(f_M(x_i,w)-y_i)^2$&#10;&#10;&#10;\end{document}" title="IguanaTex Bitmap Display">
            <a:extLst>
              <a:ext uri="{FF2B5EF4-FFF2-40B4-BE49-F238E27FC236}">
                <a16:creationId xmlns:a16="http://schemas.microsoft.com/office/drawing/2014/main" id="{75820BDD-43F1-1725-A7A1-A38304742A9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7491" y="3299561"/>
            <a:ext cx="4614977" cy="759562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L(w)=\frac{1}{2}\sum\limits_{i=1}^{n}(\sum\limits_{j=0}^Mw_jx_i^j-y_i)^2$&#10;&#10;&#10;\end{document}" title="IguanaTex Bitmap Display">
            <a:extLst>
              <a:ext uri="{FF2B5EF4-FFF2-40B4-BE49-F238E27FC236}">
                <a16:creationId xmlns:a16="http://schemas.microsoft.com/office/drawing/2014/main" id="{62BE54A8-A85D-C28D-162F-C4A47911CDC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082799" y="5017524"/>
            <a:ext cx="4414419" cy="86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3044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6E8F3-6FF8-793F-DAB8-65E626938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606C5B-2649-47EB-9FF7-133CECA88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42" y="304790"/>
            <a:ext cx="3719540" cy="27717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466717B-E61E-6D5B-3DE0-B66D8DBA1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773" y="365125"/>
            <a:ext cx="3771928" cy="27432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537627-8017-7922-6E55-EBD48455D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873" y="3540105"/>
            <a:ext cx="3705252" cy="27717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9D6076D-2D9C-9A61-3E06-40A6BF768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542" y="3376593"/>
            <a:ext cx="3776690" cy="28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5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368063" y="1026602"/>
            <a:ext cx="41742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结论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学习时要</a:t>
            </a:r>
            <a:r>
              <a:rPr lang="zh-CN" altLang="en-US" sz="2400" b="1" dirty="0">
                <a:solidFill>
                  <a:srgbClr val="FF0000"/>
                </a:solidFill>
              </a:rPr>
              <a:t>防止过拟合</a:t>
            </a:r>
            <a:r>
              <a:rPr lang="zh-CN" altLang="en-US" sz="2400" dirty="0"/>
              <a:t>，进行最优的模型选择，即</a:t>
            </a:r>
            <a:r>
              <a:rPr lang="zh-CN" altLang="en-US" sz="2400" b="1" dirty="0">
                <a:solidFill>
                  <a:srgbClr val="FF0000"/>
                </a:solidFill>
              </a:rPr>
              <a:t>选择复杂度适当的模型</a:t>
            </a:r>
            <a:r>
              <a:rPr lang="zh-CN" altLang="en-US" sz="2400" dirty="0"/>
              <a:t>，以达到测试误差最小的学习目的。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60C5758-25E7-659F-B976-092B89EDB9CF}"/>
              </a:ext>
            </a:extLst>
          </p:cNvPr>
          <p:cNvCxnSpPr>
            <a:cxnSpLocks/>
          </p:cNvCxnSpPr>
          <p:nvPr/>
        </p:nvCxnSpPr>
        <p:spPr>
          <a:xfrm flipV="1">
            <a:off x="1637946" y="1192126"/>
            <a:ext cx="0" cy="47971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3F1044E-DDCA-E2DC-F6CC-A6EB25765929}"/>
              </a:ext>
            </a:extLst>
          </p:cNvPr>
          <p:cNvCxnSpPr>
            <a:cxnSpLocks/>
          </p:cNvCxnSpPr>
          <p:nvPr/>
        </p:nvCxnSpPr>
        <p:spPr>
          <a:xfrm>
            <a:off x="1637946" y="5989318"/>
            <a:ext cx="65577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C315EB4-1C5B-A0A7-C9D4-2013C3E5698A}"/>
              </a:ext>
            </a:extLst>
          </p:cNvPr>
          <p:cNvSpPr txBox="1"/>
          <p:nvPr/>
        </p:nvSpPr>
        <p:spPr>
          <a:xfrm>
            <a:off x="940648" y="3116459"/>
            <a:ext cx="553998" cy="15558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预测误差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E76879CA-DF11-E3DB-3F1D-820DEB54290C}"/>
              </a:ext>
            </a:extLst>
          </p:cNvPr>
          <p:cNvSpPr/>
          <p:nvPr/>
        </p:nvSpPr>
        <p:spPr>
          <a:xfrm>
            <a:off x="2125783" y="3058523"/>
            <a:ext cx="3936152" cy="1596788"/>
          </a:xfrm>
          <a:custGeom>
            <a:avLst/>
            <a:gdLst>
              <a:gd name="connsiteX0" fmla="*/ 0 w 5268036"/>
              <a:gd name="connsiteY0" fmla="*/ 0 h 1596788"/>
              <a:gd name="connsiteX1" fmla="*/ 34119 w 5268036"/>
              <a:gd name="connsiteY1" fmla="*/ 88710 h 1596788"/>
              <a:gd name="connsiteX2" fmla="*/ 40943 w 5268036"/>
              <a:gd name="connsiteY2" fmla="*/ 122830 h 1596788"/>
              <a:gd name="connsiteX3" fmla="*/ 54591 w 5268036"/>
              <a:gd name="connsiteY3" fmla="*/ 163773 h 1596788"/>
              <a:gd name="connsiteX4" fmla="*/ 81886 w 5268036"/>
              <a:gd name="connsiteY4" fmla="*/ 184245 h 1596788"/>
              <a:gd name="connsiteX5" fmla="*/ 95534 w 5268036"/>
              <a:gd name="connsiteY5" fmla="*/ 211540 h 1596788"/>
              <a:gd name="connsiteX6" fmla="*/ 116006 w 5268036"/>
              <a:gd name="connsiteY6" fmla="*/ 259307 h 1596788"/>
              <a:gd name="connsiteX7" fmla="*/ 156949 w 5268036"/>
              <a:gd name="connsiteY7" fmla="*/ 300251 h 1596788"/>
              <a:gd name="connsiteX8" fmla="*/ 170597 w 5268036"/>
              <a:gd name="connsiteY8" fmla="*/ 341194 h 1596788"/>
              <a:gd name="connsiteX9" fmla="*/ 259307 w 5268036"/>
              <a:gd name="connsiteY9" fmla="*/ 429904 h 1596788"/>
              <a:gd name="connsiteX10" fmla="*/ 354842 w 5268036"/>
              <a:gd name="connsiteY10" fmla="*/ 504967 h 1596788"/>
              <a:gd name="connsiteX11" fmla="*/ 416257 w 5268036"/>
              <a:gd name="connsiteY11" fmla="*/ 539086 h 1596788"/>
              <a:gd name="connsiteX12" fmla="*/ 470848 w 5268036"/>
              <a:gd name="connsiteY12" fmla="*/ 593677 h 1596788"/>
              <a:gd name="connsiteX13" fmla="*/ 511791 w 5268036"/>
              <a:gd name="connsiteY13" fmla="*/ 634621 h 1596788"/>
              <a:gd name="connsiteX14" fmla="*/ 552734 w 5268036"/>
              <a:gd name="connsiteY14" fmla="*/ 682388 h 1596788"/>
              <a:gd name="connsiteX15" fmla="*/ 689212 w 5268036"/>
              <a:gd name="connsiteY15" fmla="*/ 771098 h 1596788"/>
              <a:gd name="connsiteX16" fmla="*/ 757451 w 5268036"/>
              <a:gd name="connsiteY16" fmla="*/ 818865 h 1596788"/>
              <a:gd name="connsiteX17" fmla="*/ 777922 w 5268036"/>
              <a:gd name="connsiteY17" fmla="*/ 846161 h 1596788"/>
              <a:gd name="connsiteX18" fmla="*/ 832513 w 5268036"/>
              <a:gd name="connsiteY18" fmla="*/ 873456 h 1596788"/>
              <a:gd name="connsiteX19" fmla="*/ 914400 w 5268036"/>
              <a:gd name="connsiteY19" fmla="*/ 928048 h 1596788"/>
              <a:gd name="connsiteX20" fmla="*/ 941695 w 5268036"/>
              <a:gd name="connsiteY20" fmla="*/ 955343 h 1596788"/>
              <a:gd name="connsiteX21" fmla="*/ 975815 w 5268036"/>
              <a:gd name="connsiteY21" fmla="*/ 968991 h 1596788"/>
              <a:gd name="connsiteX22" fmla="*/ 1009934 w 5268036"/>
              <a:gd name="connsiteY22" fmla="*/ 996286 h 1596788"/>
              <a:gd name="connsiteX23" fmla="*/ 1030406 w 5268036"/>
              <a:gd name="connsiteY23" fmla="*/ 1016758 h 1596788"/>
              <a:gd name="connsiteX24" fmla="*/ 1078173 w 5268036"/>
              <a:gd name="connsiteY24" fmla="*/ 1037230 h 1596788"/>
              <a:gd name="connsiteX25" fmla="*/ 1153236 w 5268036"/>
              <a:gd name="connsiteY25" fmla="*/ 1084997 h 1596788"/>
              <a:gd name="connsiteX26" fmla="*/ 1173707 w 5268036"/>
              <a:gd name="connsiteY26" fmla="*/ 1098645 h 1596788"/>
              <a:gd name="connsiteX27" fmla="*/ 1201003 w 5268036"/>
              <a:gd name="connsiteY27" fmla="*/ 1112292 h 1596788"/>
              <a:gd name="connsiteX28" fmla="*/ 1262418 w 5268036"/>
              <a:gd name="connsiteY28" fmla="*/ 1180531 h 1596788"/>
              <a:gd name="connsiteX29" fmla="*/ 1330657 w 5268036"/>
              <a:gd name="connsiteY29" fmla="*/ 1207827 h 1596788"/>
              <a:gd name="connsiteX30" fmla="*/ 1357952 w 5268036"/>
              <a:gd name="connsiteY30" fmla="*/ 1235122 h 1596788"/>
              <a:gd name="connsiteX31" fmla="*/ 1453486 w 5268036"/>
              <a:gd name="connsiteY31" fmla="*/ 1282889 h 1596788"/>
              <a:gd name="connsiteX32" fmla="*/ 1508077 w 5268036"/>
              <a:gd name="connsiteY32" fmla="*/ 1317009 h 1596788"/>
              <a:gd name="connsiteX33" fmla="*/ 1562668 w 5268036"/>
              <a:gd name="connsiteY33" fmla="*/ 1330656 h 1596788"/>
              <a:gd name="connsiteX34" fmla="*/ 1678674 w 5268036"/>
              <a:gd name="connsiteY34" fmla="*/ 1364776 h 1596788"/>
              <a:gd name="connsiteX35" fmla="*/ 1740089 w 5268036"/>
              <a:gd name="connsiteY35" fmla="*/ 1378424 h 1596788"/>
              <a:gd name="connsiteX36" fmla="*/ 1869743 w 5268036"/>
              <a:gd name="connsiteY36" fmla="*/ 1419367 h 1596788"/>
              <a:gd name="connsiteX37" fmla="*/ 2006221 w 5268036"/>
              <a:gd name="connsiteY37" fmla="*/ 1453486 h 1596788"/>
              <a:gd name="connsiteX38" fmla="*/ 2149522 w 5268036"/>
              <a:gd name="connsiteY38" fmla="*/ 1460310 h 1596788"/>
              <a:gd name="connsiteX39" fmla="*/ 2231409 w 5268036"/>
              <a:gd name="connsiteY39" fmla="*/ 1487606 h 1596788"/>
              <a:gd name="connsiteX40" fmla="*/ 2306471 w 5268036"/>
              <a:gd name="connsiteY40" fmla="*/ 1494430 h 1596788"/>
              <a:gd name="connsiteX41" fmla="*/ 2572603 w 5268036"/>
              <a:gd name="connsiteY41" fmla="*/ 1501253 h 1596788"/>
              <a:gd name="connsiteX42" fmla="*/ 2715904 w 5268036"/>
              <a:gd name="connsiteY42" fmla="*/ 1549021 h 1596788"/>
              <a:gd name="connsiteX43" fmla="*/ 2790967 w 5268036"/>
              <a:gd name="connsiteY43" fmla="*/ 1562668 h 1596788"/>
              <a:gd name="connsiteX44" fmla="*/ 2982036 w 5268036"/>
              <a:gd name="connsiteY44" fmla="*/ 1583140 h 1596788"/>
              <a:gd name="connsiteX45" fmla="*/ 3295934 w 5268036"/>
              <a:gd name="connsiteY45" fmla="*/ 1596788 h 1596788"/>
              <a:gd name="connsiteX46" fmla="*/ 3650776 w 5268036"/>
              <a:gd name="connsiteY46" fmla="*/ 1589964 h 1596788"/>
              <a:gd name="connsiteX47" fmla="*/ 3691719 w 5268036"/>
              <a:gd name="connsiteY47" fmla="*/ 1583140 h 1596788"/>
              <a:gd name="connsiteX48" fmla="*/ 3910083 w 5268036"/>
              <a:gd name="connsiteY48" fmla="*/ 1514901 h 1596788"/>
              <a:gd name="connsiteX49" fmla="*/ 4087504 w 5268036"/>
              <a:gd name="connsiteY49" fmla="*/ 1467134 h 1596788"/>
              <a:gd name="connsiteX50" fmla="*/ 4135271 w 5268036"/>
              <a:gd name="connsiteY50" fmla="*/ 1439839 h 1596788"/>
              <a:gd name="connsiteX51" fmla="*/ 4176215 w 5268036"/>
              <a:gd name="connsiteY51" fmla="*/ 1419367 h 1596788"/>
              <a:gd name="connsiteX52" fmla="*/ 4285397 w 5268036"/>
              <a:gd name="connsiteY52" fmla="*/ 1337480 h 1596788"/>
              <a:gd name="connsiteX53" fmla="*/ 4572000 w 5268036"/>
              <a:gd name="connsiteY53" fmla="*/ 1214651 h 1596788"/>
              <a:gd name="connsiteX54" fmla="*/ 4633415 w 5268036"/>
              <a:gd name="connsiteY54" fmla="*/ 1180531 h 1596788"/>
              <a:gd name="connsiteX55" fmla="*/ 4742597 w 5268036"/>
              <a:gd name="connsiteY55" fmla="*/ 1132764 h 1596788"/>
              <a:gd name="connsiteX56" fmla="*/ 4790364 w 5268036"/>
              <a:gd name="connsiteY56" fmla="*/ 1098645 h 1596788"/>
              <a:gd name="connsiteX57" fmla="*/ 4899546 w 5268036"/>
              <a:gd name="connsiteY57" fmla="*/ 1044053 h 1596788"/>
              <a:gd name="connsiteX58" fmla="*/ 4988257 w 5268036"/>
              <a:gd name="connsiteY58" fmla="*/ 982639 h 1596788"/>
              <a:gd name="connsiteX59" fmla="*/ 5029200 w 5268036"/>
              <a:gd name="connsiteY59" fmla="*/ 968991 h 1596788"/>
              <a:gd name="connsiteX60" fmla="*/ 5083791 w 5268036"/>
              <a:gd name="connsiteY60" fmla="*/ 928048 h 1596788"/>
              <a:gd name="connsiteX61" fmla="*/ 5111086 w 5268036"/>
              <a:gd name="connsiteY61" fmla="*/ 921224 h 1596788"/>
              <a:gd name="connsiteX62" fmla="*/ 5145206 w 5268036"/>
              <a:gd name="connsiteY62" fmla="*/ 873456 h 1596788"/>
              <a:gd name="connsiteX63" fmla="*/ 5158854 w 5268036"/>
              <a:gd name="connsiteY63" fmla="*/ 846161 h 1596788"/>
              <a:gd name="connsiteX64" fmla="*/ 5186149 w 5268036"/>
              <a:gd name="connsiteY64" fmla="*/ 839337 h 1596788"/>
              <a:gd name="connsiteX65" fmla="*/ 5206621 w 5268036"/>
              <a:gd name="connsiteY65" fmla="*/ 832513 h 1596788"/>
              <a:gd name="connsiteX66" fmla="*/ 5227092 w 5268036"/>
              <a:gd name="connsiteY66" fmla="*/ 812042 h 1596788"/>
              <a:gd name="connsiteX67" fmla="*/ 5233916 w 5268036"/>
              <a:gd name="connsiteY67" fmla="*/ 791570 h 1596788"/>
              <a:gd name="connsiteX68" fmla="*/ 5261212 w 5268036"/>
              <a:gd name="connsiteY68" fmla="*/ 777922 h 1596788"/>
              <a:gd name="connsiteX69" fmla="*/ 5268036 w 5268036"/>
              <a:gd name="connsiteY69" fmla="*/ 771098 h 15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5268036" h="1596788">
                <a:moveTo>
                  <a:pt x="0" y="0"/>
                </a:moveTo>
                <a:cubicBezTo>
                  <a:pt x="11373" y="29570"/>
                  <a:pt x="27906" y="57644"/>
                  <a:pt x="34119" y="88710"/>
                </a:cubicBezTo>
                <a:cubicBezTo>
                  <a:pt x="36394" y="100083"/>
                  <a:pt x="37891" y="111640"/>
                  <a:pt x="40943" y="122830"/>
                </a:cubicBezTo>
                <a:cubicBezTo>
                  <a:pt x="44728" y="136709"/>
                  <a:pt x="46611" y="151803"/>
                  <a:pt x="54591" y="163773"/>
                </a:cubicBezTo>
                <a:cubicBezTo>
                  <a:pt x="60900" y="173236"/>
                  <a:pt x="72788" y="177421"/>
                  <a:pt x="81886" y="184245"/>
                </a:cubicBezTo>
                <a:cubicBezTo>
                  <a:pt x="86435" y="193343"/>
                  <a:pt x="91325" y="202280"/>
                  <a:pt x="95534" y="211540"/>
                </a:cubicBezTo>
                <a:cubicBezTo>
                  <a:pt x="102702" y="227310"/>
                  <a:pt x="106146" y="245064"/>
                  <a:pt x="116006" y="259307"/>
                </a:cubicBezTo>
                <a:cubicBezTo>
                  <a:pt x="126992" y="275176"/>
                  <a:pt x="143301" y="286603"/>
                  <a:pt x="156949" y="300251"/>
                </a:cubicBezTo>
                <a:cubicBezTo>
                  <a:pt x="161498" y="313899"/>
                  <a:pt x="161683" y="329903"/>
                  <a:pt x="170597" y="341194"/>
                </a:cubicBezTo>
                <a:cubicBezTo>
                  <a:pt x="196510" y="374016"/>
                  <a:pt x="227556" y="402689"/>
                  <a:pt x="259307" y="429904"/>
                </a:cubicBezTo>
                <a:cubicBezTo>
                  <a:pt x="295212" y="460680"/>
                  <a:pt x="314939" y="480028"/>
                  <a:pt x="354842" y="504967"/>
                </a:cubicBezTo>
                <a:cubicBezTo>
                  <a:pt x="374701" y="517379"/>
                  <a:pt x="397654" y="524860"/>
                  <a:pt x="416257" y="539086"/>
                </a:cubicBezTo>
                <a:cubicBezTo>
                  <a:pt x="436699" y="554718"/>
                  <a:pt x="452651" y="575480"/>
                  <a:pt x="470848" y="593677"/>
                </a:cubicBezTo>
                <a:cubicBezTo>
                  <a:pt x="484496" y="607325"/>
                  <a:pt x="499230" y="619967"/>
                  <a:pt x="511791" y="634621"/>
                </a:cubicBezTo>
                <a:cubicBezTo>
                  <a:pt x="525439" y="650543"/>
                  <a:pt x="536503" y="669108"/>
                  <a:pt x="552734" y="682388"/>
                </a:cubicBezTo>
                <a:cubicBezTo>
                  <a:pt x="622019" y="739076"/>
                  <a:pt x="633533" y="743260"/>
                  <a:pt x="689212" y="771098"/>
                </a:cubicBezTo>
                <a:cubicBezTo>
                  <a:pt x="782580" y="864470"/>
                  <a:pt x="639439" y="727078"/>
                  <a:pt x="757451" y="818865"/>
                </a:cubicBezTo>
                <a:cubicBezTo>
                  <a:pt x="766428" y="825847"/>
                  <a:pt x="768724" y="839472"/>
                  <a:pt x="777922" y="846161"/>
                </a:cubicBezTo>
                <a:cubicBezTo>
                  <a:pt x="794376" y="858127"/>
                  <a:pt x="814316" y="864358"/>
                  <a:pt x="832513" y="873456"/>
                </a:cubicBezTo>
                <a:cubicBezTo>
                  <a:pt x="912069" y="953012"/>
                  <a:pt x="816106" y="865497"/>
                  <a:pt x="914400" y="928048"/>
                </a:cubicBezTo>
                <a:cubicBezTo>
                  <a:pt x="925255" y="934956"/>
                  <a:pt x="930989" y="948206"/>
                  <a:pt x="941695" y="955343"/>
                </a:cubicBezTo>
                <a:cubicBezTo>
                  <a:pt x="951887" y="962138"/>
                  <a:pt x="965311" y="962689"/>
                  <a:pt x="975815" y="968991"/>
                </a:cubicBezTo>
                <a:cubicBezTo>
                  <a:pt x="988304" y="976484"/>
                  <a:pt x="998973" y="986695"/>
                  <a:pt x="1009934" y="996286"/>
                </a:cubicBezTo>
                <a:cubicBezTo>
                  <a:pt x="1017197" y="1002641"/>
                  <a:pt x="1022131" y="1011793"/>
                  <a:pt x="1030406" y="1016758"/>
                </a:cubicBezTo>
                <a:cubicBezTo>
                  <a:pt x="1045260" y="1025671"/>
                  <a:pt x="1063030" y="1028817"/>
                  <a:pt x="1078173" y="1037230"/>
                </a:cubicBezTo>
                <a:cubicBezTo>
                  <a:pt x="1104098" y="1051633"/>
                  <a:pt x="1128560" y="1068545"/>
                  <a:pt x="1153236" y="1084997"/>
                </a:cubicBezTo>
                <a:cubicBezTo>
                  <a:pt x="1160060" y="1089546"/>
                  <a:pt x="1166586" y="1094576"/>
                  <a:pt x="1173707" y="1098645"/>
                </a:cubicBezTo>
                <a:cubicBezTo>
                  <a:pt x="1182539" y="1103692"/>
                  <a:pt x="1191904" y="1107743"/>
                  <a:pt x="1201003" y="1112292"/>
                </a:cubicBezTo>
                <a:cubicBezTo>
                  <a:pt x="1215364" y="1130245"/>
                  <a:pt x="1243377" y="1167837"/>
                  <a:pt x="1262418" y="1180531"/>
                </a:cubicBezTo>
                <a:cubicBezTo>
                  <a:pt x="1277956" y="1190890"/>
                  <a:pt x="1309879" y="1200901"/>
                  <a:pt x="1330657" y="1207827"/>
                </a:cubicBezTo>
                <a:cubicBezTo>
                  <a:pt x="1339755" y="1216925"/>
                  <a:pt x="1347795" y="1227222"/>
                  <a:pt x="1357952" y="1235122"/>
                </a:cubicBezTo>
                <a:cubicBezTo>
                  <a:pt x="1388007" y="1258498"/>
                  <a:pt x="1419262" y="1264771"/>
                  <a:pt x="1453486" y="1282889"/>
                </a:cubicBezTo>
                <a:cubicBezTo>
                  <a:pt x="1472451" y="1292929"/>
                  <a:pt x="1488417" y="1308408"/>
                  <a:pt x="1508077" y="1317009"/>
                </a:cubicBezTo>
                <a:cubicBezTo>
                  <a:pt x="1525261" y="1324527"/>
                  <a:pt x="1544606" y="1325599"/>
                  <a:pt x="1562668" y="1330656"/>
                </a:cubicBezTo>
                <a:cubicBezTo>
                  <a:pt x="1601482" y="1341524"/>
                  <a:pt x="1639327" y="1356032"/>
                  <a:pt x="1678674" y="1364776"/>
                </a:cubicBezTo>
                <a:cubicBezTo>
                  <a:pt x="1699146" y="1369325"/>
                  <a:pt x="1720091" y="1372109"/>
                  <a:pt x="1740089" y="1378424"/>
                </a:cubicBezTo>
                <a:cubicBezTo>
                  <a:pt x="1952714" y="1445568"/>
                  <a:pt x="1677484" y="1372960"/>
                  <a:pt x="1869743" y="1419367"/>
                </a:cubicBezTo>
                <a:cubicBezTo>
                  <a:pt x="1915327" y="1430370"/>
                  <a:pt x="1959381" y="1451255"/>
                  <a:pt x="2006221" y="1453486"/>
                </a:cubicBezTo>
                <a:lnTo>
                  <a:pt x="2149522" y="1460310"/>
                </a:lnTo>
                <a:cubicBezTo>
                  <a:pt x="2176818" y="1469409"/>
                  <a:pt x="2203294" y="1481494"/>
                  <a:pt x="2231409" y="1487606"/>
                </a:cubicBezTo>
                <a:cubicBezTo>
                  <a:pt x="2255959" y="1492943"/>
                  <a:pt x="2281367" y="1493426"/>
                  <a:pt x="2306471" y="1494430"/>
                </a:cubicBezTo>
                <a:cubicBezTo>
                  <a:pt x="2395140" y="1497977"/>
                  <a:pt x="2483892" y="1498979"/>
                  <a:pt x="2572603" y="1501253"/>
                </a:cubicBezTo>
                <a:cubicBezTo>
                  <a:pt x="2791011" y="1537655"/>
                  <a:pt x="2534310" y="1485464"/>
                  <a:pt x="2715904" y="1549021"/>
                </a:cubicBezTo>
                <a:cubicBezTo>
                  <a:pt x="2739907" y="1557422"/>
                  <a:pt x="2765882" y="1558487"/>
                  <a:pt x="2790967" y="1562668"/>
                </a:cubicBezTo>
                <a:cubicBezTo>
                  <a:pt x="2847293" y="1572055"/>
                  <a:pt x="2938899" y="1580565"/>
                  <a:pt x="2982036" y="1583140"/>
                </a:cubicBezTo>
                <a:cubicBezTo>
                  <a:pt x="3086581" y="1589382"/>
                  <a:pt x="3295934" y="1596788"/>
                  <a:pt x="3295934" y="1596788"/>
                </a:cubicBezTo>
                <a:lnTo>
                  <a:pt x="3650776" y="1589964"/>
                </a:lnTo>
                <a:cubicBezTo>
                  <a:pt x="3664604" y="1589487"/>
                  <a:pt x="3678180" y="1585990"/>
                  <a:pt x="3691719" y="1583140"/>
                </a:cubicBezTo>
                <a:cubicBezTo>
                  <a:pt x="3833061" y="1553383"/>
                  <a:pt x="3740187" y="1571533"/>
                  <a:pt x="3910083" y="1514901"/>
                </a:cubicBezTo>
                <a:cubicBezTo>
                  <a:pt x="3962606" y="1497393"/>
                  <a:pt x="4033009" y="1480758"/>
                  <a:pt x="4087504" y="1467134"/>
                </a:cubicBezTo>
                <a:cubicBezTo>
                  <a:pt x="4103426" y="1458036"/>
                  <a:pt x="4119124" y="1448533"/>
                  <a:pt x="4135271" y="1439839"/>
                </a:cubicBezTo>
                <a:cubicBezTo>
                  <a:pt x="4148706" y="1432605"/>
                  <a:pt x="4163669" y="1428053"/>
                  <a:pt x="4176215" y="1419367"/>
                </a:cubicBezTo>
                <a:cubicBezTo>
                  <a:pt x="4232614" y="1380322"/>
                  <a:pt x="4218323" y="1369044"/>
                  <a:pt x="4285397" y="1337480"/>
                </a:cubicBezTo>
                <a:cubicBezTo>
                  <a:pt x="4379442" y="1293223"/>
                  <a:pt x="4481142" y="1265128"/>
                  <a:pt x="4572000" y="1214651"/>
                </a:cubicBezTo>
                <a:cubicBezTo>
                  <a:pt x="4592472" y="1203278"/>
                  <a:pt x="4612152" y="1190345"/>
                  <a:pt x="4633415" y="1180531"/>
                </a:cubicBezTo>
                <a:cubicBezTo>
                  <a:pt x="4714421" y="1143143"/>
                  <a:pt x="4573885" y="1253272"/>
                  <a:pt x="4742597" y="1132764"/>
                </a:cubicBezTo>
                <a:cubicBezTo>
                  <a:pt x="4758519" y="1121391"/>
                  <a:pt x="4773330" y="1108273"/>
                  <a:pt x="4790364" y="1098645"/>
                </a:cubicBezTo>
                <a:cubicBezTo>
                  <a:pt x="4825787" y="1078623"/>
                  <a:pt x="4866994" y="1068467"/>
                  <a:pt x="4899546" y="1044053"/>
                </a:cubicBezTo>
                <a:cubicBezTo>
                  <a:pt x="4919480" y="1029103"/>
                  <a:pt x="4961028" y="995016"/>
                  <a:pt x="4988257" y="982639"/>
                </a:cubicBezTo>
                <a:cubicBezTo>
                  <a:pt x="5001354" y="976686"/>
                  <a:pt x="5016104" y="974944"/>
                  <a:pt x="5029200" y="968991"/>
                </a:cubicBezTo>
                <a:cubicBezTo>
                  <a:pt x="5169267" y="905322"/>
                  <a:pt x="4982873" y="985715"/>
                  <a:pt x="5083791" y="928048"/>
                </a:cubicBezTo>
                <a:cubicBezTo>
                  <a:pt x="5091934" y="923395"/>
                  <a:pt x="5101988" y="923499"/>
                  <a:pt x="5111086" y="921224"/>
                </a:cubicBezTo>
                <a:cubicBezTo>
                  <a:pt x="5148489" y="846419"/>
                  <a:pt x="5099100" y="938003"/>
                  <a:pt x="5145206" y="873456"/>
                </a:cubicBezTo>
                <a:cubicBezTo>
                  <a:pt x="5151119" y="865179"/>
                  <a:pt x="5151039" y="852673"/>
                  <a:pt x="5158854" y="846161"/>
                </a:cubicBezTo>
                <a:cubicBezTo>
                  <a:pt x="5166059" y="840157"/>
                  <a:pt x="5177131" y="841913"/>
                  <a:pt x="5186149" y="839337"/>
                </a:cubicBezTo>
                <a:cubicBezTo>
                  <a:pt x="5193065" y="837361"/>
                  <a:pt x="5199797" y="834788"/>
                  <a:pt x="5206621" y="832513"/>
                </a:cubicBezTo>
                <a:cubicBezTo>
                  <a:pt x="5213445" y="825689"/>
                  <a:pt x="5221739" y="820071"/>
                  <a:pt x="5227092" y="812042"/>
                </a:cubicBezTo>
                <a:cubicBezTo>
                  <a:pt x="5231082" y="806057"/>
                  <a:pt x="5228830" y="796656"/>
                  <a:pt x="5233916" y="791570"/>
                </a:cubicBezTo>
                <a:cubicBezTo>
                  <a:pt x="5241109" y="784377"/>
                  <a:pt x="5252489" y="783156"/>
                  <a:pt x="5261212" y="777922"/>
                </a:cubicBezTo>
                <a:cubicBezTo>
                  <a:pt x="5263970" y="776267"/>
                  <a:pt x="5265761" y="773373"/>
                  <a:pt x="5268036" y="771098"/>
                </a:cubicBez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351DFD77-D617-AA24-D7BD-D0F87EE29D62}"/>
              </a:ext>
            </a:extLst>
          </p:cNvPr>
          <p:cNvSpPr/>
          <p:nvPr/>
        </p:nvSpPr>
        <p:spPr>
          <a:xfrm>
            <a:off x="1842666" y="3205169"/>
            <a:ext cx="5152314" cy="2551551"/>
          </a:xfrm>
          <a:custGeom>
            <a:avLst/>
            <a:gdLst>
              <a:gd name="connsiteX0" fmla="*/ 0 w 4653886"/>
              <a:gd name="connsiteY0" fmla="*/ 0 h 2375338"/>
              <a:gd name="connsiteX1" fmla="*/ 40943 w 4653886"/>
              <a:gd name="connsiteY1" fmla="*/ 61415 h 2375338"/>
              <a:gd name="connsiteX2" fmla="*/ 54591 w 4653886"/>
              <a:gd name="connsiteY2" fmla="*/ 88711 h 2375338"/>
              <a:gd name="connsiteX3" fmla="*/ 61415 w 4653886"/>
              <a:gd name="connsiteY3" fmla="*/ 116006 h 2375338"/>
              <a:gd name="connsiteX4" fmla="*/ 81886 w 4653886"/>
              <a:gd name="connsiteY4" fmla="*/ 129654 h 2375338"/>
              <a:gd name="connsiteX5" fmla="*/ 109182 w 4653886"/>
              <a:gd name="connsiteY5" fmla="*/ 150126 h 2375338"/>
              <a:gd name="connsiteX6" fmla="*/ 150125 w 4653886"/>
              <a:gd name="connsiteY6" fmla="*/ 191069 h 2375338"/>
              <a:gd name="connsiteX7" fmla="*/ 197892 w 4653886"/>
              <a:gd name="connsiteY7" fmla="*/ 272956 h 2375338"/>
              <a:gd name="connsiteX8" fmla="*/ 204716 w 4653886"/>
              <a:gd name="connsiteY8" fmla="*/ 293427 h 2375338"/>
              <a:gd name="connsiteX9" fmla="*/ 225188 w 4653886"/>
              <a:gd name="connsiteY9" fmla="*/ 300251 h 2375338"/>
              <a:gd name="connsiteX10" fmla="*/ 232012 w 4653886"/>
              <a:gd name="connsiteY10" fmla="*/ 341194 h 2375338"/>
              <a:gd name="connsiteX11" fmla="*/ 238836 w 4653886"/>
              <a:gd name="connsiteY11" fmla="*/ 361666 h 2375338"/>
              <a:gd name="connsiteX12" fmla="*/ 259307 w 4653886"/>
              <a:gd name="connsiteY12" fmla="*/ 388962 h 2375338"/>
              <a:gd name="connsiteX13" fmla="*/ 279779 w 4653886"/>
              <a:gd name="connsiteY13" fmla="*/ 423081 h 2375338"/>
              <a:gd name="connsiteX14" fmla="*/ 300251 w 4653886"/>
              <a:gd name="connsiteY14" fmla="*/ 491320 h 2375338"/>
              <a:gd name="connsiteX15" fmla="*/ 307074 w 4653886"/>
              <a:gd name="connsiteY15" fmla="*/ 518615 h 2375338"/>
              <a:gd name="connsiteX16" fmla="*/ 334370 w 4653886"/>
              <a:gd name="connsiteY16" fmla="*/ 566382 h 2375338"/>
              <a:gd name="connsiteX17" fmla="*/ 375313 w 4653886"/>
              <a:gd name="connsiteY17" fmla="*/ 607326 h 2375338"/>
              <a:gd name="connsiteX18" fmla="*/ 423080 w 4653886"/>
              <a:gd name="connsiteY18" fmla="*/ 689212 h 2375338"/>
              <a:gd name="connsiteX19" fmla="*/ 436728 w 4653886"/>
              <a:gd name="connsiteY19" fmla="*/ 723332 h 2375338"/>
              <a:gd name="connsiteX20" fmla="*/ 464024 w 4653886"/>
              <a:gd name="connsiteY20" fmla="*/ 736979 h 2375338"/>
              <a:gd name="connsiteX21" fmla="*/ 484495 w 4653886"/>
              <a:gd name="connsiteY21" fmla="*/ 757451 h 2375338"/>
              <a:gd name="connsiteX22" fmla="*/ 498143 w 4653886"/>
              <a:gd name="connsiteY22" fmla="*/ 784747 h 2375338"/>
              <a:gd name="connsiteX23" fmla="*/ 539086 w 4653886"/>
              <a:gd name="connsiteY23" fmla="*/ 818866 h 2375338"/>
              <a:gd name="connsiteX24" fmla="*/ 600501 w 4653886"/>
              <a:gd name="connsiteY24" fmla="*/ 846162 h 2375338"/>
              <a:gd name="connsiteX25" fmla="*/ 702860 w 4653886"/>
              <a:gd name="connsiteY25" fmla="*/ 921224 h 2375338"/>
              <a:gd name="connsiteX26" fmla="*/ 764274 w 4653886"/>
              <a:gd name="connsiteY26" fmla="*/ 982639 h 2375338"/>
              <a:gd name="connsiteX27" fmla="*/ 825689 w 4653886"/>
              <a:gd name="connsiteY27" fmla="*/ 1030406 h 2375338"/>
              <a:gd name="connsiteX28" fmla="*/ 839337 w 4653886"/>
              <a:gd name="connsiteY28" fmla="*/ 1078173 h 2375338"/>
              <a:gd name="connsiteX29" fmla="*/ 955343 w 4653886"/>
              <a:gd name="connsiteY29" fmla="*/ 1214651 h 2375338"/>
              <a:gd name="connsiteX30" fmla="*/ 1016758 w 4653886"/>
              <a:gd name="connsiteY30" fmla="*/ 1255594 h 2375338"/>
              <a:gd name="connsiteX31" fmla="*/ 1091821 w 4653886"/>
              <a:gd name="connsiteY31" fmla="*/ 1310185 h 2375338"/>
              <a:gd name="connsiteX32" fmla="*/ 1125940 w 4653886"/>
              <a:gd name="connsiteY32" fmla="*/ 1351129 h 2375338"/>
              <a:gd name="connsiteX33" fmla="*/ 1248770 w 4653886"/>
              <a:gd name="connsiteY33" fmla="*/ 1405720 h 2375338"/>
              <a:gd name="connsiteX34" fmla="*/ 1289713 w 4653886"/>
              <a:gd name="connsiteY34" fmla="*/ 1426191 h 2375338"/>
              <a:gd name="connsiteX35" fmla="*/ 1351128 w 4653886"/>
              <a:gd name="connsiteY35" fmla="*/ 1453487 h 2375338"/>
              <a:gd name="connsiteX36" fmla="*/ 1439839 w 4653886"/>
              <a:gd name="connsiteY36" fmla="*/ 1487606 h 2375338"/>
              <a:gd name="connsiteX37" fmla="*/ 1562668 w 4653886"/>
              <a:gd name="connsiteY37" fmla="*/ 1542197 h 2375338"/>
              <a:gd name="connsiteX38" fmla="*/ 1678674 w 4653886"/>
              <a:gd name="connsiteY38" fmla="*/ 1583141 h 2375338"/>
              <a:gd name="connsiteX39" fmla="*/ 1951630 w 4653886"/>
              <a:gd name="connsiteY39" fmla="*/ 1753738 h 2375338"/>
              <a:gd name="connsiteX40" fmla="*/ 2258704 w 4653886"/>
              <a:gd name="connsiteY40" fmla="*/ 1862920 h 2375338"/>
              <a:gd name="connsiteX41" fmla="*/ 2347415 w 4653886"/>
              <a:gd name="connsiteY41" fmla="*/ 1924335 h 2375338"/>
              <a:gd name="connsiteX42" fmla="*/ 2395182 w 4653886"/>
              <a:gd name="connsiteY42" fmla="*/ 1958454 h 2375338"/>
              <a:gd name="connsiteX43" fmla="*/ 2538483 w 4653886"/>
              <a:gd name="connsiteY43" fmla="*/ 2006221 h 2375338"/>
              <a:gd name="connsiteX44" fmla="*/ 2620370 w 4653886"/>
              <a:gd name="connsiteY44" fmla="*/ 2033517 h 2375338"/>
              <a:gd name="connsiteX45" fmla="*/ 2715904 w 4653886"/>
              <a:gd name="connsiteY45" fmla="*/ 2067636 h 2375338"/>
              <a:gd name="connsiteX46" fmla="*/ 2756848 w 4653886"/>
              <a:gd name="connsiteY46" fmla="*/ 2074460 h 2375338"/>
              <a:gd name="connsiteX47" fmla="*/ 2838734 w 4653886"/>
              <a:gd name="connsiteY47" fmla="*/ 2094932 h 2375338"/>
              <a:gd name="connsiteX48" fmla="*/ 2879677 w 4653886"/>
              <a:gd name="connsiteY48" fmla="*/ 2101756 h 2375338"/>
              <a:gd name="connsiteX49" fmla="*/ 2927445 w 4653886"/>
              <a:gd name="connsiteY49" fmla="*/ 2115403 h 2375338"/>
              <a:gd name="connsiteX50" fmla="*/ 3118513 w 4653886"/>
              <a:gd name="connsiteY50" fmla="*/ 2122227 h 2375338"/>
              <a:gd name="connsiteX51" fmla="*/ 3323230 w 4653886"/>
              <a:gd name="connsiteY51" fmla="*/ 2156347 h 2375338"/>
              <a:gd name="connsiteX52" fmla="*/ 3405116 w 4653886"/>
              <a:gd name="connsiteY52" fmla="*/ 2169994 h 2375338"/>
              <a:gd name="connsiteX53" fmla="*/ 3432412 w 4653886"/>
              <a:gd name="connsiteY53" fmla="*/ 2176818 h 2375338"/>
              <a:gd name="connsiteX54" fmla="*/ 3521122 w 4653886"/>
              <a:gd name="connsiteY54" fmla="*/ 2190466 h 2375338"/>
              <a:gd name="connsiteX55" fmla="*/ 3575713 w 4653886"/>
              <a:gd name="connsiteY55" fmla="*/ 2197290 h 2375338"/>
              <a:gd name="connsiteX56" fmla="*/ 3603009 w 4653886"/>
              <a:gd name="connsiteY56" fmla="*/ 2204114 h 2375338"/>
              <a:gd name="connsiteX57" fmla="*/ 3657600 w 4653886"/>
              <a:gd name="connsiteY57" fmla="*/ 2231409 h 2375338"/>
              <a:gd name="connsiteX58" fmla="*/ 3678071 w 4653886"/>
              <a:gd name="connsiteY58" fmla="*/ 2238233 h 2375338"/>
              <a:gd name="connsiteX59" fmla="*/ 3719015 w 4653886"/>
              <a:gd name="connsiteY59" fmla="*/ 2258705 h 2375338"/>
              <a:gd name="connsiteX60" fmla="*/ 3739486 w 4653886"/>
              <a:gd name="connsiteY60" fmla="*/ 2265529 h 2375338"/>
              <a:gd name="connsiteX61" fmla="*/ 3807725 w 4653886"/>
              <a:gd name="connsiteY61" fmla="*/ 2279176 h 2375338"/>
              <a:gd name="connsiteX62" fmla="*/ 3835021 w 4653886"/>
              <a:gd name="connsiteY62" fmla="*/ 2292824 h 2375338"/>
              <a:gd name="connsiteX63" fmla="*/ 3923731 w 4653886"/>
              <a:gd name="connsiteY63" fmla="*/ 2313296 h 2375338"/>
              <a:gd name="connsiteX64" fmla="*/ 4135271 w 4653886"/>
              <a:gd name="connsiteY64" fmla="*/ 2326944 h 2375338"/>
              <a:gd name="connsiteX65" fmla="*/ 4258101 w 4653886"/>
              <a:gd name="connsiteY65" fmla="*/ 2347415 h 2375338"/>
              <a:gd name="connsiteX66" fmla="*/ 4367283 w 4653886"/>
              <a:gd name="connsiteY66" fmla="*/ 2367887 h 2375338"/>
              <a:gd name="connsiteX67" fmla="*/ 4653886 w 4653886"/>
              <a:gd name="connsiteY67" fmla="*/ 2374711 h 237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653886" h="2375338">
                <a:moveTo>
                  <a:pt x="0" y="0"/>
                </a:moveTo>
                <a:cubicBezTo>
                  <a:pt x="28207" y="70518"/>
                  <a:pt x="-5287" y="-226"/>
                  <a:pt x="40943" y="61415"/>
                </a:cubicBezTo>
                <a:cubicBezTo>
                  <a:pt x="47047" y="69553"/>
                  <a:pt x="51019" y="79186"/>
                  <a:pt x="54591" y="88711"/>
                </a:cubicBezTo>
                <a:cubicBezTo>
                  <a:pt x="57884" y="97492"/>
                  <a:pt x="56213" y="108203"/>
                  <a:pt x="61415" y="116006"/>
                </a:cubicBezTo>
                <a:cubicBezTo>
                  <a:pt x="65964" y="122830"/>
                  <a:pt x="75212" y="124887"/>
                  <a:pt x="81886" y="129654"/>
                </a:cubicBezTo>
                <a:cubicBezTo>
                  <a:pt x="91141" y="136265"/>
                  <a:pt x="101140" y="142084"/>
                  <a:pt x="109182" y="150126"/>
                </a:cubicBezTo>
                <a:cubicBezTo>
                  <a:pt x="159970" y="200912"/>
                  <a:pt x="101879" y="158903"/>
                  <a:pt x="150125" y="191069"/>
                </a:cubicBezTo>
                <a:cubicBezTo>
                  <a:pt x="182507" y="255832"/>
                  <a:pt x="165214" y="229384"/>
                  <a:pt x="197892" y="272956"/>
                </a:cubicBezTo>
                <a:cubicBezTo>
                  <a:pt x="200167" y="279780"/>
                  <a:pt x="199630" y="288341"/>
                  <a:pt x="204716" y="293427"/>
                </a:cubicBezTo>
                <a:cubicBezTo>
                  <a:pt x="209802" y="298513"/>
                  <a:pt x="221619" y="294006"/>
                  <a:pt x="225188" y="300251"/>
                </a:cubicBezTo>
                <a:cubicBezTo>
                  <a:pt x="232053" y="312264"/>
                  <a:pt x="229011" y="327688"/>
                  <a:pt x="232012" y="341194"/>
                </a:cubicBezTo>
                <a:cubicBezTo>
                  <a:pt x="233572" y="348216"/>
                  <a:pt x="235267" y="355421"/>
                  <a:pt x="238836" y="361666"/>
                </a:cubicBezTo>
                <a:cubicBezTo>
                  <a:pt x="244478" y="371541"/>
                  <a:pt x="252998" y="379499"/>
                  <a:pt x="259307" y="388962"/>
                </a:cubicBezTo>
                <a:cubicBezTo>
                  <a:pt x="266664" y="399998"/>
                  <a:pt x="272955" y="411708"/>
                  <a:pt x="279779" y="423081"/>
                </a:cubicBezTo>
                <a:cubicBezTo>
                  <a:pt x="295511" y="486009"/>
                  <a:pt x="275324" y="408228"/>
                  <a:pt x="300251" y="491320"/>
                </a:cubicBezTo>
                <a:cubicBezTo>
                  <a:pt x="302946" y="500303"/>
                  <a:pt x="303781" y="509834"/>
                  <a:pt x="307074" y="518615"/>
                </a:cubicBezTo>
                <a:cubicBezTo>
                  <a:pt x="311082" y="529304"/>
                  <a:pt x="325807" y="556749"/>
                  <a:pt x="334370" y="566382"/>
                </a:cubicBezTo>
                <a:cubicBezTo>
                  <a:pt x="347193" y="580808"/>
                  <a:pt x="365588" y="590654"/>
                  <a:pt x="375313" y="607326"/>
                </a:cubicBezTo>
                <a:cubicBezTo>
                  <a:pt x="391235" y="634621"/>
                  <a:pt x="411344" y="659872"/>
                  <a:pt x="423080" y="689212"/>
                </a:cubicBezTo>
                <a:cubicBezTo>
                  <a:pt x="427629" y="700585"/>
                  <a:pt x="428756" y="714032"/>
                  <a:pt x="436728" y="723332"/>
                </a:cubicBezTo>
                <a:cubicBezTo>
                  <a:pt x="443348" y="731055"/>
                  <a:pt x="454925" y="732430"/>
                  <a:pt x="464024" y="736979"/>
                </a:cubicBezTo>
                <a:cubicBezTo>
                  <a:pt x="470848" y="743803"/>
                  <a:pt x="478886" y="749598"/>
                  <a:pt x="484495" y="757451"/>
                </a:cubicBezTo>
                <a:cubicBezTo>
                  <a:pt x="490408" y="765729"/>
                  <a:pt x="491385" y="777144"/>
                  <a:pt x="498143" y="784747"/>
                </a:cubicBezTo>
                <a:cubicBezTo>
                  <a:pt x="509946" y="798025"/>
                  <a:pt x="524532" y="808678"/>
                  <a:pt x="539086" y="818866"/>
                </a:cubicBezTo>
                <a:cubicBezTo>
                  <a:pt x="551836" y="827791"/>
                  <a:pt x="587645" y="841019"/>
                  <a:pt x="600501" y="846162"/>
                </a:cubicBezTo>
                <a:cubicBezTo>
                  <a:pt x="722537" y="968195"/>
                  <a:pt x="546273" y="799433"/>
                  <a:pt x="702860" y="921224"/>
                </a:cubicBezTo>
                <a:cubicBezTo>
                  <a:pt x="725713" y="938998"/>
                  <a:pt x="742636" y="963405"/>
                  <a:pt x="764274" y="982639"/>
                </a:cubicBezTo>
                <a:cubicBezTo>
                  <a:pt x="783658" y="999869"/>
                  <a:pt x="805217" y="1014484"/>
                  <a:pt x="825689" y="1030406"/>
                </a:cubicBezTo>
                <a:cubicBezTo>
                  <a:pt x="830238" y="1046328"/>
                  <a:pt x="832334" y="1063167"/>
                  <a:pt x="839337" y="1078173"/>
                </a:cubicBezTo>
                <a:cubicBezTo>
                  <a:pt x="861660" y="1126008"/>
                  <a:pt x="916307" y="1188627"/>
                  <a:pt x="955343" y="1214651"/>
                </a:cubicBezTo>
                <a:cubicBezTo>
                  <a:pt x="975815" y="1228299"/>
                  <a:pt x="996860" y="1241123"/>
                  <a:pt x="1016758" y="1255594"/>
                </a:cubicBezTo>
                <a:cubicBezTo>
                  <a:pt x="1041779" y="1273791"/>
                  <a:pt x="1072015" y="1286417"/>
                  <a:pt x="1091821" y="1310185"/>
                </a:cubicBezTo>
                <a:cubicBezTo>
                  <a:pt x="1103194" y="1323833"/>
                  <a:pt x="1111614" y="1340623"/>
                  <a:pt x="1125940" y="1351129"/>
                </a:cubicBezTo>
                <a:cubicBezTo>
                  <a:pt x="1164037" y="1379067"/>
                  <a:pt x="1206686" y="1387684"/>
                  <a:pt x="1248770" y="1405720"/>
                </a:cubicBezTo>
                <a:cubicBezTo>
                  <a:pt x="1262795" y="1411731"/>
                  <a:pt x="1275886" y="1419738"/>
                  <a:pt x="1289713" y="1426191"/>
                </a:cubicBezTo>
                <a:cubicBezTo>
                  <a:pt x="1310014" y="1435665"/>
                  <a:pt x="1330393" y="1445005"/>
                  <a:pt x="1351128" y="1453487"/>
                </a:cubicBezTo>
                <a:cubicBezTo>
                  <a:pt x="1380451" y="1465483"/>
                  <a:pt x="1410888" y="1474739"/>
                  <a:pt x="1439839" y="1487606"/>
                </a:cubicBezTo>
                <a:cubicBezTo>
                  <a:pt x="1480782" y="1505803"/>
                  <a:pt x="1519201" y="1531330"/>
                  <a:pt x="1562668" y="1542197"/>
                </a:cubicBezTo>
                <a:cubicBezTo>
                  <a:pt x="1611262" y="1554346"/>
                  <a:pt x="1633239" y="1556507"/>
                  <a:pt x="1678674" y="1583141"/>
                </a:cubicBezTo>
                <a:cubicBezTo>
                  <a:pt x="1713620" y="1603626"/>
                  <a:pt x="1911397" y="1738915"/>
                  <a:pt x="1951630" y="1753738"/>
                </a:cubicBezTo>
                <a:cubicBezTo>
                  <a:pt x="2226475" y="1854997"/>
                  <a:pt x="2122366" y="1823966"/>
                  <a:pt x="2258704" y="1862920"/>
                </a:cubicBezTo>
                <a:cubicBezTo>
                  <a:pt x="2359985" y="1964201"/>
                  <a:pt x="2257418" y="1875876"/>
                  <a:pt x="2347415" y="1924335"/>
                </a:cubicBezTo>
                <a:cubicBezTo>
                  <a:pt x="2364643" y="1933612"/>
                  <a:pt x="2377681" y="1949703"/>
                  <a:pt x="2395182" y="1958454"/>
                </a:cubicBezTo>
                <a:cubicBezTo>
                  <a:pt x="2452375" y="1987050"/>
                  <a:pt x="2482181" y="1992145"/>
                  <a:pt x="2538483" y="2006221"/>
                </a:cubicBezTo>
                <a:cubicBezTo>
                  <a:pt x="2605046" y="2046159"/>
                  <a:pt x="2536856" y="2011247"/>
                  <a:pt x="2620370" y="2033517"/>
                </a:cubicBezTo>
                <a:cubicBezTo>
                  <a:pt x="2729704" y="2062672"/>
                  <a:pt x="2625972" y="2045153"/>
                  <a:pt x="2715904" y="2067636"/>
                </a:cubicBezTo>
                <a:cubicBezTo>
                  <a:pt x="2729327" y="2070992"/>
                  <a:pt x="2743200" y="2072185"/>
                  <a:pt x="2756848" y="2074460"/>
                </a:cubicBezTo>
                <a:cubicBezTo>
                  <a:pt x="2802339" y="2097207"/>
                  <a:pt x="2770815" y="2085229"/>
                  <a:pt x="2838734" y="2094932"/>
                </a:cubicBezTo>
                <a:cubicBezTo>
                  <a:pt x="2852431" y="2096889"/>
                  <a:pt x="2866195" y="2098645"/>
                  <a:pt x="2879677" y="2101756"/>
                </a:cubicBezTo>
                <a:cubicBezTo>
                  <a:pt x="2895813" y="2105479"/>
                  <a:pt x="2910946" y="2113989"/>
                  <a:pt x="2927445" y="2115403"/>
                </a:cubicBezTo>
                <a:cubicBezTo>
                  <a:pt x="2990942" y="2120845"/>
                  <a:pt x="3054824" y="2119952"/>
                  <a:pt x="3118513" y="2122227"/>
                </a:cubicBezTo>
                <a:cubicBezTo>
                  <a:pt x="3221512" y="2136941"/>
                  <a:pt x="3141640" y="2125039"/>
                  <a:pt x="3323230" y="2156347"/>
                </a:cubicBezTo>
                <a:lnTo>
                  <a:pt x="3405116" y="2169994"/>
                </a:lnTo>
                <a:cubicBezTo>
                  <a:pt x="3414215" y="2172269"/>
                  <a:pt x="3423215" y="2174979"/>
                  <a:pt x="3432412" y="2176818"/>
                </a:cubicBezTo>
                <a:cubicBezTo>
                  <a:pt x="3453264" y="2180988"/>
                  <a:pt x="3501457" y="2187844"/>
                  <a:pt x="3521122" y="2190466"/>
                </a:cubicBezTo>
                <a:cubicBezTo>
                  <a:pt x="3539300" y="2192890"/>
                  <a:pt x="3557624" y="2194275"/>
                  <a:pt x="3575713" y="2197290"/>
                </a:cubicBezTo>
                <a:cubicBezTo>
                  <a:pt x="3584964" y="2198832"/>
                  <a:pt x="3593910" y="2201839"/>
                  <a:pt x="3603009" y="2204114"/>
                </a:cubicBezTo>
                <a:cubicBezTo>
                  <a:pt x="3621206" y="2213212"/>
                  <a:pt x="3638299" y="2224975"/>
                  <a:pt x="3657600" y="2231409"/>
                </a:cubicBezTo>
                <a:cubicBezTo>
                  <a:pt x="3664424" y="2233684"/>
                  <a:pt x="3671498" y="2235312"/>
                  <a:pt x="3678071" y="2238233"/>
                </a:cubicBezTo>
                <a:cubicBezTo>
                  <a:pt x="3692015" y="2244430"/>
                  <a:pt x="3705071" y="2252508"/>
                  <a:pt x="3719015" y="2258705"/>
                </a:cubicBezTo>
                <a:cubicBezTo>
                  <a:pt x="3725588" y="2261626"/>
                  <a:pt x="3732570" y="2263553"/>
                  <a:pt x="3739486" y="2265529"/>
                </a:cubicBezTo>
                <a:cubicBezTo>
                  <a:pt x="3767990" y="2273673"/>
                  <a:pt x="3775551" y="2273814"/>
                  <a:pt x="3807725" y="2279176"/>
                </a:cubicBezTo>
                <a:cubicBezTo>
                  <a:pt x="3816824" y="2283725"/>
                  <a:pt x="3825262" y="2289954"/>
                  <a:pt x="3835021" y="2292824"/>
                </a:cubicBezTo>
                <a:cubicBezTo>
                  <a:pt x="3864135" y="2301387"/>
                  <a:pt x="3893833" y="2308096"/>
                  <a:pt x="3923731" y="2313296"/>
                </a:cubicBezTo>
                <a:cubicBezTo>
                  <a:pt x="3971769" y="2321651"/>
                  <a:pt x="4110938" y="2325785"/>
                  <a:pt x="4135271" y="2326944"/>
                </a:cubicBezTo>
                <a:cubicBezTo>
                  <a:pt x="4197305" y="2334697"/>
                  <a:pt x="4191581" y="2332633"/>
                  <a:pt x="4258101" y="2347415"/>
                </a:cubicBezTo>
                <a:cubicBezTo>
                  <a:pt x="4298292" y="2356346"/>
                  <a:pt x="4327076" y="2364391"/>
                  <a:pt x="4367283" y="2367887"/>
                </a:cubicBezTo>
                <a:cubicBezTo>
                  <a:pt x="4488182" y="2378400"/>
                  <a:pt x="4516726" y="2374711"/>
                  <a:pt x="4653886" y="2374711"/>
                </a:cubicBezTo>
              </a:path>
            </a:pathLst>
          </a:cu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标题 24">
            <a:extLst>
              <a:ext uri="{FF2B5EF4-FFF2-40B4-BE49-F238E27FC236}">
                <a16:creationId xmlns:a16="http://schemas.microsoft.com/office/drawing/2014/main" id="{0AA797C9-C3FA-5A48-55EF-B8E5B651C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18" y="78406"/>
            <a:ext cx="10515600" cy="1325563"/>
          </a:xfrm>
        </p:spPr>
        <p:txBody>
          <a:bodyPr/>
          <a:lstStyle/>
          <a:p>
            <a:r>
              <a:rPr lang="zh-CN" altLang="en-US" dirty="0"/>
              <a:t>模型评估与模型选择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419F155-CB5B-2B69-44CB-D2E212C437D3}"/>
              </a:ext>
            </a:extLst>
          </p:cNvPr>
          <p:cNvSpPr txBox="1"/>
          <p:nvPr/>
        </p:nvSpPr>
        <p:spPr>
          <a:xfrm>
            <a:off x="2055078" y="4655311"/>
            <a:ext cx="122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训练误差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C140485-8652-969C-43B8-4B8053D8C274}"/>
              </a:ext>
            </a:extLst>
          </p:cNvPr>
          <p:cNvSpPr txBox="1"/>
          <p:nvPr/>
        </p:nvSpPr>
        <p:spPr>
          <a:xfrm>
            <a:off x="4931628" y="3445636"/>
            <a:ext cx="122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测试误差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979AFF0-0719-FC99-70E4-4571F6B17A6F}"/>
              </a:ext>
            </a:extLst>
          </p:cNvPr>
          <p:cNvSpPr txBox="1"/>
          <p:nvPr/>
        </p:nvSpPr>
        <p:spPr>
          <a:xfrm>
            <a:off x="3803173" y="6088744"/>
            <a:ext cx="3526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模型复杂度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072DAFA-7618-88A0-15E7-A83441ACD678}"/>
              </a:ext>
            </a:extLst>
          </p:cNvPr>
          <p:cNvCxnSpPr>
            <a:stCxn id="20" idx="46"/>
          </p:cNvCxnSpPr>
          <p:nvPr/>
        </p:nvCxnSpPr>
        <p:spPr>
          <a:xfrm>
            <a:off x="4853557" y="4648487"/>
            <a:ext cx="1472" cy="13408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20" grpId="0" animBg="1"/>
      <p:bldP spid="21" grpId="0" animBg="1"/>
      <p:bldP spid="26" grpId="0"/>
      <p:bldP spid="27" grpId="0"/>
      <p:bldP spid="2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正则化与交叉验证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26393" y="2625890"/>
            <a:ext cx="8424936" cy="4839816"/>
          </a:xfrm>
        </p:spPr>
        <p:txBody>
          <a:bodyPr/>
          <a:lstStyle/>
          <a:p>
            <a:r>
              <a:rPr lang="zh-CN" altLang="en-US" dirty="0"/>
              <a:t>正则化一般形式：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回归问题中：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577" y="3177309"/>
            <a:ext cx="402785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425" y="4570106"/>
            <a:ext cx="4824536" cy="775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067" y="5594851"/>
            <a:ext cx="4742893" cy="835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57883" y="1229036"/>
            <a:ext cx="8424936" cy="4839816"/>
          </a:xfrm>
        </p:spPr>
        <p:txBody>
          <a:bodyPr/>
          <a:lstStyle/>
          <a:p>
            <a:r>
              <a:rPr lang="zh-CN" altLang="en-US" dirty="0"/>
              <a:t>交叉验证：</a:t>
            </a:r>
            <a:endParaRPr lang="en-US" altLang="zh-CN" dirty="0"/>
          </a:p>
          <a:p>
            <a:pPr lvl="1"/>
            <a:r>
              <a:rPr lang="zh-CN" altLang="en-US" dirty="0"/>
              <a:t>训练集 </a:t>
            </a:r>
            <a:r>
              <a:rPr lang="en-US" altLang="zh-CN" dirty="0"/>
              <a:t>(training set)</a:t>
            </a:r>
            <a:r>
              <a:rPr lang="zh-CN" altLang="en-US" dirty="0"/>
              <a:t>： </a:t>
            </a:r>
            <a:r>
              <a:rPr lang="en-GB" altLang="zh-CN" dirty="0"/>
              <a:t>	</a:t>
            </a:r>
            <a:r>
              <a:rPr lang="zh-CN" altLang="en-US" dirty="0"/>
              <a:t>用于训练模型</a:t>
            </a:r>
            <a:r>
              <a:rPr lang="en-US" altLang="zh-CN" dirty="0"/>
              <a:t>	</a:t>
            </a:r>
          </a:p>
          <a:p>
            <a:pPr lvl="1"/>
            <a:r>
              <a:rPr lang="zh-CN" altLang="en-US" dirty="0"/>
              <a:t>验证集 </a:t>
            </a:r>
            <a:r>
              <a:rPr lang="en-US" altLang="zh-CN" dirty="0"/>
              <a:t>(validation set)</a:t>
            </a:r>
            <a:r>
              <a:rPr lang="zh-CN" altLang="en-US" dirty="0"/>
              <a:t>：用于模型选择</a:t>
            </a:r>
            <a:endParaRPr lang="en-US" altLang="zh-CN" dirty="0"/>
          </a:p>
          <a:p>
            <a:pPr lvl="1"/>
            <a:r>
              <a:rPr lang="zh-CN" altLang="en-US" dirty="0"/>
              <a:t>测试集 </a:t>
            </a:r>
            <a:r>
              <a:rPr lang="en-US" altLang="zh-CN" dirty="0"/>
              <a:t>(test  set)</a:t>
            </a:r>
            <a:r>
              <a:rPr lang="zh-CN" altLang="en-US" dirty="0"/>
              <a:t>：  </a:t>
            </a:r>
            <a:r>
              <a:rPr lang="en-GB" altLang="zh-CN" dirty="0"/>
              <a:t>	</a:t>
            </a:r>
            <a:r>
              <a:rPr lang="zh-CN" altLang="en-US" dirty="0"/>
              <a:t>用于最终对学习方法的评估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简单交叉验证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zh-CN" altLang="en-US" dirty="0">
                <a:solidFill>
                  <a:srgbClr val="FF0000"/>
                </a:solidFill>
              </a:rPr>
              <a:t>折交叉验证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pPr lvl="1"/>
            <a:r>
              <a:rPr lang="zh-CN" altLang="en-US" dirty="0"/>
              <a:t>留一交叉验证</a:t>
            </a:r>
            <a:endParaRPr lang="en-US" altLang="zh-CN" dirty="0"/>
          </a:p>
        </p:txBody>
      </p:sp>
      <p:sp>
        <p:nvSpPr>
          <p:cNvPr id="13" name="标题 1"/>
          <p:cNvSpPr txBox="1"/>
          <p:nvPr/>
        </p:nvSpPr>
        <p:spPr>
          <a:xfrm>
            <a:off x="129891" y="2345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正则化与交叉验证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2BF07-F6BE-92AE-5FCA-6A594FA1F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折交叉验证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6E456E-B581-A091-FBB8-9A81E3B8F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74829" cy="3232604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随机地将已给数据切分成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个互不相交、大小相同的子集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S-1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个子集的数据训练模型，利用余下的子集测试模型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重复上述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种可能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次评测种平均测试误差最小的模型。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0874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07126" y="184728"/>
            <a:ext cx="7213601" cy="923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/>
              <a:t>这里是数据</a:t>
            </a:r>
            <a:r>
              <a:rPr lang="en-US" altLang="zh-CN" sz="3600" dirty="0"/>
              <a:t>(</a:t>
            </a:r>
            <a:r>
              <a:rPr lang="zh-CN" altLang="en-US" sz="3600" dirty="0"/>
              <a:t>考虑</a:t>
            </a:r>
            <a:r>
              <a:rPr lang="en-US" altLang="zh-CN" sz="3600" dirty="0"/>
              <a:t>S=4)</a:t>
            </a:r>
            <a:endParaRPr lang="zh-CN" altLang="en-US" sz="3600" dirty="0"/>
          </a:p>
        </p:txBody>
      </p:sp>
      <p:sp>
        <p:nvSpPr>
          <p:cNvPr id="5" name="矩形 4"/>
          <p:cNvSpPr/>
          <p:nvPr/>
        </p:nvSpPr>
        <p:spPr>
          <a:xfrm>
            <a:off x="443342" y="2643463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b="1" dirty="0"/>
              <a:t>A</a:t>
            </a:r>
            <a:endParaRPr lang="zh-CN" altLang="en-US" sz="5400" b="1" dirty="0"/>
          </a:p>
        </p:txBody>
      </p:sp>
      <p:sp>
        <p:nvSpPr>
          <p:cNvPr id="6" name="矩形 5"/>
          <p:cNvSpPr/>
          <p:nvPr/>
        </p:nvSpPr>
        <p:spPr>
          <a:xfrm>
            <a:off x="3897741" y="1168408"/>
            <a:ext cx="955965" cy="919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B</a:t>
            </a:r>
            <a:endParaRPr lang="zh-CN" altLang="en-US" sz="5400" dirty="0"/>
          </a:p>
        </p:txBody>
      </p:sp>
      <p:sp>
        <p:nvSpPr>
          <p:cNvPr id="7" name="矩形 6"/>
          <p:cNvSpPr/>
          <p:nvPr/>
        </p:nvSpPr>
        <p:spPr>
          <a:xfrm>
            <a:off x="5200068" y="1168408"/>
            <a:ext cx="932875" cy="919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C</a:t>
            </a:r>
            <a:endParaRPr lang="zh-CN" altLang="en-US" sz="5400" dirty="0"/>
          </a:p>
        </p:txBody>
      </p:sp>
      <p:sp>
        <p:nvSpPr>
          <p:cNvPr id="8" name="矩形 7"/>
          <p:cNvSpPr/>
          <p:nvPr/>
        </p:nvSpPr>
        <p:spPr>
          <a:xfrm>
            <a:off x="6585527" y="1168407"/>
            <a:ext cx="867559" cy="923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D</a:t>
            </a:r>
            <a:endParaRPr lang="zh-CN" altLang="en-US" sz="5400" dirty="0"/>
          </a:p>
        </p:txBody>
      </p:sp>
      <p:sp>
        <p:nvSpPr>
          <p:cNvPr id="9" name="文本框 8"/>
          <p:cNvSpPr txBox="1"/>
          <p:nvPr/>
        </p:nvSpPr>
        <p:spPr>
          <a:xfrm>
            <a:off x="286327" y="2086435"/>
            <a:ext cx="2115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测试模型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708820" y="2091054"/>
            <a:ext cx="2115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训练模型</a:t>
            </a:r>
          </a:p>
        </p:txBody>
      </p:sp>
      <p:sp>
        <p:nvSpPr>
          <p:cNvPr id="11" name="矩形 10"/>
          <p:cNvSpPr/>
          <p:nvPr/>
        </p:nvSpPr>
        <p:spPr>
          <a:xfrm>
            <a:off x="3893124" y="2574320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B</a:t>
            </a:r>
            <a:endParaRPr lang="zh-CN" altLang="en-US" sz="5400" dirty="0"/>
          </a:p>
        </p:txBody>
      </p:sp>
      <p:sp>
        <p:nvSpPr>
          <p:cNvPr id="12" name="矩形 11"/>
          <p:cNvSpPr/>
          <p:nvPr/>
        </p:nvSpPr>
        <p:spPr>
          <a:xfrm>
            <a:off x="5195451" y="2574320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C</a:t>
            </a:r>
            <a:endParaRPr lang="zh-CN" altLang="en-US" sz="5400" dirty="0"/>
          </a:p>
        </p:txBody>
      </p:sp>
      <p:sp>
        <p:nvSpPr>
          <p:cNvPr id="13" name="矩形 12"/>
          <p:cNvSpPr/>
          <p:nvPr/>
        </p:nvSpPr>
        <p:spPr>
          <a:xfrm>
            <a:off x="6565077" y="2574319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D</a:t>
            </a:r>
            <a:endParaRPr lang="zh-CN" altLang="en-US" sz="5400" dirty="0"/>
          </a:p>
        </p:txBody>
      </p:sp>
      <p:sp>
        <p:nvSpPr>
          <p:cNvPr id="14" name="矩形 13"/>
          <p:cNvSpPr/>
          <p:nvPr/>
        </p:nvSpPr>
        <p:spPr>
          <a:xfrm>
            <a:off x="2572324" y="1209844"/>
            <a:ext cx="979055" cy="882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b="1" dirty="0"/>
              <a:t>A</a:t>
            </a:r>
            <a:endParaRPr lang="zh-CN" altLang="en-US" sz="5400" b="1" dirty="0"/>
          </a:p>
        </p:txBody>
      </p:sp>
      <p:sp>
        <p:nvSpPr>
          <p:cNvPr id="15" name="矩形 14"/>
          <p:cNvSpPr/>
          <p:nvPr/>
        </p:nvSpPr>
        <p:spPr>
          <a:xfrm>
            <a:off x="450599" y="3528968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B</a:t>
            </a:r>
            <a:endParaRPr lang="zh-CN" altLang="en-US" sz="5400" dirty="0"/>
          </a:p>
        </p:txBody>
      </p:sp>
      <p:sp>
        <p:nvSpPr>
          <p:cNvPr id="16" name="矩形 15"/>
          <p:cNvSpPr/>
          <p:nvPr/>
        </p:nvSpPr>
        <p:spPr>
          <a:xfrm>
            <a:off x="3877291" y="3436599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A</a:t>
            </a:r>
            <a:endParaRPr lang="zh-CN" altLang="en-US" sz="5400" dirty="0"/>
          </a:p>
        </p:txBody>
      </p:sp>
      <p:sp>
        <p:nvSpPr>
          <p:cNvPr id="17" name="矩形 16"/>
          <p:cNvSpPr/>
          <p:nvPr/>
        </p:nvSpPr>
        <p:spPr>
          <a:xfrm>
            <a:off x="5179618" y="3436599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C</a:t>
            </a:r>
            <a:endParaRPr lang="zh-CN" altLang="en-US" sz="5400" dirty="0"/>
          </a:p>
        </p:txBody>
      </p:sp>
      <p:sp>
        <p:nvSpPr>
          <p:cNvPr id="18" name="矩形 17"/>
          <p:cNvSpPr/>
          <p:nvPr/>
        </p:nvSpPr>
        <p:spPr>
          <a:xfrm>
            <a:off x="6565077" y="3436598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D</a:t>
            </a:r>
            <a:endParaRPr lang="zh-CN" altLang="en-US" sz="5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FBF402-9D2B-919E-46FA-A0F1931EE4D6}"/>
              </a:ext>
            </a:extLst>
          </p:cNvPr>
          <p:cNvSpPr/>
          <p:nvPr/>
        </p:nvSpPr>
        <p:spPr>
          <a:xfrm>
            <a:off x="443343" y="4341627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b="1" dirty="0"/>
              <a:t>C</a:t>
            </a:r>
            <a:endParaRPr lang="zh-CN" altLang="en-US" sz="54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4F4BF7-F8E0-30F9-4F7D-363E83CDFC61}"/>
              </a:ext>
            </a:extLst>
          </p:cNvPr>
          <p:cNvSpPr/>
          <p:nvPr/>
        </p:nvSpPr>
        <p:spPr>
          <a:xfrm>
            <a:off x="3893125" y="4272484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A</a:t>
            </a:r>
            <a:endParaRPr lang="zh-CN" altLang="en-US" sz="5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4BEDC1-11F1-8D60-1940-D23B541C0205}"/>
              </a:ext>
            </a:extLst>
          </p:cNvPr>
          <p:cNvSpPr/>
          <p:nvPr/>
        </p:nvSpPr>
        <p:spPr>
          <a:xfrm>
            <a:off x="5195452" y="4272484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B</a:t>
            </a:r>
            <a:endParaRPr lang="zh-CN" altLang="en-US" sz="5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B144AB-0207-DE5D-9E4E-C23FC2E1758B}"/>
              </a:ext>
            </a:extLst>
          </p:cNvPr>
          <p:cNvSpPr/>
          <p:nvPr/>
        </p:nvSpPr>
        <p:spPr>
          <a:xfrm>
            <a:off x="6580911" y="4272483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D</a:t>
            </a:r>
            <a:endParaRPr lang="zh-CN" altLang="en-US" sz="5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72BEFBA-C4D7-4854-ED99-43FD019D7D7C}"/>
              </a:ext>
            </a:extLst>
          </p:cNvPr>
          <p:cNvSpPr/>
          <p:nvPr/>
        </p:nvSpPr>
        <p:spPr>
          <a:xfrm>
            <a:off x="450600" y="5227132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D</a:t>
            </a:r>
            <a:endParaRPr lang="zh-CN" altLang="en-US" sz="5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9A5A91-E515-2F4B-00FF-B91DBDB8100C}"/>
              </a:ext>
            </a:extLst>
          </p:cNvPr>
          <p:cNvSpPr/>
          <p:nvPr/>
        </p:nvSpPr>
        <p:spPr>
          <a:xfrm>
            <a:off x="3877292" y="5134763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A</a:t>
            </a:r>
            <a:endParaRPr lang="zh-CN" altLang="en-US" sz="5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6482929-EB55-0A69-634F-4196DE06F832}"/>
              </a:ext>
            </a:extLst>
          </p:cNvPr>
          <p:cNvSpPr/>
          <p:nvPr/>
        </p:nvSpPr>
        <p:spPr>
          <a:xfrm>
            <a:off x="5179619" y="5134763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B</a:t>
            </a:r>
            <a:endParaRPr lang="zh-CN" altLang="en-US" sz="54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A058159-EDF5-CD5E-7962-AFC782F1A0CE}"/>
              </a:ext>
            </a:extLst>
          </p:cNvPr>
          <p:cNvSpPr/>
          <p:nvPr/>
        </p:nvSpPr>
        <p:spPr>
          <a:xfrm>
            <a:off x="6565078" y="5134762"/>
            <a:ext cx="583208" cy="727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/>
              <a:t>C</a:t>
            </a:r>
            <a:endParaRPr lang="zh-CN" altLang="en-US" sz="5400" dirty="0"/>
          </a:p>
        </p:txBody>
      </p:sp>
      <p:sp>
        <p:nvSpPr>
          <p:cNvPr id="25" name="右大括号 24">
            <a:extLst>
              <a:ext uri="{FF2B5EF4-FFF2-40B4-BE49-F238E27FC236}">
                <a16:creationId xmlns:a16="http://schemas.microsoft.com/office/drawing/2014/main" id="{481830A3-85E8-3B79-ED6B-F8D5F4FE5363}"/>
              </a:ext>
            </a:extLst>
          </p:cNvPr>
          <p:cNvSpPr/>
          <p:nvPr/>
        </p:nvSpPr>
        <p:spPr>
          <a:xfrm>
            <a:off x="8277107" y="1603828"/>
            <a:ext cx="867560" cy="4093029"/>
          </a:xfrm>
          <a:prstGeom prst="rightBrac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A79CD68-4C40-56EA-BEC3-9A65EDBC5974}"/>
              </a:ext>
            </a:extLst>
          </p:cNvPr>
          <p:cNvSpPr/>
          <p:nvPr/>
        </p:nvSpPr>
        <p:spPr>
          <a:xfrm>
            <a:off x="9175035" y="3302060"/>
            <a:ext cx="1942909" cy="580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4</a:t>
            </a:r>
            <a:r>
              <a:rPr lang="zh-CN" altLang="en-US" sz="2400" dirty="0"/>
              <a:t>折交叉验证</a:t>
            </a:r>
          </a:p>
        </p:txBody>
      </p:sp>
    </p:spTree>
    <p:extLst>
      <p:ext uri="{BB962C8B-B14F-4D97-AF65-F5344CB8AC3E}">
        <p14:creationId xmlns:p14="http://schemas.microsoft.com/office/powerpoint/2010/main" val="268071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" grpId="0" animBg="1"/>
      <p:bldP spid="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>
          <a:xfrm>
            <a:off x="42799" y="-899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泛化能力</a:t>
            </a:r>
            <a:r>
              <a:rPr lang="en-US" altLang="zh-CN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(generalization ability)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8584" y="1500659"/>
                <a:ext cx="11879255" cy="4839816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泛化误差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(generalization  error)</a:t>
                </a:r>
              </a:p>
              <a:p>
                <a:pPr marL="0" indent="0"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泛化误差上界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比较学习方法的泛化能力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比较泛化误差上界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性质：样本容量增加，泛化误差趋于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，假设空间容量越大， 泛化误差越大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二分类问题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∈{−1,+1}</m:t>
                    </m:r>
                  </m:oMath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期望风险和经验风险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584" y="1500659"/>
                <a:ext cx="11879255" cy="4839816"/>
              </a:xfrm>
              <a:blipFill>
                <a:blip r:embed="rId5"/>
                <a:stretch>
                  <a:fillRect l="-924" t="-22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549" y="5226796"/>
            <a:ext cx="2664296" cy="74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 descr="\documentclass{article}&#10;\usepackage{amsmath}&#10;\pagestyle{empty}&#10;\begin{document}&#10;&#10;$&#10;R_{\mathrm{exp}}(\hat{f})=E_{P}[L(Y,\hat{f}(X))]=\int_{\mathcal{X}\times \mathcal{Y}}L(y,\hat{f}(x))P(x,y)dxdy&#10;$&#10;&#10;&#10;\end{document}" title="IguanaTex Bitmap Display">
            <a:extLst>
              <a:ext uri="{FF2B5EF4-FFF2-40B4-BE49-F238E27FC236}">
                <a16:creationId xmlns:a16="http://schemas.microsoft.com/office/drawing/2014/main" id="{6DDE0D36-83C0-0689-A342-0517F15219A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05281" y="1967978"/>
            <a:ext cx="7584033" cy="427939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&#10;R_{\mathrm{exp}}(f)=E_{P}[L(Y,f(X))]=\int_{\mathcal{X}\times \mathcal{Y}}L(y,f(x))P(x,y)dxdy&#10;$&#10;&#10;&#10;\end{document}" title="IguanaTex Bitmap Display">
            <a:extLst>
              <a:ext uri="{FF2B5EF4-FFF2-40B4-BE49-F238E27FC236}">
                <a16:creationId xmlns:a16="http://schemas.microsoft.com/office/drawing/2014/main" id="{A38A3663-4F5B-6C3A-4E0E-60B66021B1D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032506" y="886599"/>
            <a:ext cx="6606174" cy="33293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泛化能力 </a:t>
            </a:r>
            <a:r>
              <a:rPr lang="en-US" altLang="zh-CN"/>
              <a:t>generalization ability</a:t>
            </a:r>
            <a:endParaRPr lang="en-US" altLang="zh-CN" dirty="0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26393" y="2428984"/>
            <a:ext cx="11514312" cy="4839816"/>
          </a:xfrm>
        </p:spPr>
        <p:txBody>
          <a:bodyPr>
            <a:normAutofit/>
          </a:bodyPr>
          <a:lstStyle/>
          <a:p>
            <a:r>
              <a:rPr lang="zh-CN" altLang="en-US" dirty="0"/>
              <a:t>经验风险最小化函数：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泛化能力：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定理：泛化误差上界，二分类问题，</a:t>
            </a:r>
            <a:endParaRPr lang="en-GB" altLang="zh-CN" dirty="0"/>
          </a:p>
          <a:p>
            <a:pPr marL="0" indent="0">
              <a:buNone/>
            </a:pPr>
            <a:r>
              <a:rPr lang="en-GB" altLang="zh-CN" dirty="0"/>
              <a:t>	</a:t>
            </a:r>
            <a:r>
              <a:rPr lang="zh-CN" altLang="en-US" dirty="0"/>
              <a:t>当假设空间是有限个函数的结合</a:t>
            </a:r>
            <a:r>
              <a:rPr lang="en-US" altLang="zh-CN" dirty="0"/>
              <a:t>                          </a:t>
            </a:r>
            <a:r>
              <a:rPr lang="zh-CN" altLang="en-US" dirty="0"/>
              <a:t>，</a:t>
            </a:r>
            <a:endParaRPr lang="en-GB" altLang="zh-CN" dirty="0"/>
          </a:p>
          <a:p>
            <a:pPr marL="0" indent="0">
              <a:buNone/>
            </a:pPr>
            <a:r>
              <a:rPr lang="en-GB" altLang="zh-CN" dirty="0"/>
              <a:t>	</a:t>
            </a:r>
            <a:r>
              <a:rPr lang="zh-CN" altLang="en-US" dirty="0"/>
              <a:t>对任意一个函数</a:t>
            </a:r>
            <a:r>
              <a:rPr lang="en-US" altLang="zh-CN" dirty="0"/>
              <a:t>f</a:t>
            </a:r>
            <a:r>
              <a:rPr lang="zh-CN" altLang="en-US" dirty="0"/>
              <a:t>， 至少以概率</a:t>
            </a:r>
            <a:r>
              <a:rPr lang="en-US" altLang="zh-CN" dirty="0"/>
              <a:t>1-</a:t>
            </a:r>
            <a:r>
              <a:rPr lang="el-GR" altLang="zh-CN" dirty="0"/>
              <a:t>δ</a:t>
            </a:r>
            <a:r>
              <a:rPr lang="zh-CN" altLang="en-US" dirty="0"/>
              <a:t>，以下不等式成立：</a:t>
            </a:r>
            <a:endParaRPr lang="en-US" altLang="zh-CN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094" y="2428984"/>
            <a:ext cx="2461364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373" y="3459141"/>
            <a:ext cx="3180767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189" y="5057333"/>
            <a:ext cx="1965218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074" y="5987752"/>
            <a:ext cx="3063126" cy="473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274" y="5907057"/>
            <a:ext cx="4073662" cy="956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18263" y="130152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生成模型与判别模型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26393" y="2339466"/>
            <a:ext cx="11409490" cy="4839816"/>
          </a:xfrm>
        </p:spPr>
        <p:txBody>
          <a:bodyPr>
            <a:normAutofit/>
          </a:bodyPr>
          <a:lstStyle/>
          <a:p>
            <a:r>
              <a:rPr lang="zh-CN" altLang="en-US" dirty="0"/>
              <a:t>监督学习的目的就是学习一个模型：</a:t>
            </a:r>
            <a:endParaRPr lang="en-US" altLang="zh-CN" dirty="0"/>
          </a:p>
          <a:p>
            <a:r>
              <a:rPr lang="zh-CN" altLang="en-US" dirty="0"/>
              <a:t>决策函数：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条件概率分布：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生成方法</a:t>
            </a:r>
            <a:r>
              <a:rPr lang="en-US" altLang="zh-CN" dirty="0"/>
              <a:t>Generative approach </a:t>
            </a:r>
            <a:r>
              <a:rPr lang="zh-CN" altLang="en-US" dirty="0"/>
              <a:t>对应生成模型：</a:t>
            </a:r>
            <a:r>
              <a:rPr lang="en-US" altLang="zh-CN" dirty="0"/>
              <a:t>generative model</a:t>
            </a:r>
            <a:r>
              <a:rPr lang="zh-CN" altLang="en-US" dirty="0"/>
              <a:t>，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朴素贝叶斯法和隐马尔科夫模型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499" y="2877280"/>
            <a:ext cx="146002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499" y="3846951"/>
            <a:ext cx="1394710" cy="459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009" y="5421165"/>
            <a:ext cx="2707501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18263" y="13297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生成模型与判别模型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22726" y="2625890"/>
            <a:ext cx="11347497" cy="4839816"/>
          </a:xfrm>
        </p:spPr>
        <p:txBody>
          <a:bodyPr/>
          <a:lstStyle/>
          <a:p>
            <a:r>
              <a:rPr lang="zh-CN" altLang="en-US" dirty="0"/>
              <a:t>判别方法由数据直接学习决策函数</a:t>
            </a:r>
            <a:r>
              <a:rPr lang="en-US" altLang="zh-CN" dirty="0"/>
              <a:t>f(X)</a:t>
            </a:r>
            <a:r>
              <a:rPr lang="zh-CN" altLang="en-US" dirty="0"/>
              <a:t>或条件概率分布</a:t>
            </a:r>
            <a:r>
              <a:rPr lang="en-US" altLang="zh-CN" dirty="0"/>
              <a:t>P(Y|X)</a:t>
            </a:r>
            <a:r>
              <a:rPr lang="zh-CN" altLang="en-US" dirty="0"/>
              <a:t>作为预测的模型，即判别模型</a:t>
            </a:r>
            <a:endParaRPr lang="en-US" altLang="zh-CN" dirty="0"/>
          </a:p>
          <a:p>
            <a:r>
              <a:rPr lang="en-US" altLang="zh-CN" dirty="0"/>
              <a:t>Discriminative approach</a:t>
            </a:r>
            <a:r>
              <a:rPr lang="zh-CN" altLang="en-US" dirty="0"/>
              <a:t>对应</a:t>
            </a:r>
            <a:r>
              <a:rPr lang="en-US" altLang="zh-CN" dirty="0"/>
              <a:t>discriminative model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K</a:t>
            </a:r>
            <a:r>
              <a:rPr lang="zh-CN" altLang="en-US" dirty="0"/>
              <a:t>近邻法、感知机、决策树、</a:t>
            </a:r>
            <a:r>
              <a:rPr lang="en-US" altLang="zh-CN" dirty="0"/>
              <a:t>logistic</a:t>
            </a:r>
            <a:r>
              <a:rPr lang="zh-CN" altLang="en-US" dirty="0"/>
              <a:t>回归模型、最大熵模型、支持向量机、提升方法和条件随机场。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966" y="4138058"/>
            <a:ext cx="146002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931" y="4859455"/>
            <a:ext cx="1394710" cy="459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18262" y="1301526"/>
            <a:ext cx="989192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生成模型与判别模型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22726" y="2597670"/>
            <a:ext cx="11548975" cy="4839816"/>
          </a:xfrm>
        </p:spPr>
        <p:txBody>
          <a:bodyPr/>
          <a:lstStyle/>
          <a:p>
            <a:r>
              <a:rPr lang="zh-CN" altLang="en-US" dirty="0"/>
              <a:t>各自优缺点：</a:t>
            </a:r>
            <a:endParaRPr lang="en-US" altLang="zh-CN" dirty="0"/>
          </a:p>
          <a:p>
            <a:pPr lvl="1"/>
            <a:r>
              <a:rPr lang="zh-CN" altLang="en-US" dirty="0"/>
              <a:t>生成方法：可还原出联合概率分布</a:t>
            </a:r>
            <a:r>
              <a:rPr lang="en-US" altLang="zh-CN" dirty="0"/>
              <a:t>P(X,Y), </a:t>
            </a:r>
            <a:r>
              <a:rPr lang="zh-CN" altLang="en-US" dirty="0"/>
              <a:t>而判别方法不能。生成方法的收敛速度更快，当样本容量增加的时候，学到的模型可以更快地收敛于真实模型；当存在隐变量时，仍可以使用生成方法，而判别方法则不能用。</a:t>
            </a:r>
            <a:endParaRPr lang="en-US" altLang="zh-CN" dirty="0"/>
          </a:p>
          <a:p>
            <a:pPr lvl="1"/>
            <a:r>
              <a:rPr lang="zh-CN" altLang="en-US" dirty="0"/>
              <a:t>判别方法：直接学习到条件概率或决策函数，直接进行预测，往往学习的准确率更高；由于直接学习</a:t>
            </a:r>
            <a:r>
              <a:rPr lang="en-US" altLang="zh-CN" dirty="0"/>
              <a:t>Y=f(X)</a:t>
            </a:r>
            <a:r>
              <a:rPr lang="zh-CN" altLang="en-US" dirty="0"/>
              <a:t>或</a:t>
            </a:r>
            <a:r>
              <a:rPr lang="en-US" altLang="zh-CN" dirty="0"/>
              <a:t>P(Y|X),</a:t>
            </a:r>
            <a:r>
              <a:rPr lang="zh-CN" altLang="en-US" dirty="0"/>
              <a:t>可对数据进行各种程度上的抽象、定义特征并使用特征，因此可以简化学习过程。</a:t>
            </a:r>
            <a:endParaRPr lang="en-US" altLang="zh-C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分类问题</a:t>
            </a:r>
            <a:endParaRPr lang="zh-CN" altLang="en-U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529" y="2524099"/>
            <a:ext cx="6065678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98401" y="13297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分类问题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398401" y="2216134"/>
            <a:ext cx="5592493" cy="2383627"/>
          </a:xfrm>
        </p:spPr>
        <p:txBody>
          <a:bodyPr/>
          <a:lstStyle/>
          <a:p>
            <a:r>
              <a:rPr lang="zh-CN" altLang="en-US" dirty="0"/>
              <a:t>二分类评价指标</a:t>
            </a:r>
            <a:endParaRPr lang="en-US" altLang="zh-CN" dirty="0"/>
          </a:p>
          <a:p>
            <a:pPr lvl="1"/>
            <a:r>
              <a:rPr lang="en-US" altLang="zh-CN" dirty="0"/>
              <a:t>TP:(true positive)</a:t>
            </a:r>
          </a:p>
          <a:p>
            <a:pPr lvl="1"/>
            <a:r>
              <a:rPr lang="en-US" altLang="zh-CN" dirty="0"/>
              <a:t>FN:(false negative)</a:t>
            </a:r>
          </a:p>
          <a:p>
            <a:pPr lvl="1"/>
            <a:r>
              <a:rPr lang="en-US" altLang="zh-CN" dirty="0"/>
              <a:t>FP:(false positive)</a:t>
            </a:r>
          </a:p>
          <a:p>
            <a:pPr lvl="1"/>
            <a:r>
              <a:rPr lang="en-US" altLang="zh-CN" dirty="0"/>
              <a:t>TN:(true  negative)</a:t>
            </a: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07" y="1548114"/>
            <a:ext cx="1800200" cy="850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108" y="2690996"/>
            <a:ext cx="1789247" cy="798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490" y="3865072"/>
            <a:ext cx="1440160" cy="791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719" y="4814414"/>
            <a:ext cx="3028776" cy="791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096000" y="1848591"/>
            <a:ext cx="5257800" cy="4839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精确率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召回率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r>
              <a:rPr lang="en-US" altLang="zh-CN" dirty="0"/>
              <a:t>F</a:t>
            </a:r>
            <a:r>
              <a:rPr lang="en-US" altLang="zh-CN" baseline="-25000" dirty="0"/>
              <a:t>1</a:t>
            </a:r>
            <a:r>
              <a:rPr lang="ja-JP" altLang="en-US" dirty="0"/>
              <a:t>值</a:t>
            </a:r>
            <a:endParaRPr lang="en-US" altLang="zh-CN" dirty="0"/>
          </a:p>
        </p:txBody>
      </p:sp>
      <p:sp>
        <p:nvSpPr>
          <p:cNvPr id="18" name="内容占位符 2"/>
          <p:cNvSpPr txBox="1">
            <a:spLocks/>
          </p:cNvSpPr>
          <p:nvPr/>
        </p:nvSpPr>
        <p:spPr>
          <a:xfrm>
            <a:off x="0" y="4665220"/>
            <a:ext cx="6430061" cy="2383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TP   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正确的预测出正类数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把正类预测为正类数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FN  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错误的预测为负类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把正类预测为负类数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FP   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错误的预测为正类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把负类预测为正类数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TN   (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正确预测出负类数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把负类预测为负类数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19765" y="4306999"/>
            <a:ext cx="818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4575" y="4362391"/>
            <a:ext cx="5826533" cy="16828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" y="139910"/>
            <a:ext cx="11567160" cy="1872615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封邮件中有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封垃圾邮件。模型判定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封为垃圾邮件，其中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封确实是垃圾邮件。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569050" y="1447445"/>
            <a:ext cx="5526950" cy="4898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 = 15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 = 25 − 15 = 10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 = 20 − 15 = 5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= 15 / 25 = 0.60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= 15 / 20 = 0.75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= 2×0.6×0.75 / (0.6+0.75) ≈ 0.667</a:t>
            </a:r>
          </a:p>
          <a:p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317C0AB-7798-5B14-9493-086BCC7ACCD6}"/>
              </a:ext>
            </a:extLst>
          </p:cNvPr>
          <p:cNvSpPr txBox="1">
            <a:spLocks/>
          </p:cNvSpPr>
          <p:nvPr/>
        </p:nvSpPr>
        <p:spPr>
          <a:xfrm>
            <a:off x="6167165" y="1381480"/>
            <a:ext cx="5526950" cy="4898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假设垃圾邮件的标签为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+(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正样本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，正常邮件为负样本。</a:t>
            </a:r>
          </a:p>
        </p:txBody>
      </p:sp>
    </p:spTree>
    <p:extLst>
      <p:ext uri="{BB962C8B-B14F-4D97-AF65-F5344CB8AC3E}">
        <p14:creationId xmlns:p14="http://schemas.microsoft.com/office/powerpoint/2010/main" val="15561303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81BC0E-08C0-9A1F-C7CB-2CC5B36D6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12" y="194528"/>
            <a:ext cx="10515600" cy="1325563"/>
          </a:xfrm>
        </p:spPr>
        <p:txBody>
          <a:bodyPr/>
          <a:lstStyle/>
          <a:p>
            <a:r>
              <a:rPr lang="zh-CN" altLang="en-US" b="1" dirty="0"/>
              <a:t>如何选择</a:t>
            </a:r>
            <a:r>
              <a:rPr lang="en-US" altLang="zh-CN" b="1" dirty="0"/>
              <a:t>precision </a:t>
            </a:r>
            <a:r>
              <a:rPr lang="zh-CN" altLang="en-US" b="1" dirty="0"/>
              <a:t>和</a:t>
            </a:r>
            <a:r>
              <a:rPr lang="en-US" altLang="zh-CN" b="1" dirty="0"/>
              <a:t>recall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C4BC81-E955-7191-DD2C-250655C2B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717" y="1520091"/>
            <a:ext cx="10515600" cy="4351338"/>
          </a:xfrm>
        </p:spPr>
        <p:txBody>
          <a:bodyPr/>
          <a:lstStyle/>
          <a:p>
            <a:pPr marL="0" indent="0" rtl="0">
              <a:buNone/>
            </a:pPr>
            <a:r>
              <a:rPr lang="zh-CN" altLang="en-US" dirty="0"/>
              <a:t>更怕误报（如垃圾邮件误删正常邮件）→ 重视 </a:t>
            </a:r>
            <a:r>
              <a:rPr lang="en-US" altLang="zh-CN" dirty="0"/>
              <a:t>Precision</a:t>
            </a:r>
          </a:p>
          <a:p>
            <a:pPr marL="0" indent="0" rtl="0">
              <a:buNone/>
            </a:pPr>
            <a:r>
              <a:rPr lang="zh-CN" altLang="en-US" dirty="0"/>
              <a:t>更怕漏报（如疾病筛查、安全检测）→ 重视 </a:t>
            </a:r>
            <a:r>
              <a:rPr lang="en-US" altLang="zh-CN" dirty="0"/>
              <a:t>Recall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46781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457" y="44999"/>
            <a:ext cx="11567160" cy="1872615"/>
          </a:xfrm>
        </p:spPr>
        <p:txBody>
          <a:bodyPr>
            <a:normAutofit/>
          </a:bodyPr>
          <a:lstStyle/>
          <a:p>
            <a:r>
              <a:rPr lang="zh-CN" altLang="en-US" dirty="0"/>
              <a:t>信息检索中的例子：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在图像数据库中搜“</a:t>
            </a:r>
            <a:r>
              <a:rPr lang="en-US" altLang="zh-CN" dirty="0"/>
              <a:t>njau</a:t>
            </a:r>
            <a:r>
              <a:rPr lang="zh-CN" altLang="en-US" dirty="0"/>
              <a:t>”，假设数据库中与</a:t>
            </a:r>
            <a:r>
              <a:rPr lang="en-US" altLang="zh-CN" dirty="0"/>
              <a:t>njau</a:t>
            </a:r>
            <a:r>
              <a:rPr lang="zh-CN" altLang="en-US" dirty="0"/>
              <a:t>相关的有</a:t>
            </a:r>
            <a:r>
              <a:rPr lang="en-US" altLang="zh-CN" dirty="0"/>
              <a:t>5</a:t>
            </a:r>
            <a:r>
              <a:rPr lang="zh-CN" altLang="en-US" dirty="0"/>
              <a:t>张图片。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003181" y="240302"/>
            <a:ext cx="7028985" cy="741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查准率</a:t>
            </a:r>
            <a:r>
              <a:rPr lang="en-US" altLang="zh-CN" sz="1600" dirty="0"/>
              <a:t>=</a:t>
            </a:r>
            <a:r>
              <a:rPr lang="zh-CN" altLang="en-US" sz="1600" dirty="0"/>
              <a:t>准确率（</a:t>
            </a:r>
            <a:r>
              <a:rPr lang="en-US" altLang="zh-CN" sz="1600" dirty="0"/>
              <a:t>Precision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检索到的所有图像数 </a:t>
            </a:r>
          </a:p>
          <a:p>
            <a:r>
              <a:rPr lang="zh-CN" altLang="en-US" sz="1600" dirty="0"/>
              <a:t>查全率</a:t>
            </a:r>
            <a:r>
              <a:rPr lang="en-US" altLang="zh-CN" sz="1600" dirty="0"/>
              <a:t>=</a:t>
            </a:r>
            <a:r>
              <a:rPr lang="zh-CN" altLang="en-US" sz="1600" dirty="0"/>
              <a:t>召回率（</a:t>
            </a:r>
            <a:r>
              <a:rPr lang="en-US" altLang="zh-CN" sz="1600" dirty="0"/>
              <a:t>Recall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数据库中所有的该类图像</a:t>
            </a:r>
          </a:p>
          <a:p>
            <a:pPr marL="0" indent="0">
              <a:buNone/>
            </a:pP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501807" y="1761894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862148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63082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39226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15373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内容占位符 2"/>
          <p:cNvSpPr txBox="1">
            <a:spLocks/>
          </p:cNvSpPr>
          <p:nvPr/>
        </p:nvSpPr>
        <p:spPr>
          <a:xfrm>
            <a:off x="6182600" y="4936671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9" name="内容占位符 2"/>
          <p:cNvSpPr txBox="1">
            <a:spLocks/>
          </p:cNvSpPr>
          <p:nvPr/>
        </p:nvSpPr>
        <p:spPr>
          <a:xfrm>
            <a:off x="7546763" y="499614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89310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457" y="44999"/>
            <a:ext cx="11567160" cy="1872615"/>
          </a:xfrm>
        </p:spPr>
        <p:txBody>
          <a:bodyPr>
            <a:normAutofit/>
          </a:bodyPr>
          <a:lstStyle/>
          <a:p>
            <a:r>
              <a:rPr lang="zh-CN" altLang="en-US" dirty="0"/>
              <a:t>信息检索中的例子：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在图像数据库中搜“</a:t>
            </a:r>
            <a:r>
              <a:rPr lang="en-US" altLang="zh-CN" dirty="0"/>
              <a:t>njau</a:t>
            </a:r>
            <a:r>
              <a:rPr lang="zh-CN" altLang="en-US" dirty="0"/>
              <a:t>”，假设数据库中与</a:t>
            </a:r>
            <a:r>
              <a:rPr lang="en-US" altLang="zh-CN" dirty="0"/>
              <a:t>njau</a:t>
            </a:r>
            <a:r>
              <a:rPr lang="zh-CN" altLang="en-US" dirty="0"/>
              <a:t>相关的有</a:t>
            </a:r>
            <a:r>
              <a:rPr lang="en-US" altLang="zh-CN" dirty="0"/>
              <a:t>5</a:t>
            </a:r>
            <a:r>
              <a:rPr lang="zh-CN" altLang="en-US" dirty="0"/>
              <a:t>张图片。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003181" y="240302"/>
            <a:ext cx="7028985" cy="741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查准率</a:t>
            </a:r>
            <a:r>
              <a:rPr lang="en-US" altLang="zh-CN" sz="1600" dirty="0"/>
              <a:t>=</a:t>
            </a:r>
            <a:r>
              <a:rPr lang="zh-CN" altLang="en-US" sz="1600" dirty="0"/>
              <a:t>准确率（</a:t>
            </a:r>
            <a:r>
              <a:rPr lang="en-US" altLang="zh-CN" sz="1600" dirty="0"/>
              <a:t>Precision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检索到的所有图像数 </a:t>
            </a:r>
          </a:p>
          <a:p>
            <a:r>
              <a:rPr lang="zh-CN" altLang="en-US" sz="1600" dirty="0"/>
              <a:t>查全率</a:t>
            </a:r>
            <a:r>
              <a:rPr lang="en-US" altLang="zh-CN" sz="1600" dirty="0"/>
              <a:t>=</a:t>
            </a:r>
            <a:r>
              <a:rPr lang="zh-CN" altLang="en-US" sz="1600" dirty="0"/>
              <a:t>召回率（</a:t>
            </a:r>
            <a:r>
              <a:rPr lang="en-US" altLang="zh-CN" sz="1600" dirty="0"/>
              <a:t>Recall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数据库中所有的该类图像</a:t>
            </a:r>
          </a:p>
          <a:p>
            <a:pPr marL="0" indent="0">
              <a:buNone/>
            </a:pP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501807" y="1761894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862148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63082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39226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15373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22196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428577" y="4914359"/>
            <a:ext cx="1277559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P= 1.00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R=1/5</a:t>
            </a:r>
          </a:p>
        </p:txBody>
      </p:sp>
      <p:sp>
        <p:nvSpPr>
          <p:cNvPr id="27" name="内容占位符 2"/>
          <p:cNvSpPr txBox="1">
            <a:spLocks/>
          </p:cNvSpPr>
          <p:nvPr/>
        </p:nvSpPr>
        <p:spPr>
          <a:xfrm>
            <a:off x="6182600" y="4936671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9" name="内容占位符 2"/>
          <p:cNvSpPr txBox="1">
            <a:spLocks/>
          </p:cNvSpPr>
          <p:nvPr/>
        </p:nvSpPr>
        <p:spPr>
          <a:xfrm>
            <a:off x="7546763" y="499614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39011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457" y="44999"/>
            <a:ext cx="11567160" cy="1872615"/>
          </a:xfrm>
        </p:spPr>
        <p:txBody>
          <a:bodyPr>
            <a:normAutofit/>
          </a:bodyPr>
          <a:lstStyle/>
          <a:p>
            <a:r>
              <a:rPr lang="zh-CN" altLang="en-US" dirty="0"/>
              <a:t>信息检索中的例子：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在图像数据库中搜“</a:t>
            </a:r>
            <a:r>
              <a:rPr lang="en-US" altLang="zh-CN" dirty="0"/>
              <a:t>njau</a:t>
            </a:r>
            <a:r>
              <a:rPr lang="zh-CN" altLang="en-US" dirty="0"/>
              <a:t>”，假设数据库中与</a:t>
            </a:r>
            <a:r>
              <a:rPr lang="en-US" altLang="zh-CN" dirty="0"/>
              <a:t>njau</a:t>
            </a:r>
            <a:r>
              <a:rPr lang="zh-CN" altLang="en-US" dirty="0"/>
              <a:t>相关的有</a:t>
            </a:r>
            <a:r>
              <a:rPr lang="en-US" altLang="zh-CN" dirty="0"/>
              <a:t>5</a:t>
            </a:r>
            <a:r>
              <a:rPr lang="zh-CN" altLang="en-US" dirty="0"/>
              <a:t>张图片。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003181" y="240302"/>
            <a:ext cx="7028985" cy="741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查准率</a:t>
            </a:r>
            <a:r>
              <a:rPr lang="en-US" altLang="zh-CN" sz="1600" dirty="0"/>
              <a:t>=</a:t>
            </a:r>
            <a:r>
              <a:rPr lang="zh-CN" altLang="en-US" sz="1600" dirty="0"/>
              <a:t>准确率（</a:t>
            </a:r>
            <a:r>
              <a:rPr lang="en-US" altLang="zh-CN" sz="1600" dirty="0"/>
              <a:t>Precision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检索到的所有图像数 </a:t>
            </a:r>
          </a:p>
          <a:p>
            <a:r>
              <a:rPr lang="zh-CN" altLang="en-US" sz="1600" dirty="0"/>
              <a:t>查全率</a:t>
            </a:r>
            <a:r>
              <a:rPr lang="en-US" altLang="zh-CN" sz="1600" dirty="0"/>
              <a:t>=</a:t>
            </a:r>
            <a:r>
              <a:rPr lang="zh-CN" altLang="en-US" sz="1600" dirty="0"/>
              <a:t>召回率（</a:t>
            </a:r>
            <a:r>
              <a:rPr lang="en-US" altLang="zh-CN" sz="1600" dirty="0"/>
              <a:t>Recall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数据库中所有的该类图像</a:t>
            </a:r>
          </a:p>
          <a:p>
            <a:pPr marL="0" indent="0">
              <a:buNone/>
            </a:pP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501807" y="1761894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862148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63082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39226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15373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22196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836231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428577" y="4914359"/>
            <a:ext cx="1277559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P= 1.00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R=1/5</a:t>
            </a:r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>
            <a:off x="1662644" y="492179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1/5</a:t>
            </a:r>
          </a:p>
        </p:txBody>
      </p:sp>
      <p:sp>
        <p:nvSpPr>
          <p:cNvPr id="22" name="内容占位符 2"/>
          <p:cNvSpPr txBox="1">
            <a:spLocks/>
          </p:cNvSpPr>
          <p:nvPr/>
        </p:nvSpPr>
        <p:spPr>
          <a:xfrm>
            <a:off x="2428359" y="4940379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3116016" y="4947816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4" name="内容占位符 2"/>
          <p:cNvSpPr txBox="1">
            <a:spLocks/>
          </p:cNvSpPr>
          <p:nvPr/>
        </p:nvSpPr>
        <p:spPr>
          <a:xfrm>
            <a:off x="3859432" y="497755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4658601" y="4951538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6" name="内容占位符 2"/>
          <p:cNvSpPr txBox="1">
            <a:spLocks/>
          </p:cNvSpPr>
          <p:nvPr/>
        </p:nvSpPr>
        <p:spPr>
          <a:xfrm>
            <a:off x="5413165" y="494782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7" name="内容占位符 2"/>
          <p:cNvSpPr txBox="1">
            <a:spLocks/>
          </p:cNvSpPr>
          <p:nvPr/>
        </p:nvSpPr>
        <p:spPr>
          <a:xfrm>
            <a:off x="6182600" y="4936671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8" name="内容占位符 2"/>
          <p:cNvSpPr txBox="1">
            <a:spLocks/>
          </p:cNvSpPr>
          <p:nvPr/>
        </p:nvSpPr>
        <p:spPr>
          <a:xfrm>
            <a:off x="6814501" y="494410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9" name="内容占位符 2"/>
          <p:cNvSpPr txBox="1">
            <a:spLocks/>
          </p:cNvSpPr>
          <p:nvPr/>
        </p:nvSpPr>
        <p:spPr>
          <a:xfrm>
            <a:off x="7546763" y="499614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970649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457" y="44999"/>
            <a:ext cx="11567160" cy="1872615"/>
          </a:xfrm>
        </p:spPr>
        <p:txBody>
          <a:bodyPr>
            <a:normAutofit/>
          </a:bodyPr>
          <a:lstStyle/>
          <a:p>
            <a:r>
              <a:rPr lang="zh-CN" altLang="en-US" dirty="0"/>
              <a:t>信息检索中的例子：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在图像数据库中搜“</a:t>
            </a:r>
            <a:r>
              <a:rPr lang="en-US" altLang="zh-CN" dirty="0"/>
              <a:t>njau</a:t>
            </a:r>
            <a:r>
              <a:rPr lang="zh-CN" altLang="en-US" dirty="0"/>
              <a:t>”，假设数据库中与</a:t>
            </a:r>
            <a:r>
              <a:rPr lang="en-US" altLang="zh-CN" dirty="0"/>
              <a:t>njau</a:t>
            </a:r>
            <a:r>
              <a:rPr lang="zh-CN" altLang="en-US" dirty="0"/>
              <a:t>相关的有</a:t>
            </a:r>
            <a:r>
              <a:rPr lang="en-US" altLang="zh-CN" dirty="0"/>
              <a:t>5</a:t>
            </a:r>
            <a:r>
              <a:rPr lang="zh-CN" altLang="en-US" dirty="0"/>
              <a:t>张图片。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003181" y="240302"/>
            <a:ext cx="7028985" cy="741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查准率</a:t>
            </a:r>
            <a:r>
              <a:rPr lang="en-US" altLang="zh-CN" sz="1600" dirty="0"/>
              <a:t>=</a:t>
            </a:r>
            <a:r>
              <a:rPr lang="zh-CN" altLang="en-US" sz="1600" dirty="0"/>
              <a:t>准确率（</a:t>
            </a:r>
            <a:r>
              <a:rPr lang="en-US" altLang="zh-CN" sz="1600" dirty="0"/>
              <a:t>Precision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检索到的所有图像数 </a:t>
            </a:r>
          </a:p>
          <a:p>
            <a:r>
              <a:rPr lang="zh-CN" altLang="en-US" sz="1600" dirty="0"/>
              <a:t>查全率</a:t>
            </a:r>
            <a:r>
              <a:rPr lang="en-US" altLang="zh-CN" sz="1600" dirty="0"/>
              <a:t>=</a:t>
            </a:r>
            <a:r>
              <a:rPr lang="zh-CN" altLang="en-US" sz="1600" dirty="0"/>
              <a:t>召回率（</a:t>
            </a:r>
            <a:r>
              <a:rPr lang="en-US" altLang="zh-CN" sz="1600" dirty="0"/>
              <a:t>Recall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数据库中所有的该类图像</a:t>
            </a:r>
          </a:p>
          <a:p>
            <a:pPr marL="0" indent="0">
              <a:buNone/>
            </a:pP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501807" y="1761894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862148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63082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39226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15373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22196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836231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512737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428577" y="4914359"/>
            <a:ext cx="1277559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P= 1.00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R=1/5</a:t>
            </a:r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>
            <a:off x="1662644" y="492179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1/5</a:t>
            </a:r>
          </a:p>
        </p:txBody>
      </p:sp>
      <p:sp>
        <p:nvSpPr>
          <p:cNvPr id="22" name="内容占位符 2"/>
          <p:cNvSpPr txBox="1">
            <a:spLocks/>
          </p:cNvSpPr>
          <p:nvPr/>
        </p:nvSpPr>
        <p:spPr>
          <a:xfrm>
            <a:off x="2428359" y="4940379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3116016" y="4947816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4" name="内容占位符 2"/>
          <p:cNvSpPr txBox="1">
            <a:spLocks/>
          </p:cNvSpPr>
          <p:nvPr/>
        </p:nvSpPr>
        <p:spPr>
          <a:xfrm>
            <a:off x="3859432" y="497755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4658601" y="4951538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6" name="内容占位符 2"/>
          <p:cNvSpPr txBox="1">
            <a:spLocks/>
          </p:cNvSpPr>
          <p:nvPr/>
        </p:nvSpPr>
        <p:spPr>
          <a:xfrm>
            <a:off x="5413165" y="494782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7" name="内容占位符 2"/>
          <p:cNvSpPr txBox="1">
            <a:spLocks/>
          </p:cNvSpPr>
          <p:nvPr/>
        </p:nvSpPr>
        <p:spPr>
          <a:xfrm>
            <a:off x="6182600" y="4936671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8" name="内容占位符 2"/>
          <p:cNvSpPr txBox="1">
            <a:spLocks/>
          </p:cNvSpPr>
          <p:nvPr/>
        </p:nvSpPr>
        <p:spPr>
          <a:xfrm>
            <a:off x="6814501" y="494410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9" name="内容占位符 2"/>
          <p:cNvSpPr txBox="1">
            <a:spLocks/>
          </p:cNvSpPr>
          <p:nvPr/>
        </p:nvSpPr>
        <p:spPr>
          <a:xfrm>
            <a:off x="7546763" y="499614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05446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457" y="44999"/>
            <a:ext cx="11567160" cy="1872615"/>
          </a:xfrm>
        </p:spPr>
        <p:txBody>
          <a:bodyPr>
            <a:normAutofit/>
          </a:bodyPr>
          <a:lstStyle/>
          <a:p>
            <a:r>
              <a:rPr lang="zh-CN" altLang="en-US" dirty="0"/>
              <a:t>信息检索中的例子：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在图像数据库中搜“</a:t>
            </a:r>
            <a:r>
              <a:rPr lang="en-US" altLang="zh-CN" dirty="0"/>
              <a:t>njau</a:t>
            </a:r>
            <a:r>
              <a:rPr lang="zh-CN" altLang="en-US" dirty="0"/>
              <a:t>”，假设数据库中与</a:t>
            </a:r>
            <a:r>
              <a:rPr lang="en-US" altLang="zh-CN" dirty="0"/>
              <a:t>njau</a:t>
            </a:r>
            <a:r>
              <a:rPr lang="zh-CN" altLang="en-US" dirty="0"/>
              <a:t>相关的有</a:t>
            </a:r>
            <a:r>
              <a:rPr lang="en-US" altLang="zh-CN" dirty="0"/>
              <a:t>5</a:t>
            </a:r>
            <a:r>
              <a:rPr lang="zh-CN" altLang="en-US" dirty="0"/>
              <a:t>张图片。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003181" y="240302"/>
            <a:ext cx="7028985" cy="741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查准率</a:t>
            </a:r>
            <a:r>
              <a:rPr lang="en-US" altLang="zh-CN" sz="1600" dirty="0"/>
              <a:t>=</a:t>
            </a:r>
            <a:r>
              <a:rPr lang="zh-CN" altLang="en-US" sz="1600" dirty="0"/>
              <a:t>准确率（</a:t>
            </a:r>
            <a:r>
              <a:rPr lang="en-US" altLang="zh-CN" sz="1600" dirty="0"/>
              <a:t>Precision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检索到的所有图像数 </a:t>
            </a:r>
          </a:p>
          <a:p>
            <a:r>
              <a:rPr lang="zh-CN" altLang="en-US" sz="1600" dirty="0"/>
              <a:t>查全率</a:t>
            </a:r>
            <a:r>
              <a:rPr lang="en-US" altLang="zh-CN" sz="1600" dirty="0"/>
              <a:t>=</a:t>
            </a:r>
            <a:r>
              <a:rPr lang="zh-CN" altLang="en-US" sz="1600" dirty="0"/>
              <a:t>召回率（</a:t>
            </a:r>
            <a:r>
              <a:rPr lang="en-US" altLang="zh-CN" sz="1600" dirty="0"/>
              <a:t>Recall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数据库中所有的该类图像</a:t>
            </a:r>
          </a:p>
          <a:p>
            <a:pPr marL="0" indent="0">
              <a:buNone/>
            </a:pP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501807" y="1761894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862148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63082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39226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15373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22196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836231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512737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259871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428577" y="4914359"/>
            <a:ext cx="1277559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P= 1.00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R=1/5</a:t>
            </a:r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>
            <a:off x="1662644" y="492179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1/5</a:t>
            </a:r>
          </a:p>
        </p:txBody>
      </p:sp>
      <p:sp>
        <p:nvSpPr>
          <p:cNvPr id="22" name="内容占位符 2"/>
          <p:cNvSpPr txBox="1">
            <a:spLocks/>
          </p:cNvSpPr>
          <p:nvPr/>
        </p:nvSpPr>
        <p:spPr>
          <a:xfrm>
            <a:off x="2428359" y="4940379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3116016" y="4947816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4" name="内容占位符 2"/>
          <p:cNvSpPr txBox="1">
            <a:spLocks/>
          </p:cNvSpPr>
          <p:nvPr/>
        </p:nvSpPr>
        <p:spPr>
          <a:xfrm>
            <a:off x="3859432" y="497755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4658601" y="4951538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6" name="内容占位符 2"/>
          <p:cNvSpPr txBox="1">
            <a:spLocks/>
          </p:cNvSpPr>
          <p:nvPr/>
        </p:nvSpPr>
        <p:spPr>
          <a:xfrm>
            <a:off x="5413165" y="494782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7" name="内容占位符 2"/>
          <p:cNvSpPr txBox="1">
            <a:spLocks/>
          </p:cNvSpPr>
          <p:nvPr/>
        </p:nvSpPr>
        <p:spPr>
          <a:xfrm>
            <a:off x="6182600" y="4936671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8" name="内容占位符 2"/>
          <p:cNvSpPr txBox="1">
            <a:spLocks/>
          </p:cNvSpPr>
          <p:nvPr/>
        </p:nvSpPr>
        <p:spPr>
          <a:xfrm>
            <a:off x="6814501" y="494410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9" name="内容占位符 2"/>
          <p:cNvSpPr txBox="1">
            <a:spLocks/>
          </p:cNvSpPr>
          <p:nvPr/>
        </p:nvSpPr>
        <p:spPr>
          <a:xfrm>
            <a:off x="7546763" y="499614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83194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457" y="44999"/>
            <a:ext cx="11567160" cy="1872615"/>
          </a:xfrm>
        </p:spPr>
        <p:txBody>
          <a:bodyPr>
            <a:normAutofit/>
          </a:bodyPr>
          <a:lstStyle/>
          <a:p>
            <a:r>
              <a:rPr lang="zh-CN" altLang="en-US" dirty="0"/>
              <a:t>信息检索中的例子：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在图像数据库中搜“</a:t>
            </a:r>
            <a:r>
              <a:rPr lang="en-US" altLang="zh-CN" dirty="0"/>
              <a:t>njau</a:t>
            </a:r>
            <a:r>
              <a:rPr lang="zh-CN" altLang="en-US" dirty="0"/>
              <a:t>”，假设数据库中与</a:t>
            </a:r>
            <a:r>
              <a:rPr lang="en-US" altLang="zh-CN" dirty="0"/>
              <a:t>njau</a:t>
            </a:r>
            <a:r>
              <a:rPr lang="zh-CN" altLang="en-US" dirty="0"/>
              <a:t>相关的有</a:t>
            </a:r>
            <a:r>
              <a:rPr lang="en-US" altLang="zh-CN" dirty="0"/>
              <a:t>5</a:t>
            </a:r>
            <a:r>
              <a:rPr lang="zh-CN" altLang="en-US" dirty="0"/>
              <a:t>张图片。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003181" y="240302"/>
            <a:ext cx="7028985" cy="741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查准率</a:t>
            </a:r>
            <a:r>
              <a:rPr lang="en-US" altLang="zh-CN" sz="1600" dirty="0"/>
              <a:t>=</a:t>
            </a:r>
            <a:r>
              <a:rPr lang="zh-CN" altLang="en-US" sz="1600" dirty="0"/>
              <a:t>准确率（</a:t>
            </a:r>
            <a:r>
              <a:rPr lang="en-US" altLang="zh-CN" sz="1600" dirty="0"/>
              <a:t>Precision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检索到的所有图像数 </a:t>
            </a:r>
          </a:p>
          <a:p>
            <a:r>
              <a:rPr lang="zh-CN" altLang="en-US" sz="1600" dirty="0"/>
              <a:t>查全率</a:t>
            </a:r>
            <a:r>
              <a:rPr lang="en-US" altLang="zh-CN" sz="1600" dirty="0"/>
              <a:t>=</a:t>
            </a:r>
            <a:r>
              <a:rPr lang="zh-CN" altLang="en-US" sz="1600" dirty="0"/>
              <a:t>召回率（</a:t>
            </a:r>
            <a:r>
              <a:rPr lang="en-US" altLang="zh-CN" sz="1600" dirty="0"/>
              <a:t>Recall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数据库中所有的该类图像</a:t>
            </a:r>
          </a:p>
          <a:p>
            <a:pPr marL="0" indent="0">
              <a:buNone/>
            </a:pP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501807" y="1761894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862148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63082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39226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15373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22196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836231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512737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259871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962396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428577" y="4914359"/>
            <a:ext cx="1277559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P= 1.00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R=1/5</a:t>
            </a:r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>
            <a:off x="1662644" y="492179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1/5</a:t>
            </a:r>
          </a:p>
        </p:txBody>
      </p:sp>
      <p:sp>
        <p:nvSpPr>
          <p:cNvPr id="22" name="内容占位符 2"/>
          <p:cNvSpPr txBox="1">
            <a:spLocks/>
          </p:cNvSpPr>
          <p:nvPr/>
        </p:nvSpPr>
        <p:spPr>
          <a:xfrm>
            <a:off x="2428359" y="4940379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3116016" y="4947816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4" name="内容占位符 2"/>
          <p:cNvSpPr txBox="1">
            <a:spLocks/>
          </p:cNvSpPr>
          <p:nvPr/>
        </p:nvSpPr>
        <p:spPr>
          <a:xfrm>
            <a:off x="3859432" y="497755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4658601" y="4951538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6" name="内容占位符 2"/>
          <p:cNvSpPr txBox="1">
            <a:spLocks/>
          </p:cNvSpPr>
          <p:nvPr/>
        </p:nvSpPr>
        <p:spPr>
          <a:xfrm>
            <a:off x="5413165" y="494782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7" name="内容占位符 2"/>
          <p:cNvSpPr txBox="1">
            <a:spLocks/>
          </p:cNvSpPr>
          <p:nvPr/>
        </p:nvSpPr>
        <p:spPr>
          <a:xfrm>
            <a:off x="6182600" y="4936671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9" name="内容占位符 2"/>
          <p:cNvSpPr txBox="1">
            <a:spLocks/>
          </p:cNvSpPr>
          <p:nvPr/>
        </p:nvSpPr>
        <p:spPr>
          <a:xfrm>
            <a:off x="7546763" y="499614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277314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457" y="44999"/>
            <a:ext cx="11567160" cy="1872615"/>
          </a:xfrm>
        </p:spPr>
        <p:txBody>
          <a:bodyPr>
            <a:normAutofit/>
          </a:bodyPr>
          <a:lstStyle/>
          <a:p>
            <a:r>
              <a:rPr lang="zh-CN" altLang="en-US" dirty="0"/>
              <a:t>信息检索中的例子：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在图像数据库中搜“</a:t>
            </a:r>
            <a:r>
              <a:rPr lang="en-US" altLang="zh-CN" dirty="0"/>
              <a:t>njau</a:t>
            </a:r>
            <a:r>
              <a:rPr lang="zh-CN" altLang="en-US" dirty="0"/>
              <a:t>”，假设数据库中与</a:t>
            </a:r>
            <a:r>
              <a:rPr lang="en-US" altLang="zh-CN" dirty="0"/>
              <a:t>njau</a:t>
            </a:r>
            <a:r>
              <a:rPr lang="zh-CN" altLang="en-US" dirty="0"/>
              <a:t>相关的有</a:t>
            </a:r>
            <a:r>
              <a:rPr lang="en-US" altLang="zh-CN" dirty="0"/>
              <a:t>5</a:t>
            </a:r>
            <a:r>
              <a:rPr lang="zh-CN" altLang="en-US" dirty="0"/>
              <a:t>张图片。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003181" y="240302"/>
            <a:ext cx="7028985" cy="741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查准率</a:t>
            </a:r>
            <a:r>
              <a:rPr lang="en-US" altLang="zh-CN" sz="1600" dirty="0"/>
              <a:t>=</a:t>
            </a:r>
            <a:r>
              <a:rPr lang="zh-CN" altLang="en-US" sz="1600" dirty="0"/>
              <a:t>准确率（</a:t>
            </a:r>
            <a:r>
              <a:rPr lang="en-US" altLang="zh-CN" sz="1600" dirty="0"/>
              <a:t>Precision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检索到的所有图像数 </a:t>
            </a:r>
          </a:p>
          <a:p>
            <a:r>
              <a:rPr lang="zh-CN" altLang="en-US" sz="1600" dirty="0"/>
              <a:t>查全率</a:t>
            </a:r>
            <a:r>
              <a:rPr lang="en-US" altLang="zh-CN" sz="1600" dirty="0"/>
              <a:t>=</a:t>
            </a:r>
            <a:r>
              <a:rPr lang="zh-CN" altLang="en-US" sz="1600" dirty="0"/>
              <a:t>召回率（</a:t>
            </a:r>
            <a:r>
              <a:rPr lang="en-US" altLang="zh-CN" sz="1600" dirty="0"/>
              <a:t>Recall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数据库中所有的该类图像</a:t>
            </a:r>
          </a:p>
          <a:p>
            <a:pPr marL="0" indent="0">
              <a:buNone/>
            </a:pP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501807" y="1761894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862148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63082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39226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15373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22196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754138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836231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512737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259871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962396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597909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428577" y="4914359"/>
            <a:ext cx="1277559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P= 1.00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R=1/5</a:t>
            </a:r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>
            <a:off x="1662644" y="492179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1/5</a:t>
            </a:r>
          </a:p>
        </p:txBody>
      </p:sp>
      <p:sp>
        <p:nvSpPr>
          <p:cNvPr id="22" name="内容占位符 2"/>
          <p:cNvSpPr txBox="1">
            <a:spLocks/>
          </p:cNvSpPr>
          <p:nvPr/>
        </p:nvSpPr>
        <p:spPr>
          <a:xfrm>
            <a:off x="2428359" y="4940379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3116016" y="4947816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4" name="内容占位符 2"/>
          <p:cNvSpPr txBox="1">
            <a:spLocks/>
          </p:cNvSpPr>
          <p:nvPr/>
        </p:nvSpPr>
        <p:spPr>
          <a:xfrm>
            <a:off x="3859432" y="497755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4658601" y="4951538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3/6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3/5</a:t>
            </a:r>
          </a:p>
        </p:txBody>
      </p:sp>
      <p:sp>
        <p:nvSpPr>
          <p:cNvPr id="26" name="内容占位符 2"/>
          <p:cNvSpPr txBox="1">
            <a:spLocks/>
          </p:cNvSpPr>
          <p:nvPr/>
        </p:nvSpPr>
        <p:spPr>
          <a:xfrm>
            <a:off x="5413165" y="494782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3/7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3/5</a:t>
            </a:r>
          </a:p>
        </p:txBody>
      </p:sp>
      <p:sp>
        <p:nvSpPr>
          <p:cNvPr id="27" name="内容占位符 2"/>
          <p:cNvSpPr txBox="1">
            <a:spLocks/>
          </p:cNvSpPr>
          <p:nvPr/>
        </p:nvSpPr>
        <p:spPr>
          <a:xfrm>
            <a:off x="6182600" y="4936671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8" name="内容占位符 2"/>
          <p:cNvSpPr txBox="1">
            <a:spLocks/>
          </p:cNvSpPr>
          <p:nvPr/>
        </p:nvSpPr>
        <p:spPr>
          <a:xfrm>
            <a:off x="6814501" y="494410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29" name="内容占位符 2"/>
          <p:cNvSpPr txBox="1">
            <a:spLocks/>
          </p:cNvSpPr>
          <p:nvPr/>
        </p:nvSpPr>
        <p:spPr>
          <a:xfrm>
            <a:off x="7546763" y="499614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306346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457" y="44999"/>
            <a:ext cx="11567160" cy="1872615"/>
          </a:xfrm>
        </p:spPr>
        <p:txBody>
          <a:bodyPr>
            <a:normAutofit/>
          </a:bodyPr>
          <a:lstStyle/>
          <a:p>
            <a:r>
              <a:rPr lang="zh-CN" altLang="en-US" dirty="0"/>
              <a:t>信息检索中的例子：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在图像数据库中搜“</a:t>
            </a:r>
            <a:r>
              <a:rPr lang="en-US" altLang="zh-CN" dirty="0"/>
              <a:t>njau</a:t>
            </a:r>
            <a:r>
              <a:rPr lang="zh-CN" altLang="en-US" dirty="0"/>
              <a:t>”，假设数据库中与</a:t>
            </a:r>
            <a:r>
              <a:rPr lang="en-US" altLang="zh-CN" dirty="0"/>
              <a:t>njau</a:t>
            </a:r>
            <a:r>
              <a:rPr lang="zh-CN" altLang="en-US" dirty="0"/>
              <a:t>相关的有</a:t>
            </a:r>
            <a:r>
              <a:rPr lang="en-US" altLang="zh-CN" dirty="0"/>
              <a:t>5</a:t>
            </a:r>
            <a:r>
              <a:rPr lang="zh-CN" altLang="en-US" dirty="0"/>
              <a:t>张图片。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003181" y="240302"/>
            <a:ext cx="7028985" cy="741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查准率</a:t>
            </a:r>
            <a:r>
              <a:rPr lang="en-US" altLang="zh-CN" sz="1600" dirty="0"/>
              <a:t>=</a:t>
            </a:r>
            <a:r>
              <a:rPr lang="zh-CN" altLang="en-US" sz="1600" dirty="0"/>
              <a:t>准确率（</a:t>
            </a:r>
            <a:r>
              <a:rPr lang="en-US" altLang="zh-CN" sz="1600" dirty="0"/>
              <a:t>Precision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检索到的所有图像数 </a:t>
            </a:r>
          </a:p>
          <a:p>
            <a:r>
              <a:rPr lang="zh-CN" altLang="en-US" sz="1600" dirty="0"/>
              <a:t>查全率</a:t>
            </a:r>
            <a:r>
              <a:rPr lang="en-US" altLang="zh-CN" sz="1600" dirty="0"/>
              <a:t>=</a:t>
            </a:r>
            <a:r>
              <a:rPr lang="zh-CN" altLang="en-US" sz="1600" dirty="0"/>
              <a:t>召回率（</a:t>
            </a:r>
            <a:r>
              <a:rPr lang="en-US" altLang="zh-CN" sz="1600" dirty="0"/>
              <a:t>Recall</a:t>
            </a:r>
            <a:r>
              <a:rPr lang="zh-CN" altLang="en-US" sz="1600" dirty="0"/>
              <a:t>）</a:t>
            </a:r>
            <a:r>
              <a:rPr lang="en-US" altLang="zh-CN" sz="1600" dirty="0"/>
              <a:t>= </a:t>
            </a:r>
            <a:r>
              <a:rPr lang="zh-CN" altLang="en-US" sz="1600" dirty="0"/>
              <a:t>检索到的该类图像 </a:t>
            </a:r>
            <a:r>
              <a:rPr lang="en-US" altLang="zh-CN" sz="1600" dirty="0"/>
              <a:t>/ </a:t>
            </a:r>
            <a:r>
              <a:rPr lang="zh-CN" altLang="en-US" sz="1600" dirty="0"/>
              <a:t>数据库中所有的该类图像</a:t>
            </a:r>
          </a:p>
          <a:p>
            <a:pPr marL="0" indent="0">
              <a:buNone/>
            </a:pP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501807" y="1761894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862148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63082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639226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15373" y="1750741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22196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754138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936054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836231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512737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259871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962396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597909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300434" y="3824869"/>
            <a:ext cx="504000" cy="9701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657166" y="3824869"/>
            <a:ext cx="504000" cy="970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428577" y="4914359"/>
            <a:ext cx="1277559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P= 1.00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R=1/5</a:t>
            </a:r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>
            <a:off x="1662644" y="492179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1/5</a:t>
            </a:r>
          </a:p>
        </p:txBody>
      </p:sp>
      <p:sp>
        <p:nvSpPr>
          <p:cNvPr id="22" name="内容占位符 2"/>
          <p:cNvSpPr txBox="1">
            <a:spLocks/>
          </p:cNvSpPr>
          <p:nvPr/>
        </p:nvSpPr>
        <p:spPr>
          <a:xfrm>
            <a:off x="2428359" y="4940379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3116016" y="4947816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4" name="内容占位符 2"/>
          <p:cNvSpPr txBox="1">
            <a:spLocks/>
          </p:cNvSpPr>
          <p:nvPr/>
        </p:nvSpPr>
        <p:spPr>
          <a:xfrm>
            <a:off x="3859432" y="497755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2/5</a:t>
            </a: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4658601" y="4951538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3/6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3/5</a:t>
            </a:r>
          </a:p>
        </p:txBody>
      </p:sp>
      <p:sp>
        <p:nvSpPr>
          <p:cNvPr id="26" name="内容占位符 2"/>
          <p:cNvSpPr txBox="1">
            <a:spLocks/>
          </p:cNvSpPr>
          <p:nvPr/>
        </p:nvSpPr>
        <p:spPr>
          <a:xfrm>
            <a:off x="5413165" y="494782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3/7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3/5</a:t>
            </a:r>
          </a:p>
        </p:txBody>
      </p:sp>
      <p:sp>
        <p:nvSpPr>
          <p:cNvPr id="27" name="内容占位符 2"/>
          <p:cNvSpPr txBox="1">
            <a:spLocks/>
          </p:cNvSpPr>
          <p:nvPr/>
        </p:nvSpPr>
        <p:spPr>
          <a:xfrm>
            <a:off x="6182600" y="4936671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3/8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3/5</a:t>
            </a:r>
          </a:p>
        </p:txBody>
      </p:sp>
      <p:sp>
        <p:nvSpPr>
          <p:cNvPr id="28" name="内容占位符 2"/>
          <p:cNvSpPr txBox="1">
            <a:spLocks/>
          </p:cNvSpPr>
          <p:nvPr/>
        </p:nvSpPr>
        <p:spPr>
          <a:xfrm>
            <a:off x="6814501" y="4944105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4/9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4/5</a:t>
            </a:r>
          </a:p>
        </p:txBody>
      </p:sp>
      <p:sp>
        <p:nvSpPr>
          <p:cNvPr id="29" name="内容占位符 2"/>
          <p:cNvSpPr txBox="1">
            <a:spLocks/>
          </p:cNvSpPr>
          <p:nvPr/>
        </p:nvSpPr>
        <p:spPr>
          <a:xfrm>
            <a:off x="7546763" y="4996143"/>
            <a:ext cx="1056730" cy="1207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5/9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28808194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zh-CN" altLang="en-US" sz="2400" dirty="0"/>
              <a:t>提纲：</a:t>
            </a:r>
            <a:br>
              <a:rPr lang="en-US" altLang="zh-CN" sz="2400" dirty="0"/>
            </a:br>
            <a:r>
              <a:rPr lang="en-US" altLang="zh-CN" sz="2400" dirty="0"/>
              <a:t>1  </a:t>
            </a:r>
            <a:r>
              <a:rPr lang="zh-CN" altLang="en-US" sz="2400" dirty="0"/>
              <a:t>大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7" name="矩形 10"/>
          <p:cNvSpPr/>
          <p:nvPr/>
        </p:nvSpPr>
        <p:spPr>
          <a:xfrm>
            <a:off x="0" y="0"/>
            <a:ext cx="12205648" cy="1202643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28"/>
          <p:cNvSpPr/>
          <p:nvPr/>
        </p:nvSpPr>
        <p:spPr>
          <a:xfrm>
            <a:off x="-329003" y="1278393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29"/>
          <p:cNvSpPr/>
          <p:nvPr/>
        </p:nvSpPr>
        <p:spPr>
          <a:xfrm>
            <a:off x="9121588" y="1278399"/>
            <a:ext cx="3070412" cy="51465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4371094" y="3429000"/>
            <a:ext cx="8424936" cy="4839816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sz="6000" dirty="0">
                <a:solidFill>
                  <a:srgbClr val="FF0000"/>
                </a:solidFill>
              </a:rPr>
              <a:t>Q&amp;A</a:t>
            </a:r>
            <a:r>
              <a:rPr lang="zh-CN" altLang="en-US" sz="6000" dirty="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5"/>
  <p:tag name="ORIGINALWIDTH" val="1857.75"/>
  <p:tag name="LATEXADDIN" val="\documentclass{article}&#10;\usepackage{amsmath}&#10;\pagestyle{empty}&#10;\begin{document}&#10;&#10;&#10;$&#10;x=(x^{(1)},x^{(2)},\cdots,x^{(i)},\cdots,x^{(d)})^T&#10;$&#10;&#10;\end{document}"/>
  <p:tag name="IGUANATEXSIZE" val="32"/>
  <p:tag name="IGUANATEXCURSOR" val="135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5.75"/>
  <p:tag name="ORIGINALWIDTH" val="1411.5"/>
  <p:tag name="LATEXADDIN" val="\documentclass{article}&#10;\usepackage{amsmath}&#10;\pagestyle{empty}&#10;\begin{document}&#10;&#10;&#10;$&#10;x_i=(x_i^{(1)},x_i^{(2)},\cdots,x_i^{(d)})^T&#10;$&#10;&#10;\end{document}"/>
  <p:tag name="IGUANATEXSIZE" val="32"/>
  <p:tag name="IGUANATEXCURSOR" val="128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346.5"/>
  <p:tag name="LATEXADDIN" val="\documentclass{article}&#10;\usepackage{amsmath}&#10;\pagestyle{empty}&#10;\begin{document}&#10;$P(x|z)$&#10;&#10;&#10;&#10;\end{document}"/>
  <p:tag name="IGUANATEXSIZE" val="20"/>
  <p:tag name="IGUANATEXCURSOR" val="87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346.5"/>
  <p:tag name="LATEXADDIN" val="\documentclass{article}&#10;\usepackage{amsmath}&#10;\pagestyle{empty}&#10;\begin{document}&#10;&#10;$P(x|z)$&#10;&#10;&#10;\end{document}"/>
  <p:tag name="IGUANATEXSIZE" val="20"/>
  <p:tag name="IGUANATEXCURSOR" val="88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346.5"/>
  <p:tag name="LATEXADDIN" val="\documentclass{article}&#10;\usepackage{amsmath}&#10;\pagestyle{empty}&#10;\begin{document}&#10;&#10;$P(x|z)$&#10;&#10;&#10;\end{document}"/>
  <p:tag name="IGUANATEXSIZE" val="20"/>
  <p:tag name="IGUANATEXCURSOR" val="88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346.5"/>
  <p:tag name="LATEXADDIN" val="\documentclass{article}&#10;\usepackage{amsmath}&#10;\pagestyle{empty}&#10;\begin{document}&#10;&#10;$P(x|z)$&#10;&#10;&#10;\end{document}"/>
  <p:tag name="IGUANATEXSIZE" val="20"/>
  <p:tag name="IGUANATEXCURSOR" val="88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25"/>
  <p:tag name="ORIGINALWIDTH" val="42"/>
  <p:tag name="LATEXADDIN" val="\documentclass{article}&#10;\usepackage{amsmath}&#10;\pagestyle{empty}&#10;\begin{document}&#10;&#10;1&#10;&#10;&#10;&#10;\end{document}"/>
  <p:tag name="IGUANATEXSIZE" val="44"/>
  <p:tag name="IGUANATEXCURSOR" val="83"/>
  <p:tag name="TRANSPARENCY" val="True"/>
  <p:tag name="FILENAME" val=""/>
  <p:tag name="LATEXENGINEID" val="0"/>
  <p:tag name="TEMPFOLDER" val="D:\Toolbox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5"/>
  <p:tag name="ORIGINALWIDTH" val="1725"/>
  <p:tag name="LATEXADDIN" val="\documentclass{article}&#10;\usepackage{amsmath}&#10;\pagestyle{empty}&#10;\begin{document}&#10;&#10;$&#10;L(Y,f(X)))=\left\{&#10;\begin{array}{ll}&#10;1,&amp;Y\neq f(X)\\&#10;0,&amp;Y=f(X)&#10;\end{array}&#10;\right.&#10;$&#10;&#10;&#10;\end{document}"/>
  <p:tag name="IGUANATEXSIZE" val="24"/>
  <p:tag name="IGUANATEXCURSOR" val="165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1488"/>
  <p:tag name="LATEXADDIN" val="\documentclass{article}&#10;\usepackage{amsmath}&#10;\pagestyle{empty}&#10;\begin{document}&#10;&#10;$&#10;L(Y,f(X)))=(Y-f(X))^2&#10;$&#10;&#10;&#10;\end{document}"/>
  <p:tag name="IGUANATEXSIZE" val="24"/>
  <p:tag name="IGUANATEXCURSOR" val="104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1401.75"/>
  <p:tag name="LATEXADDIN" val="\documentclass{article}&#10;\usepackage{amsmath}&#10;\pagestyle{empty}&#10;\begin{document}&#10;&#10;$&#10;L(Y,f(X)))=|Y-f(X)|&#10;$&#10;&#10;&#10;\end{document}"/>
  <p:tag name="IGUANATEXSIZE" val="24"/>
  <p:tag name="IGUANATEXCURSOR" val="101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1647.75"/>
  <p:tag name="LATEXADDIN" val="\documentclass{article}&#10;\usepackage{amsmath}&#10;\pagestyle{empty}&#10;\begin{document}&#10;&#10;$&#10;L(Y,P(Y|X))=-\log P(Y|X)$&#10;&#10;&#10;\end{document}"/>
  <p:tag name="IGUANATEXSIZE" val="24"/>
  <p:tag name="IGUANATEXCURSOR" val="108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6.75"/>
  <p:tag name="ORIGINALWIDTH" val="3110.25"/>
  <p:tag name="LATEXADDIN" val="\documentclass{article}&#10;\usepackage{amsmath}&#10;\pagestyle{empty}&#10;\begin{document}&#10;&#10;$&#10;R_{\mathrm{exp}}(f)=E_{P}[L(Y,f(X))]=\int_{\mathcal{X}\times \mathcal{Y}}L(y,f(x))P(x,y)dxdy&#10;$&#10;&#10;&#10;\end{document}"/>
  <p:tag name="IGUANATEXSIZE" val="24"/>
  <p:tag name="IGUANATEXCURSOR" val="175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1987.5"/>
  <p:tag name="LATEXADDIN" val="\documentclass{article}&#10;\usepackage{amsmath}&#10;\pagestyle{empty}&#10;\begin{document}&#10;&#10;$&#10;T=\{(x_1,y_1),(x_2,y_2),\cdots,(x_N,y_N)\}$&#10;&#10;&#10;\end{document}"/>
  <p:tag name="IGUANATEXSIZE" val="24"/>
  <p:tag name="IGUANATEXCURSOR" val="123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8.75"/>
  <p:tag name="ORIGINALWIDTH" val="1546.5"/>
  <p:tag name="LATEXADDIN" val="\documentclass{article}&#10;\usepackage{amsmath}&#10;\pagestyle{empty}&#10;\begin{document}&#10;&#10;$&#10;R_{\mathrm{emp}}(f)=\frac{1}{N}\sum\limits_{i=1}^NL(y_i,f(x_i))&#10;$&#10;&#10;&#10;\end{document}"/>
  <p:tag name="IGUANATEXSIZE" val="24"/>
  <p:tag name="IGUANATEXCURSOR" val="146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8.75"/>
  <p:tag name="ORIGINALWIDTH" val="1156.5"/>
  <p:tag name="LATEXADDIN" val="\documentclass{article}&#10;\usepackage{amsmath}&#10;\pagestyle{empty}&#10;\begin{document}&#10;&#10;$&#10;\min\limits_{f\in\mathcal{F}}\frac{1}{N}\sum\limits_{i=1}^NL(y_i,f(x_i))&#10;$&#10;&#10;&#10;\end{document}"/>
  <p:tag name="IGUANATEXSIZE" val="24"/>
  <p:tag name="IGUANATEXCURSOR" val="94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8.75"/>
  <p:tag name="ORIGINALWIDTH" val="1393.5"/>
  <p:tag name="LATEXADDIN" val="\documentclass{article}&#10;\usepackage{amsmath}&#10;\pagestyle{empty}&#10;\begin{document}&#10;&#10;$&#10;\frac{1}{N}\sum\limits_{i=1}^NL(y_i,f(x_i))+\lambda J(f)&#10;$&#10;&#10;&#10;\end{document}"/>
  <p:tag name="IGUANATEXSIZE" val="24"/>
  <p:tag name="IGUANATEXCURSOR" val="83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8.75"/>
  <p:tag name="ORIGINALWIDTH" val="1674.75"/>
  <p:tag name="LATEXADDIN" val="\documentclass{article}&#10;\usepackage{amsmath}&#10;\pagestyle{empty}&#10;\begin{document}&#10;&#10;$&#10;\min\limits_{f\in\mathcal{F}}\,\,\frac{1}{N}\sum\limits_{i=1}^NL(y_i,f(x_i))+\lambda J(f)&#10;$&#10;&#10;&#10;\end{document}"/>
  <p:tag name="IGUANATEXSIZE" val="24"/>
  <p:tag name="IGUANATEXCURSOR" val="116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1934.25"/>
  <p:tag name="LATEXADDIN" val="\documentclass{article}&#10;\usepackage{amsmath}&#10;\pagestyle{empty}&#10;\begin{document}&#10;&#10;$T=\{(x_1,y_1),(x_2,y_2),\cdots,(x_n,y_n)\}$&#10;&#10;&#10;\end{document}"/>
  <p:tag name="IGUANATEXSIZE" val="36"/>
  <p:tag name="IGUANATEXCURSOR" val="125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7"/>
  <p:tag name="ORIGINALWIDTH" val="1622.25"/>
  <p:tag name="LATEXADDIN" val="\documentclass{article}&#10;\usepackage{amsmath}&#10;\pagestyle{empty}&#10;\begin{document}&#10;&#10;$L(w)=\frac{1}{2}\sum\limits_{i=1}^{n}(f_M(x_i,w)-y_i)^2$&#10;&#10;&#10;\end{document}"/>
  <p:tag name="IGUANATEXSIZE" val="28"/>
  <p:tag name="IGUANATEXCURSOR" val="137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.25"/>
  <p:tag name="ORIGINALWIDTH" val="1551.75"/>
  <p:tag name="LATEXADDIN" val="\documentclass{article}&#10;\usepackage{amsmath}&#10;\pagestyle{empty}&#10;\begin{document}&#10;&#10;$L(w)=\frac{1}{2}\sum\limits_{i=1}^{n}(\sum\limits_{j=0}^Mw_jx_i^j-y_i)^2$&#10;&#10;&#10;\end{document}"/>
  <p:tag name="IGUANATEXSIZE" val="28"/>
  <p:tag name="IGUANATEXCURSOR" val="147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5.5"/>
  <p:tag name="ORIGINALWIDTH" val="3110.25"/>
  <p:tag name="LATEXADDIN" val="\documentclass{article}&#10;\usepackage{amsmath}&#10;\pagestyle{empty}&#10;\begin{document}&#10;&#10;$&#10;R_{\mathrm{exp}}(\hat{f})=E_{P}[L(Y,\hat{f}(X))]=\int_{\mathcal{X}\times \mathcal{Y}}L(y,\hat{f}(x))P(x,y)dxdy&#10;$&#10;&#10;&#10;\end{document}"/>
  <p:tag name="IGUANATEXSIZE" val="24"/>
  <p:tag name="IGUANATEXCURSOR" val="179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6.75"/>
  <p:tag name="ORIGINALWIDTH" val="3110.25"/>
  <p:tag name="LATEXADDIN" val="\documentclass{article}&#10;\usepackage{amsmath}&#10;\pagestyle{empty}&#10;\begin{document}&#10;&#10;$&#10;R_{\mathrm{exp}}(f)=E_{P}[L(Y,f(X))]=\int_{\mathcal{X}\times \mathcal{Y}}L(y,f(x))P(x,y)dxdy&#10;$&#10;&#10;&#10;\end{document}"/>
  <p:tag name="IGUANATEXSIZE" val="24"/>
  <p:tag name="IGUANATEXCURSOR" val="175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3349</Words>
  <Application>Microsoft Office PowerPoint</Application>
  <PresentationFormat>宽屏</PresentationFormat>
  <Paragraphs>575</Paragraphs>
  <Slides>61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2" baseType="lpstr">
      <vt:lpstr>PingFang SC Light</vt:lpstr>
      <vt:lpstr>DengXian</vt:lpstr>
      <vt:lpstr>DengXian Light</vt:lpstr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提纲： 1  大  </vt:lpstr>
      <vt:lpstr>提纲： 1  大  </vt:lpstr>
      <vt:lpstr>提纲： 1  大  </vt:lpstr>
      <vt:lpstr>PowerPoint 演示文稿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PowerPoint 演示文稿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PowerPoint 演示文稿</vt:lpstr>
      <vt:lpstr>PowerPoint 演示文稿</vt:lpstr>
      <vt:lpstr>模型</vt:lpstr>
      <vt:lpstr>PowerPoint 演示文稿</vt:lpstr>
      <vt:lpstr>模型评估与模型选择</vt:lpstr>
      <vt:lpstr>提纲： 1  大  </vt:lpstr>
      <vt:lpstr>PowerPoint 演示文稿</vt:lpstr>
      <vt:lpstr>S折交叉验证</vt:lpstr>
      <vt:lpstr>PowerPoint 演示文稿</vt:lpstr>
      <vt:lpstr>PowerPoint 演示文稿</vt:lpstr>
      <vt:lpstr>提纲： 1  大  </vt:lpstr>
      <vt:lpstr>提纲： 1  大  </vt:lpstr>
      <vt:lpstr>提纲： 1  大  </vt:lpstr>
      <vt:lpstr>提纲： 1  大  </vt:lpstr>
      <vt:lpstr>提纲： 1  大  </vt:lpstr>
      <vt:lpstr>提纲： 1  大  </vt:lpstr>
      <vt:lpstr>PowerPoint 演示文稿</vt:lpstr>
      <vt:lpstr>如何选择precision 和recall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提纲： 1  大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Xingyu Chen</dc:creator>
  <cp:lastModifiedBy>xin shu</cp:lastModifiedBy>
  <cp:revision>196</cp:revision>
  <dcterms:created xsi:type="dcterms:W3CDTF">2019-07-31T03:25:00Z</dcterms:created>
  <dcterms:modified xsi:type="dcterms:W3CDTF">2026-10-08T04:00:42Z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