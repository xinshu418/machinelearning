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0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1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347" r:id="rId3"/>
    <p:sldId id="261" r:id="rId4"/>
    <p:sldId id="262" r:id="rId5"/>
    <p:sldId id="337" r:id="rId6"/>
    <p:sldId id="351" r:id="rId7"/>
    <p:sldId id="338" r:id="rId8"/>
    <p:sldId id="263" r:id="rId9"/>
    <p:sldId id="264" r:id="rId10"/>
    <p:sldId id="265" r:id="rId11"/>
    <p:sldId id="352" r:id="rId12"/>
    <p:sldId id="339" r:id="rId13"/>
    <p:sldId id="348" r:id="rId14"/>
    <p:sldId id="267" r:id="rId15"/>
    <p:sldId id="344" r:id="rId16"/>
    <p:sldId id="345" r:id="rId17"/>
    <p:sldId id="346" r:id="rId18"/>
    <p:sldId id="332" r:id="rId19"/>
    <p:sldId id="350" r:id="rId20"/>
    <p:sldId id="269" r:id="rId21"/>
    <p:sldId id="333" r:id="rId22"/>
    <p:sldId id="334" r:id="rId23"/>
    <p:sldId id="335" r:id="rId24"/>
    <p:sldId id="336" r:id="rId2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21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064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84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8.xml"/><Relationship Id="rId7" Type="http://schemas.openxmlformats.org/officeDocument/2006/relationships/image" Target="../media/image1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4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4" Type="http://schemas.openxmlformats.org/officeDocument/2006/relationships/tags" Target="../tags/tag9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2.png"/><Relationship Id="rId18" Type="http://schemas.openxmlformats.org/officeDocument/2006/relationships/image" Target="../media/image270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11.xml"/><Relationship Id="rId16" Type="http://schemas.openxmlformats.org/officeDocument/2006/relationships/image" Target="../media/image25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20.png"/><Relationship Id="rId5" Type="http://schemas.openxmlformats.org/officeDocument/2006/relationships/tags" Target="../tags/tag14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tags" Target="../tags/tag13.xml"/><Relationship Id="rId9" Type="http://schemas.openxmlformats.org/officeDocument/2006/relationships/notesSlide" Target="../notesSlides/notesSlide3.xml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tags" Target="../tags/tag19.xml"/><Relationship Id="rId16" Type="http://schemas.openxmlformats.org/officeDocument/2006/relationships/image" Target="../media/image36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31.png"/><Relationship Id="rId5" Type="http://schemas.openxmlformats.org/officeDocument/2006/relationships/tags" Target="../tags/tag22.xml"/><Relationship Id="rId15" Type="http://schemas.openxmlformats.org/officeDocument/2006/relationships/image" Target="../media/image35.png"/><Relationship Id="rId10" Type="http://schemas.openxmlformats.org/officeDocument/2006/relationships/notesSlide" Target="../notesSlides/notesSlide5.xml"/><Relationship Id="rId4" Type="http://schemas.openxmlformats.org/officeDocument/2006/relationships/tags" Target="../tags/tag21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15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9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image" Target="../media/image54.png"/><Relationship Id="rId3" Type="http://schemas.openxmlformats.org/officeDocument/2006/relationships/tags" Target="../tags/tag3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53.png"/><Relationship Id="rId2" Type="http://schemas.openxmlformats.org/officeDocument/2006/relationships/tags" Target="../tags/tag30.xml"/><Relationship Id="rId16" Type="http://schemas.openxmlformats.org/officeDocument/2006/relationships/image" Target="../media/image57.pn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52.png"/><Relationship Id="rId5" Type="http://schemas.openxmlformats.org/officeDocument/2006/relationships/tags" Target="../tags/tag33.xml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tags" Target="../tags/tag32.xml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13" Type="http://schemas.openxmlformats.org/officeDocument/2006/relationships/image" Target="../media/image62.png"/><Relationship Id="rId3" Type="http://schemas.openxmlformats.org/officeDocument/2006/relationships/tags" Target="../tags/tag3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1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60.png"/><Relationship Id="rId5" Type="http://schemas.openxmlformats.org/officeDocument/2006/relationships/tags" Target="../tags/tag39.xml"/><Relationship Id="rId10" Type="http://schemas.openxmlformats.org/officeDocument/2006/relationships/image" Target="../media/image59.png"/><Relationship Id="rId4" Type="http://schemas.openxmlformats.org/officeDocument/2006/relationships/tags" Target="../tags/tag38.xml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43.xml"/><Relationship Id="rId7" Type="http://schemas.openxmlformats.org/officeDocument/2006/relationships/image" Target="../media/image64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63.png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67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70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49.xml"/><Relationship Id="rId7" Type="http://schemas.openxmlformats.org/officeDocument/2006/relationships/image" Target="../media/image71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notesSlide" Target="../notesSlides/notesSlide11.xml"/><Relationship Id="rId11" Type="http://schemas.openxmlformats.org/officeDocument/2006/relationships/image" Target="../media/image75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4.png"/><Relationship Id="rId4" Type="http://schemas.openxmlformats.org/officeDocument/2006/relationships/tags" Target="../tags/tag50.xml"/><Relationship Id="rId9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79.png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78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75.png"/><Relationship Id="rId5" Type="http://schemas.openxmlformats.org/officeDocument/2006/relationships/tags" Target="../tags/tag55.xml"/><Relationship Id="rId10" Type="http://schemas.openxmlformats.org/officeDocument/2006/relationships/image" Target="../media/image77.png"/><Relationship Id="rId4" Type="http://schemas.openxmlformats.org/officeDocument/2006/relationships/tags" Target="../tags/tag54.xml"/><Relationship Id="rId9" Type="http://schemas.openxmlformats.org/officeDocument/2006/relationships/image" Target="../media/image76.png"/><Relationship Id="rId1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82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81.png"/><Relationship Id="rId5" Type="http://schemas.openxmlformats.org/officeDocument/2006/relationships/image" Target="../media/image75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tags" Target="../tags/tag63.xml"/><Relationship Id="rId7" Type="http://schemas.openxmlformats.org/officeDocument/2006/relationships/image" Target="../media/image75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84.png"/><Relationship Id="rId5" Type="http://schemas.openxmlformats.org/officeDocument/2006/relationships/tags" Target="../tags/tag65.xml"/><Relationship Id="rId10" Type="http://schemas.openxmlformats.org/officeDocument/2006/relationships/image" Target="../media/image83.png"/><Relationship Id="rId4" Type="http://schemas.openxmlformats.org/officeDocument/2006/relationships/tags" Target="../tags/tag64.xml"/><Relationship Id="rId9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8.png"/><Relationship Id="rId3" Type="http://schemas.openxmlformats.org/officeDocument/2006/relationships/tags" Target="../tags/tag6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1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image" Target="../media/image87.png"/><Relationship Id="rId5" Type="http://schemas.openxmlformats.org/officeDocument/2006/relationships/tags" Target="../tags/tag70.xml"/><Relationship Id="rId10" Type="http://schemas.openxmlformats.org/officeDocument/2006/relationships/image" Target="../media/image86.png"/><Relationship Id="rId4" Type="http://schemas.openxmlformats.org/officeDocument/2006/relationships/tags" Target="../tags/tag69.xml"/><Relationship Id="rId9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276350" y="313509"/>
            <a:ext cx="9391650" cy="222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5" name="TextBox 5"/>
          <p:cNvSpPr txBox="1"/>
          <p:nvPr/>
        </p:nvSpPr>
        <p:spPr>
          <a:xfrm>
            <a:off x="2392485" y="1519010"/>
            <a:ext cx="72021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600" dirty="0">
                <a:sym typeface="+mn-ea"/>
              </a:rPr>
              <a:t>逻辑斯蒂回归模型</a:t>
            </a:r>
            <a:endParaRPr lang="en-US" altLang="zh-CN" sz="6600" dirty="0">
              <a:solidFill>
                <a:srgbClr val="FFFF00"/>
              </a:solidFill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049E4CDD-FC6F-EA96-6A25-EA1EDDAED957}"/>
              </a:ext>
            </a:extLst>
          </p:cNvPr>
          <p:cNvSpPr txBox="1"/>
          <p:nvPr/>
        </p:nvSpPr>
        <p:spPr>
          <a:xfrm>
            <a:off x="2567026" y="2875002"/>
            <a:ext cx="72021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D178C8-3621-14A9-D8F5-756B59B67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245" y="2486378"/>
            <a:ext cx="6166607" cy="1001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6000" dirty="0"/>
              <a:t>基础知识与模型</a:t>
            </a:r>
          </a:p>
        </p:txBody>
      </p:sp>
    </p:spTree>
    <p:extLst>
      <p:ext uri="{BB962C8B-B14F-4D97-AF65-F5344CB8AC3E}">
        <p14:creationId xmlns:p14="http://schemas.microsoft.com/office/powerpoint/2010/main" val="303272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2217" y="1547315"/>
            <a:ext cx="10515600" cy="435133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是连续随机变量，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distribution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分布函数：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密度函数：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为位置参数，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为形状参数，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,1/2)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中心对称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480" y="4558409"/>
            <a:ext cx="46672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 txBox="1"/>
          <p:nvPr/>
        </p:nvSpPr>
        <p:spPr>
          <a:xfrm>
            <a:off x="189411" y="137491"/>
            <a:ext cx="10380081" cy="851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逻辑斯蒂分布</a:t>
            </a:r>
            <a:r>
              <a:rPr lang="en-US" altLang="zh-CN" sz="3600" dirty="0"/>
              <a:t>(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distribution</a:t>
            </a:r>
            <a:r>
              <a:rPr lang="en-US" altLang="zh-CN" sz="3600" dirty="0"/>
              <a:t>)</a:t>
            </a:r>
            <a:endParaRPr lang="zh-CN" altLang="en-US" sz="3600" dirty="0"/>
          </a:p>
        </p:txBody>
      </p:sp>
      <p:sp>
        <p:nvSpPr>
          <p:cNvPr id="2" name="矩形 1"/>
          <p:cNvSpPr/>
          <p:nvPr/>
        </p:nvSpPr>
        <p:spPr>
          <a:xfrm>
            <a:off x="4948893" y="2077391"/>
            <a:ext cx="1601619" cy="5377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cxnSpLocks/>
            <a:stCxn id="2" idx="3"/>
            <a:endCxn id="9" idx="1"/>
          </p:cNvCxnSpPr>
          <p:nvPr/>
        </p:nvCxnSpPr>
        <p:spPr>
          <a:xfrm>
            <a:off x="6550512" y="2346273"/>
            <a:ext cx="737481" cy="8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287993" y="1989510"/>
            <a:ext cx="1708716" cy="875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\documentclass{article}&#10;\usepackage{amsmath}&#10;\pagestyle{empty}&#10;\begin{document}&#10;&#10;$$\frac{1}{1+e^{-x}}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881" y="1996130"/>
            <a:ext cx="1343558" cy="85831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F73EE9E-6307-2BFF-BB7E-B89F367BA193}"/>
              </a:ext>
            </a:extLst>
          </p:cNvPr>
          <p:cNvSpPr/>
          <p:nvPr/>
        </p:nvSpPr>
        <p:spPr>
          <a:xfrm>
            <a:off x="5495110" y="2521977"/>
            <a:ext cx="75187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\documentclass{article}&#10;\usepackage{amsmath}&#10;\pagestyle{empty}&#10;\begin{document}&#10;&#10;$F(x)=P(X\leq x)=\frac{1}{1+e^{-(x-\mu)/\gamma}}$&#10;&#10;&#10;\end{document}" title="IguanaTex Bitmap Display">
            <a:extLst>
              <a:ext uri="{FF2B5EF4-FFF2-40B4-BE49-F238E27FC236}">
                <a16:creationId xmlns:a16="http://schemas.microsoft.com/office/drawing/2014/main" id="{68166CC0-CC47-0EC0-F383-D175AAE91F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63" y="2131402"/>
            <a:ext cx="4055012" cy="387779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f(x)=\frac{e^{-(x-\mu)/\gamma}}{\gamma(1+e^{-(x-\mu)/\gamma})^2}$&#10;&#10;&#10;\end{document}" title="IguanaTex Bitmap Display">
            <a:extLst>
              <a:ext uri="{FF2B5EF4-FFF2-40B4-BE49-F238E27FC236}">
                <a16:creationId xmlns:a16="http://schemas.microsoft.com/office/drawing/2014/main" id="{B0E9FB7B-28D7-619B-004B-E39C0EE12BD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494" y="3085922"/>
            <a:ext cx="2767094" cy="475512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&#10;f(x)=F'(x)=\frac{\exp(-(x-\mu)/\gamma}{\gamma(\exp(-(x-\mu)/\gamma)^2}&#10;$&#10;\end{document}" title="IguanaTex Bitmap Display">
            <a:extLst>
              <a:ext uri="{FF2B5EF4-FFF2-40B4-BE49-F238E27FC236}">
                <a16:creationId xmlns:a16="http://schemas.microsoft.com/office/drawing/2014/main" id="{0792B908-3498-D62F-4556-97795C748A0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017" y="830329"/>
            <a:ext cx="5919248" cy="656546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&#10;F(-x+\mu)-\frac{1}{2}=-F(x-\mu)+\frac{1}{2}&#10;$&#10;\end{document}" title="IguanaTex Bitmap Display">
            <a:extLst>
              <a:ext uri="{FF2B5EF4-FFF2-40B4-BE49-F238E27FC236}">
                <a16:creationId xmlns:a16="http://schemas.microsoft.com/office/drawing/2014/main" id="{0042DD1C-79F0-4F76-8ECC-8BA50CFC620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5534431"/>
            <a:ext cx="5066212" cy="424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212" y="444972"/>
            <a:ext cx="8568952" cy="4824536"/>
          </a:xfrm>
        </p:spPr>
        <p:txBody>
          <a:bodyPr/>
          <a:lstStyle/>
          <a:p>
            <a:r>
              <a:rPr lang="en-US" altLang="zh-CN" dirty="0"/>
              <a:t>Sigmoid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双曲正切函数（</a:t>
            </a:r>
            <a:r>
              <a:rPr lang="en-US" altLang="zh-CN" dirty="0" err="1"/>
              <a:t>tanh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02" y="4010866"/>
            <a:ext cx="30384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902" y="-79031"/>
            <a:ext cx="3665587" cy="554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061" y="4533678"/>
            <a:ext cx="8286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957" y="1664923"/>
            <a:ext cx="60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 descr="sigmo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366" y="1201056"/>
            <a:ext cx="2214578" cy="582118"/>
          </a:xfrm>
          <a:prstGeom prst="rect">
            <a:avLst/>
          </a:prstGeom>
        </p:spPr>
      </p:pic>
      <p:pic>
        <p:nvPicPr>
          <p:cNvPr id="16393" name="Picture 9" descr="c:\users\yuan\appdata\roaming\360se6\User Data\temp\994ac235e9478c8f465a4acdd8aae017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37" y="2205900"/>
            <a:ext cx="2592288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5" name="Picture 11" descr="c:\users\yuan\appdata\roaming\360se6\User Data\temp\e7deb0493f3858b59b86181afe368fec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66" y="4951257"/>
            <a:ext cx="2094778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51" y="-16252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8934" y="856186"/>
            <a:ext cx="11037172" cy="4114850"/>
          </a:xfrm>
        </p:spPr>
        <p:txBody>
          <a:bodyPr>
            <a:noAutofit/>
          </a:bodyPr>
          <a:lstStyle/>
          <a:p>
            <a:r>
              <a:rPr lang="zh-CN" altLang="en-US" dirty="0"/>
              <a:t>在线广告及零售中：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预测用户是否点击特定的商品？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预测用户是否购买给定的品类？</a:t>
            </a:r>
            <a:endParaRPr lang="en-US" altLang="zh-CN" dirty="0"/>
          </a:p>
          <a:p>
            <a:r>
              <a:rPr lang="zh-CN" altLang="en-US" dirty="0"/>
              <a:t>金融风控：是否发放贷款？是否存在违约风险？</a:t>
            </a:r>
            <a:endParaRPr lang="en-US" altLang="zh-CN" dirty="0"/>
          </a:p>
          <a:p>
            <a:r>
              <a:rPr lang="zh-CN" altLang="en-US" dirty="0"/>
              <a:t>医学：根据图像或者其他诊断材料判断是否有病变？</a:t>
            </a:r>
            <a:endParaRPr lang="en-US" altLang="zh-CN" dirty="0"/>
          </a:p>
          <a:p>
            <a:r>
              <a:rPr lang="zh-CN" altLang="en-US" dirty="0"/>
              <a:t>文本情感计算：判断一条评论是正面</a:t>
            </a:r>
            <a:r>
              <a:rPr lang="en-US" altLang="zh-CN" dirty="0"/>
              <a:t>(positive)</a:t>
            </a:r>
            <a:r>
              <a:rPr lang="zh-CN" altLang="en-US" dirty="0"/>
              <a:t>还是负面</a:t>
            </a:r>
            <a:r>
              <a:rPr lang="en-US" altLang="zh-CN" dirty="0"/>
              <a:t>(negative)</a:t>
            </a:r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25D1AF51-9772-B602-B019-AE61A4460D46}"/>
              </a:ext>
            </a:extLst>
          </p:cNvPr>
          <p:cNvSpPr/>
          <p:nvPr/>
        </p:nvSpPr>
        <p:spPr>
          <a:xfrm rot="16200000">
            <a:off x="5899275" y="-78018"/>
            <a:ext cx="428682" cy="10764985"/>
          </a:xfrm>
          <a:prstGeom prst="leftBrace">
            <a:avLst/>
          </a:prstGeom>
          <a:ln w="317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366C17-C654-84BA-3AE7-D419920F42B2}"/>
              </a:ext>
            </a:extLst>
          </p:cNvPr>
          <p:cNvSpPr txBox="1"/>
          <p:nvPr/>
        </p:nvSpPr>
        <p:spPr>
          <a:xfrm>
            <a:off x="4395650" y="5637913"/>
            <a:ext cx="26194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二值分类问题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828D89-7CB9-609A-9AB1-A4B12041814D}"/>
              </a:ext>
            </a:extLst>
          </p:cNvPr>
          <p:cNvSpPr txBox="1"/>
          <p:nvPr/>
        </p:nvSpPr>
        <p:spPr>
          <a:xfrm>
            <a:off x="2225514" y="5713414"/>
            <a:ext cx="1109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29EBED-2E6D-F33D-31CA-97EBB97D2414}"/>
              </a:ext>
            </a:extLst>
          </p:cNvPr>
          <p:cNvSpPr txBox="1"/>
          <p:nvPr/>
        </p:nvSpPr>
        <p:spPr>
          <a:xfrm>
            <a:off x="7607894" y="5713414"/>
            <a:ext cx="1037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-1,1</a:t>
            </a:r>
          </a:p>
        </p:txBody>
      </p:sp>
    </p:spTree>
    <p:extLst>
      <p:ext uri="{BB962C8B-B14F-4D97-AF65-F5344CB8AC3E}">
        <p14:creationId xmlns:p14="http://schemas.microsoft.com/office/powerpoint/2010/main" val="151787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241896B-120A-7659-7AD7-693B4D0161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469523"/>
              </p:ext>
            </p:extLst>
          </p:nvPr>
        </p:nvGraphicFramePr>
        <p:xfrm>
          <a:off x="5828211" y="2364323"/>
          <a:ext cx="592182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136">
                  <a:extLst>
                    <a:ext uri="{9D8B030D-6E8A-4147-A177-3AD203B41FA5}">
                      <a16:colId xmlns:a16="http://schemas.microsoft.com/office/drawing/2014/main" val="1520222928"/>
                    </a:ext>
                  </a:extLst>
                </a:gridCol>
                <a:gridCol w="974665">
                  <a:extLst>
                    <a:ext uri="{9D8B030D-6E8A-4147-A177-3AD203B41FA5}">
                      <a16:colId xmlns:a16="http://schemas.microsoft.com/office/drawing/2014/main" val="324967685"/>
                    </a:ext>
                  </a:extLst>
                </a:gridCol>
                <a:gridCol w="708847">
                  <a:extLst>
                    <a:ext uri="{9D8B030D-6E8A-4147-A177-3AD203B41FA5}">
                      <a16:colId xmlns:a16="http://schemas.microsoft.com/office/drawing/2014/main" val="3393095495"/>
                    </a:ext>
                  </a:extLst>
                </a:gridCol>
                <a:gridCol w="1212410">
                  <a:extLst>
                    <a:ext uri="{9D8B030D-6E8A-4147-A177-3AD203B41FA5}">
                      <a16:colId xmlns:a16="http://schemas.microsoft.com/office/drawing/2014/main" val="3231774676"/>
                    </a:ext>
                  </a:extLst>
                </a:gridCol>
                <a:gridCol w="1926770">
                  <a:extLst>
                    <a:ext uri="{9D8B030D-6E8A-4147-A177-3AD203B41FA5}">
                      <a16:colId xmlns:a16="http://schemas.microsoft.com/office/drawing/2014/main" val="3192716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用户名</a:t>
                      </a:r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教育程度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是否投放广告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419542"/>
                  </a:ext>
                </a:extLst>
              </a:tr>
              <a:tr h="187506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专科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9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本科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706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本科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35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36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研究生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33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研究生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62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本科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951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本科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3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本科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7493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B16355B-A58D-0136-064B-A9D2A8470AB9}"/>
              </a:ext>
            </a:extLst>
          </p:cNvPr>
          <p:cNvSpPr txBox="1"/>
          <p:nvPr/>
        </p:nvSpPr>
        <p:spPr>
          <a:xfrm>
            <a:off x="130629" y="177936"/>
            <a:ext cx="6557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例子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6A7B74-00EB-8F00-8B1D-03EBEB4695A3}"/>
              </a:ext>
            </a:extLst>
          </p:cNvPr>
          <p:cNvSpPr txBox="1"/>
          <p:nvPr/>
        </p:nvSpPr>
        <p:spPr>
          <a:xfrm>
            <a:off x="130629" y="762711"/>
            <a:ext cx="64987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某电商平台根据用户特征数据决定是否对该用户投放广告，其中</a:t>
            </a:r>
            <a:r>
              <a:rPr lang="en-US" altLang="zh-CN" sz="2800" dirty="0"/>
              <a:t>1</a:t>
            </a:r>
            <a:r>
              <a:rPr lang="zh-CN" altLang="en-US" sz="2800" dirty="0"/>
              <a:t>表示投放，</a:t>
            </a:r>
            <a:r>
              <a:rPr lang="en-US" altLang="zh-CN" sz="2800" dirty="0"/>
              <a:t>0</a:t>
            </a:r>
            <a:r>
              <a:rPr lang="zh-CN" altLang="en-US" sz="2800" dirty="0"/>
              <a:t>表示不投放，试根据历史数据建立一个广告投放模型。</a:t>
            </a:r>
          </a:p>
        </p:txBody>
      </p:sp>
    </p:spTree>
    <p:extLst>
      <p:ext uri="{BB962C8B-B14F-4D97-AF65-F5344CB8AC3E}">
        <p14:creationId xmlns:p14="http://schemas.microsoft.com/office/powerpoint/2010/main" val="94443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917" y="388361"/>
            <a:ext cx="5794626" cy="702041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问题定义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15357" y="1430000"/>
                <a:ext cx="11100371" cy="4400514"/>
              </a:xfrm>
            </p:spPr>
            <p:txBody>
              <a:bodyPr/>
              <a:lstStyle/>
              <a:p>
                <a:r>
                  <a:rPr lang="zh-CN" altLang="en-US" dirty="0"/>
                  <a:t>给定一组训练数据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其中                ，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学习目标：找到一个函数                    ， 对未知数据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输出</m:t>
                    </m:r>
                  </m:oMath>
                </a14:m>
                <a:r>
                  <a:rPr lang="en-US" altLang="zh-CN" dirty="0"/>
                  <a:t>0 </a:t>
                </a:r>
                <a:r>
                  <a:rPr lang="zh-CN" altLang="en-US" dirty="0"/>
                  <a:t>或者</a:t>
                </a:r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357" y="1430000"/>
                <a:ext cx="11100371" cy="4400514"/>
              </a:xfrm>
              <a:blipFill>
                <a:blip r:embed="rId6"/>
                <a:stretch>
                  <a:fillRect l="-1098" t="-3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\documentclass{article}&#10;\usepackage{amsmath}&#10;\pagestyle{empty}&#10;\begin{document}&#10;&#10;$$\mathcal{D}=\{(x_1,y_1),(x_2,y_2),\cdots,(x_n,y_n)\}$$&#10;&#10;&#10;\end{document}" title="IguanaTex Bitmap Display">
            <a:extLst>
              <a:ext uri="{FF2B5EF4-FFF2-40B4-BE49-F238E27FC236}">
                <a16:creationId xmlns:a16="http://schemas.microsoft.com/office/drawing/2014/main" id="{7BADCC68-42BD-056B-83DC-BEA9D7EFB7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943" y="1507402"/>
            <a:ext cx="5529600" cy="356267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$x_i\in\mathbf{R}^{d}$$&#10;&#10;&#10;\end{document}" title="IguanaTex Bitmap Display">
            <a:extLst>
              <a:ext uri="{FF2B5EF4-FFF2-40B4-BE49-F238E27FC236}">
                <a16:creationId xmlns:a16="http://schemas.microsoft.com/office/drawing/2014/main" id="{6AE49875-4790-44A3-1A48-B0863C265AE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56" y="2460275"/>
            <a:ext cx="1192534" cy="37546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$y_i\in\{0,1\}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07" y="2438938"/>
            <a:ext cx="1555395" cy="354178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$y^*=f(x)$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865" y="3480536"/>
            <a:ext cx="1467917" cy="35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7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00px-SingleNeur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452" y="4393937"/>
            <a:ext cx="4143404" cy="2044080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812FFAB9-6CBE-0170-DB82-DEE50CBE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6" y="89768"/>
            <a:ext cx="10515600" cy="1325563"/>
          </a:xfrm>
        </p:spPr>
        <p:txBody>
          <a:bodyPr/>
          <a:lstStyle/>
          <a:p>
            <a:r>
              <a:rPr lang="zh-CN" altLang="en-US" dirty="0"/>
              <a:t>逻辑斯蒂回归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199455" y="1230043"/>
            <a:ext cx="10515600" cy="4351338"/>
          </a:xfrm>
        </p:spPr>
        <p:txBody>
          <a:bodyPr/>
          <a:lstStyle/>
          <a:p>
            <a:r>
              <a:rPr lang="zh-CN" altLang="en-US" dirty="0"/>
              <a:t>基本思想：将特征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线性组合</a:t>
            </a:r>
            <a:r>
              <a:rPr lang="zh-CN" altLang="en-US" dirty="0"/>
              <a:t>映射为</a:t>
            </a:r>
            <a:r>
              <a:rPr lang="en-US" altLang="zh-CN" dirty="0"/>
              <a:t>(0,1)</a:t>
            </a:r>
            <a:r>
              <a:rPr lang="zh-CN" altLang="en-US" dirty="0"/>
              <a:t>之间的值</a:t>
            </a:r>
            <a:endParaRPr lang="zh-CN" altLang="en-US" i="1" dirty="0"/>
          </a:p>
        </p:txBody>
      </p:sp>
      <p:sp>
        <p:nvSpPr>
          <p:cNvPr id="16" name="矩形 15"/>
          <p:cNvSpPr/>
          <p:nvPr/>
        </p:nvSpPr>
        <p:spPr>
          <a:xfrm>
            <a:off x="1224371" y="4376175"/>
            <a:ext cx="339048" cy="326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\documentclass{article}&#10;\usepackage{amsmath}&#10;\pagestyle{empty}&#10;\begin{document}&#10;&#10;$$x^{(1)}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29" y="4458970"/>
            <a:ext cx="257360" cy="165001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212387" y="4918989"/>
            <a:ext cx="339048" cy="326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\documentclass{article}&#10;\usepackage{amsmath}&#10;\pagestyle{empty}&#10;\begin{document}&#10;&#10;$$x^{(2)}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645" y="5001784"/>
            <a:ext cx="257360" cy="165001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1200403" y="5523450"/>
            <a:ext cx="339048" cy="326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\documentclass{article}&#10;\usepackage{amsmath}&#10;\pagestyle{empty}&#10;\begin{document}&#10;&#10;$$x^{(3)}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61" y="5606245"/>
            <a:ext cx="257360" cy="165001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1229515" y="6179278"/>
            <a:ext cx="339048" cy="326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 descr="\documentclass{article}&#10;\usepackage{amsmath}&#10;\pagestyle{empty}&#10;\begin{document}&#10;&#10;$$+1$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774" y="6262073"/>
            <a:ext cx="197171" cy="129718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4496996" y="5223951"/>
            <a:ext cx="681337" cy="388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\documentclass{article}&#10;\usepackage{amsmath}&#10;\pagestyle{empty}&#10;\begin{document}&#10;&#10;$$h_{w,b}(x)$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774" y="4539522"/>
            <a:ext cx="1219200" cy="421843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$h_{w,b}(x)=f(w^Tx+b)$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053" y="2012596"/>
            <a:ext cx="4240987" cy="534924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$f(z)=\frac{1}{1+exp(-z)}$$&#10;&#10;&#10;\end{document}" title="IguanaTex Bitmap Display">
            <a:extLst>
              <a:ext uri="{FF2B5EF4-FFF2-40B4-BE49-F238E27FC236}">
                <a16:creationId xmlns:a16="http://schemas.microsoft.com/office/drawing/2014/main" id="{EAC776CA-2450-D82F-8059-421ED33CEBA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120" y="2345593"/>
            <a:ext cx="3051827" cy="808276"/>
          </a:xfrm>
          <a:prstGeom prst="rect">
            <a:avLst/>
          </a:prstGeom>
        </p:spPr>
      </p:pic>
      <p:cxnSp>
        <p:nvCxnSpPr>
          <p:cNvPr id="3" name="直接连接符 2"/>
          <p:cNvCxnSpPr>
            <a:cxnSpLocks/>
          </p:cNvCxnSpPr>
          <p:nvPr/>
        </p:nvCxnSpPr>
        <p:spPr>
          <a:xfrm>
            <a:off x="4014122" y="2647076"/>
            <a:ext cx="231483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6373504-EC0F-A40B-E27D-E24C6766AE54}"/>
                  </a:ext>
                </a:extLst>
              </p:cNvPr>
              <p:cNvSpPr txBox="1"/>
              <p:nvPr/>
            </p:nvSpPr>
            <p:spPr>
              <a:xfrm>
                <a:off x="3061959" y="5231311"/>
                <a:ext cx="494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6373504-EC0F-A40B-E27D-E24C6766A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959" y="5231311"/>
                <a:ext cx="494950" cy="36933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24" grpId="0" animBg="1"/>
      <p:bldP spid="26" grpId="0" animBg="1"/>
      <p:bldP spid="30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5939" y="1677425"/>
                <a:ext cx="10515600" cy="23954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条件概率分布：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39" y="1677425"/>
                <a:ext cx="10515600" cy="2395463"/>
              </a:xfrm>
              <a:blipFill>
                <a:blip r:embed="rId4"/>
                <a:stretch>
                  <a:fillRect l="-1043" t="-6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标题 1"/>
          <p:cNvSpPr txBox="1"/>
          <p:nvPr/>
        </p:nvSpPr>
        <p:spPr>
          <a:xfrm>
            <a:off x="0" y="-19591"/>
            <a:ext cx="12192000" cy="1240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二项逻辑斯蒂回归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(Binomial logistic regression model)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 descr="\documentclass{article}&#10;\usepackage{amsmath}&#10;\pagestyle{empty}&#10;\begin{document}&#10;&#10;$\begin{array}{l}&#10;w=(w^{(1)},w^{(2)},\cdots,w^{(d)})^T\\&#10;b&#10;\end{array}$&#10;&#10;&#10;\end{document}" title="IguanaTex Bitmap Display">
            <a:extLst>
              <a:ext uri="{FF2B5EF4-FFF2-40B4-BE49-F238E27FC236}">
                <a16:creationId xmlns:a16="http://schemas.microsoft.com/office/drawing/2014/main" id="{D4EF7A39-472F-EAAE-0D46-F258A99420A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789" y="2065889"/>
            <a:ext cx="2956191" cy="530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7934629" y="2983186"/>
                <a:ext cx="28197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∈{0,1}</m:t>
                      </m:r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629" y="2983186"/>
                <a:ext cx="281975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5612797" y="329184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内容占位符 2"/>
              <p:cNvSpPr txBox="1">
                <a:spLocks/>
              </p:cNvSpPr>
              <p:nvPr/>
            </p:nvSpPr>
            <p:spPr>
              <a:xfrm>
                <a:off x="411481" y="4016527"/>
                <a:ext cx="10268712" cy="243913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(1) 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(2) 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 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9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b="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b="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b="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1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1" y="4016527"/>
                <a:ext cx="10268712" cy="2439137"/>
              </a:xfrm>
              <a:prstGeom prst="rect">
                <a:avLst/>
              </a:prstGeom>
              <a:blipFill>
                <a:blip r:embed="rId7"/>
                <a:stretch>
                  <a:fillRect l="-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729" y="1105215"/>
            <a:ext cx="10515600" cy="2727291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事件的几率</a:t>
            </a:r>
            <a:r>
              <a:rPr lang="en-US" altLang="zh-CN" sz="2400" dirty="0"/>
              <a:t>(odds)</a:t>
            </a:r>
            <a:r>
              <a:rPr lang="zh-CN" altLang="en-US" sz="2400" dirty="0"/>
              <a:t>：事件发生与事件不发生的概率之比为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                                    其中</a:t>
            </a:r>
            <a:r>
              <a:rPr lang="en-US" altLang="zh-CN" sz="2400" i="1" dirty="0"/>
              <a:t>p</a:t>
            </a:r>
            <a:r>
              <a:rPr lang="zh-CN" altLang="en-US" sz="2400" dirty="0"/>
              <a:t>为事件发生的概率。</a:t>
            </a:r>
            <a:endParaRPr lang="en-US" altLang="zh-CN" sz="2400" dirty="0"/>
          </a:p>
          <a:p>
            <a:r>
              <a:rPr lang="zh-CN" altLang="en-US" sz="2400" b="1" dirty="0"/>
              <a:t>对数几率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对逻辑斯蒂回归考虑</a:t>
            </a:r>
            <a:r>
              <a:rPr lang="zh-CN" altLang="en-US" sz="2400" b="1" dirty="0">
                <a:solidFill>
                  <a:srgbClr val="FF0000"/>
                </a:solidFill>
              </a:rPr>
              <a:t>事件发生</a:t>
            </a:r>
            <a:r>
              <a:rPr lang="zh-CN" altLang="en-US" sz="2400" dirty="0"/>
              <a:t>与</a:t>
            </a:r>
            <a:r>
              <a:rPr lang="zh-CN" altLang="en-US" sz="2400" b="1" dirty="0">
                <a:solidFill>
                  <a:srgbClr val="FF0000"/>
                </a:solidFill>
              </a:rPr>
              <a:t>不发生概率</a:t>
            </a:r>
            <a:r>
              <a:rPr lang="zh-CN" altLang="en-US" sz="2400" dirty="0"/>
              <a:t>比值：</a:t>
            </a:r>
          </a:p>
          <a:p>
            <a:endParaRPr lang="zh-CN" altLang="en-US" sz="2400" dirty="0"/>
          </a:p>
        </p:txBody>
      </p:sp>
      <p:sp>
        <p:nvSpPr>
          <p:cNvPr id="7" name="标题 1"/>
          <p:cNvSpPr txBox="1"/>
          <p:nvPr/>
        </p:nvSpPr>
        <p:spPr>
          <a:xfrm>
            <a:off x="239729" y="-36354"/>
            <a:ext cx="4144689" cy="1125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相关概念</a:t>
            </a:r>
          </a:p>
        </p:txBody>
      </p:sp>
      <p:sp>
        <p:nvSpPr>
          <p:cNvPr id="2" name="矩形 1"/>
          <p:cNvSpPr/>
          <p:nvPr/>
        </p:nvSpPr>
        <p:spPr>
          <a:xfrm>
            <a:off x="8179725" y="1379833"/>
            <a:ext cx="676933" cy="5915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pagestyle{empty}&#10;\begin{document}&#10;&#10;$\frac{p}{1-p}$&#10;&#10;&#10;\end{document}" title="IguanaTex Bitmap Display">
            <a:extLst>
              <a:ext uri="{FF2B5EF4-FFF2-40B4-BE49-F238E27FC236}">
                <a16:creationId xmlns:a16="http://schemas.microsoft.com/office/drawing/2014/main" id="{11B34A9C-74FD-BC76-3DCB-14AC8850D4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781" y="1511037"/>
            <a:ext cx="457444" cy="392368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\mathrm{logit}(p)=\log\frac{p}{1-p}$&#10;&#10;&#10;\end{document}" title="IguanaTex Bitmap Display">
            <a:extLst>
              <a:ext uri="{FF2B5EF4-FFF2-40B4-BE49-F238E27FC236}">
                <a16:creationId xmlns:a16="http://schemas.microsoft.com/office/drawing/2014/main" id="{08CB534C-410B-1AAD-04A0-BAE48CB6E93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17" y="2076492"/>
            <a:ext cx="2398231" cy="392368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P(Y=1|x)=\frac{\exp(w\cdot x)}{1+\exp(w\cdot x)}$&#10;&#10;&#10;\end{document}" title="IguanaTex Bitmap Display">
            <a:extLst>
              <a:ext uri="{FF2B5EF4-FFF2-40B4-BE49-F238E27FC236}">
                <a16:creationId xmlns:a16="http://schemas.microsoft.com/office/drawing/2014/main" id="{5E345F77-F189-17E9-6423-321EA55200B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04" y="3963718"/>
            <a:ext cx="3370539" cy="488068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P(Y=0|x)=\frac{1}{1+\exp(w\cdot x)}$&#10;&#10;&#10;\end{document}" title="IguanaTex Bitmap Display">
            <a:extLst>
              <a:ext uri="{FF2B5EF4-FFF2-40B4-BE49-F238E27FC236}">
                <a16:creationId xmlns:a16="http://schemas.microsoft.com/office/drawing/2014/main" id="{D03A7603-402A-6169-62E9-319E111A5AA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04" y="4598925"/>
            <a:ext cx="3370117" cy="438249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\frac{P(Y=1|x)}{P(Y=0|x)}$&#10;&#10;&#10;\end{document}" title="IguanaTex Bitmap Display">
            <a:extLst>
              <a:ext uri="{FF2B5EF4-FFF2-40B4-BE49-F238E27FC236}">
                <a16:creationId xmlns:a16="http://schemas.microsoft.com/office/drawing/2014/main" id="{F8D8C25B-634C-EEC1-2232-1FA075A77A8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405" y="4042164"/>
            <a:ext cx="1140739" cy="488068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\log\frac{P(Y=1|x)}{P(Y=0|x)}$&#10;&#10;&#10;\end{document}" title="IguanaTex Bitmap Display">
            <a:extLst>
              <a:ext uri="{FF2B5EF4-FFF2-40B4-BE49-F238E27FC236}">
                <a16:creationId xmlns:a16="http://schemas.microsoft.com/office/drawing/2014/main" id="{1F1B4B3B-2F10-130D-FB8E-EA76DA0D340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481" y="3994294"/>
            <a:ext cx="1632635" cy="488068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\exp(w\cdot x)$&#10;&#10;&#10;\end{document}" title="IguanaTex Bitmap Display">
            <a:extLst>
              <a:ext uri="{FF2B5EF4-FFF2-40B4-BE49-F238E27FC236}">
                <a16:creationId xmlns:a16="http://schemas.microsoft.com/office/drawing/2014/main" id="{2F7D3330-3B72-6FCD-4330-B4AA8E46608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13" y="4864497"/>
            <a:ext cx="1004870" cy="237959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$w\cdot x$&#10;&#10;&#10;\end{document}" title="IguanaTex Bitmap Display">
            <a:extLst>
              <a:ext uri="{FF2B5EF4-FFF2-40B4-BE49-F238E27FC236}">
                <a16:creationId xmlns:a16="http://schemas.microsoft.com/office/drawing/2014/main" id="{1572FADF-7C92-46FA-482C-21ACD8784B0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58" y="4945397"/>
            <a:ext cx="625875" cy="14355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FE0A0AC-4B02-E14C-3105-BCF5BB7AE0DA}"/>
              </a:ext>
            </a:extLst>
          </p:cNvPr>
          <p:cNvCxnSpPr/>
          <p:nvPr/>
        </p:nvCxnSpPr>
        <p:spPr>
          <a:xfrm>
            <a:off x="136071" y="3624943"/>
            <a:ext cx="1201782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右大括号 7">
            <a:extLst>
              <a:ext uri="{FF2B5EF4-FFF2-40B4-BE49-F238E27FC236}">
                <a16:creationId xmlns:a16="http://schemas.microsoft.com/office/drawing/2014/main" id="{6380DF38-7E5E-056D-FB7E-719B32ED9492}"/>
              </a:ext>
            </a:extLst>
          </p:cNvPr>
          <p:cNvSpPr/>
          <p:nvPr/>
        </p:nvSpPr>
        <p:spPr>
          <a:xfrm>
            <a:off x="4093029" y="4042164"/>
            <a:ext cx="179614" cy="98845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28C56EF-18F5-65DC-67DC-F37C002407F7}"/>
              </a:ext>
            </a:extLst>
          </p:cNvPr>
          <p:cNvCxnSpPr>
            <a:stCxn id="8" idx="1"/>
          </p:cNvCxnSpPr>
          <p:nvPr/>
        </p:nvCxnSpPr>
        <p:spPr>
          <a:xfrm flipV="1">
            <a:off x="4272643" y="4530232"/>
            <a:ext cx="1266008" cy="61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2CDF328F-0EEC-293C-7E58-B22B0232E8C9}"/>
              </a:ext>
            </a:extLst>
          </p:cNvPr>
          <p:cNvSpPr txBox="1"/>
          <p:nvPr/>
        </p:nvSpPr>
        <p:spPr>
          <a:xfrm>
            <a:off x="4202660" y="4212772"/>
            <a:ext cx="120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计算比值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F123BB65-7EA4-CF8A-466E-5FD634BE2872}"/>
              </a:ext>
            </a:extLst>
          </p:cNvPr>
          <p:cNvSpPr/>
          <p:nvPr/>
        </p:nvSpPr>
        <p:spPr>
          <a:xfrm>
            <a:off x="6831864" y="4024748"/>
            <a:ext cx="179614" cy="98845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56FEA86-3F26-47D4-14E1-70E119353CA7}"/>
              </a:ext>
            </a:extLst>
          </p:cNvPr>
          <p:cNvCxnSpPr>
            <a:stCxn id="16" idx="1"/>
          </p:cNvCxnSpPr>
          <p:nvPr/>
        </p:nvCxnSpPr>
        <p:spPr>
          <a:xfrm flipV="1">
            <a:off x="7011478" y="4512816"/>
            <a:ext cx="1266008" cy="61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BF264C0-2ECC-D11E-B6CD-7E0CD65B9C2A}"/>
              </a:ext>
            </a:extLst>
          </p:cNvPr>
          <p:cNvSpPr txBox="1"/>
          <p:nvPr/>
        </p:nvSpPr>
        <p:spPr>
          <a:xfrm>
            <a:off x="7117839" y="4195356"/>
            <a:ext cx="120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取对数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BFC6048-D927-9019-04E6-F5C4DB13C9A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sz="4400" b="0" dirty="0"/>
                  <a:t>模型</a:t>
                </a:r>
                <a14:m>
                  <m:oMath xmlns:m="http://schemas.openxmlformats.org/officeDocument/2006/math"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altLang="zh-CN" sz="4400" b="0" i="1" dirty="0">
                    <a:latin typeface="Cambria Math" panose="02040503050406030204" pitchFamily="18" charset="0"/>
                  </a:rPr>
                </a:br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BFC6048-D927-9019-04E6-F5C4DB13C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 t="-15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A9E0B8E-E929-5A96-76CC-80164216A3B7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44731" y="1355363"/>
                <a:ext cx="3968931" cy="1995261"/>
              </a:xfrm>
              <a:prstGeom prst="rect">
                <a:avLst/>
              </a:prstGeom>
              <a:ln w="38100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A9E0B8E-E929-5A96-76CC-80164216A3B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4731" y="1355363"/>
                <a:ext cx="3968931" cy="19952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71FABA-6D21-489B-C3F8-DCB60C88B265}"/>
                  </a:ext>
                </a:extLst>
              </p:cNvPr>
              <p:cNvSpPr txBox="1"/>
              <p:nvPr/>
            </p:nvSpPr>
            <p:spPr>
              <a:xfrm>
                <a:off x="6096000" y="2624332"/>
                <a:ext cx="6097088" cy="459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18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(1) 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(2) 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) 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1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71FABA-6D21-489B-C3F8-DCB60C88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24332"/>
                <a:ext cx="6097088" cy="4598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\documentclass{article}&#10;\usepackage{amsmath}&#10;\pagestyle{empty}&#10;\begin{document}&#10;&#10;$$\mathcal{D}=\{(x_1,y_1),(x_2,y_2),\cdots,(x_n,y_n)\}$$&#10;&#10;&#10;\end{document}" title="IguanaTex Bitmap Display">
            <a:extLst>
              <a:ext uri="{FF2B5EF4-FFF2-40B4-BE49-F238E27FC236}">
                <a16:creationId xmlns:a16="http://schemas.microsoft.com/office/drawing/2014/main" id="{3F613D79-836F-FF58-771E-02DD275F70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303" y="4531453"/>
            <a:ext cx="5529600" cy="356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E2F74E8-3BDF-C5B5-7964-72FE06EB4A34}"/>
                  </a:ext>
                </a:extLst>
              </p:cNvPr>
              <p:cNvSpPr txBox="1"/>
              <p:nvPr/>
            </p:nvSpPr>
            <p:spPr>
              <a:xfrm>
                <a:off x="1513114" y="5846544"/>
                <a:ext cx="52469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zh-CN" altLang="en-US" sz="3600" b="0" dirty="0"/>
                  <a:t>最优</a:t>
                </a:r>
                <a14:m>
                  <m:oMath xmlns:m="http://schemas.openxmlformats.org/officeDocument/2006/math">
                    <m:r>
                      <a:rPr lang="zh-CN" altLang="en-US" sz="36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600" dirty="0"/>
                  <a:t>多少？</a:t>
                </a:r>
                <a:endParaRPr lang="en-US" altLang="zh-CN" sz="36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E2F74E8-3BDF-C5B5-7964-72FE06EB4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114" y="5846544"/>
                <a:ext cx="5246915" cy="646331"/>
              </a:xfrm>
              <a:prstGeom prst="rect">
                <a:avLst/>
              </a:prstGeom>
              <a:blipFill>
                <a:blip r:embed="rId7"/>
                <a:stretch>
                  <a:fillRect l="-3484" t="-18868" b="-30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865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91829" y="2702103"/>
            <a:ext cx="5342562" cy="1376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800" dirty="0"/>
              <a:t>参数估计</a:t>
            </a:r>
          </a:p>
        </p:txBody>
      </p:sp>
    </p:spTree>
    <p:extLst>
      <p:ext uri="{BB962C8B-B14F-4D97-AF65-F5344CB8AC3E}">
        <p14:creationId xmlns:p14="http://schemas.microsoft.com/office/powerpoint/2010/main" val="150928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5F8879-A3A0-7BEC-3E45-A0CF899BB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0776" y="1332643"/>
                <a:ext cx="4742003" cy="253588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dirty="0"/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5F8879-A3A0-7BEC-3E45-A0CF899BB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0776" y="1332643"/>
                <a:ext cx="4742003" cy="253588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0DE6405-EE77-55DD-2BFD-C000FB4541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517" y="332450"/>
                <a:ext cx="10515600" cy="32978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举例：假设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样本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分别</m:t>
                    </m:r>
                  </m:oMath>
                </a14:m>
                <a:r>
                  <a:rPr lang="zh-CN" altLang="en-US" b="0" dirty="0"/>
                  <a:t>对应的输出为</a:t>
                </a:r>
                <a:r>
                  <a:rPr lang="en-US" altLang="zh-CN" b="0" dirty="0"/>
                  <a:t>1</a:t>
                </a:r>
                <a:r>
                  <a:rPr lang="en-US" altLang="zh-CN" dirty="0"/>
                  <a:t>,1,0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0DE6405-EE77-55DD-2BFD-C000FB454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17" y="332450"/>
                <a:ext cx="10515600" cy="3297887"/>
              </a:xfrm>
              <a:prstGeom prst="rect">
                <a:avLst/>
              </a:prstGeom>
              <a:blipFill>
                <a:blip r:embed="rId3"/>
                <a:stretch>
                  <a:fillRect l="-1043" t="-4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58BFF31-3D4D-0D5D-42A0-8D008512B482}"/>
              </a:ext>
            </a:extLst>
          </p:cNvPr>
          <p:cNvCxnSpPr>
            <a:cxnSpLocks/>
          </p:cNvCxnSpPr>
          <p:nvPr/>
        </p:nvCxnSpPr>
        <p:spPr>
          <a:xfrm flipV="1">
            <a:off x="5735775" y="1508124"/>
            <a:ext cx="0" cy="3740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F5025AE-441F-448A-0442-C5E0BF39A198}"/>
              </a:ext>
            </a:extLst>
          </p:cNvPr>
          <p:cNvCxnSpPr>
            <a:cxnSpLocks/>
          </p:cNvCxnSpPr>
          <p:nvPr/>
        </p:nvCxnSpPr>
        <p:spPr>
          <a:xfrm flipV="1">
            <a:off x="5735774" y="2272923"/>
            <a:ext cx="0" cy="3740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94D4649-9749-96EE-CAE6-F80C8347C283}"/>
              </a:ext>
            </a:extLst>
          </p:cNvPr>
          <p:cNvCxnSpPr>
            <a:cxnSpLocks/>
          </p:cNvCxnSpPr>
          <p:nvPr/>
        </p:nvCxnSpPr>
        <p:spPr>
          <a:xfrm flipV="1">
            <a:off x="5767976" y="2957602"/>
            <a:ext cx="0" cy="3740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0CD065-0F40-6878-EC58-F89FED02E2BA}"/>
                  </a:ext>
                </a:extLst>
              </p:cNvPr>
              <p:cNvSpPr txBox="1"/>
              <p:nvPr/>
            </p:nvSpPr>
            <p:spPr>
              <a:xfrm>
                <a:off x="928562" y="4257414"/>
                <a:ext cx="10031833" cy="3649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/>
                  <a:t>独立同分布，故有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要</m:t>
                    </m:r>
                  </m:oMath>
                </a14:m>
                <a:r>
                  <a:rPr lang="zh-CN" altLang="en-US" dirty="0"/>
                  <a:t>尽可能的大</a:t>
                </a:r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0CD065-0F40-6878-EC58-F89FED02E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62" y="4257414"/>
                <a:ext cx="10031833" cy="3649140"/>
              </a:xfrm>
              <a:prstGeom prst="rect">
                <a:avLst/>
              </a:prstGeom>
              <a:blipFill>
                <a:blip r:embed="rId4"/>
                <a:stretch>
                  <a:fillRect t="-1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7DB24D8-89BD-61DA-13BB-B94C757DBCB7}"/>
              </a:ext>
            </a:extLst>
          </p:cNvPr>
          <p:cNvCxnSpPr>
            <a:cxnSpLocks/>
          </p:cNvCxnSpPr>
          <p:nvPr/>
        </p:nvCxnSpPr>
        <p:spPr>
          <a:xfrm flipV="1">
            <a:off x="2331234" y="5613856"/>
            <a:ext cx="0" cy="3740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6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01141" y="1055913"/>
                <a:ext cx="9993431" cy="329401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对样本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，设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zh-CN" i="1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表示样本</a:t>
                </a:r>
                <a:r>
                  <a:rPr lang="en-US" altLang="zh-CN" i="1" dirty="0"/>
                  <a:t>x</a:t>
                </a:r>
                <a:r>
                  <a:rPr lang="zh-CN" altLang="en-US" dirty="0"/>
                  <a:t>来自类别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的概率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1141" y="1055913"/>
                <a:ext cx="9993431" cy="3294018"/>
              </a:xfrm>
              <a:blipFill>
                <a:blip r:embed="rId3"/>
                <a:stretch>
                  <a:fillRect l="-1220" t="-3882" b="-2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/>
          <p:nvPr/>
        </p:nvSpPr>
        <p:spPr>
          <a:xfrm>
            <a:off x="203446" y="309838"/>
            <a:ext cx="10515600" cy="574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最大似然函数</a:t>
            </a:r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>
            <a:off x="734440" y="5338375"/>
            <a:ext cx="5566248" cy="714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考虑一般式子：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Font typeface="Arial" panose="020B0604020202090204" pitchFamily="34" charset="0"/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Font typeface="Arial" panose="020B060402020209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90204" pitchFamily="34" charset="0"/>
              <a:buNone/>
            </a:pP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413112-5A1C-7F36-6C2D-E9BAA4E0E7FB}"/>
              </a:ext>
            </a:extLst>
          </p:cNvPr>
          <p:cNvSpPr/>
          <p:nvPr/>
        </p:nvSpPr>
        <p:spPr>
          <a:xfrm>
            <a:off x="2592976" y="5882974"/>
            <a:ext cx="2521131" cy="6651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3AF0103-7C91-BE59-F89D-A74311600E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0892" y="5935815"/>
                <a:ext cx="5566248" cy="7145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en-US" altLang="zh-CN" dirty="0"/>
              </a:p>
              <a:p>
                <a:pPr marL="0" indent="0">
                  <a:buFont typeface="Arial" panose="020B0604020202090204" pitchFamily="34" charset="0"/>
                  <a:buNone/>
                </a:pPr>
                <a:endParaRPr lang="zh-CN" altLang="en-US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3AF0103-7C91-BE59-F89D-A74311600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892" y="5935815"/>
                <a:ext cx="5566248" cy="7145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8943" y="237995"/>
            <a:ext cx="10515600" cy="656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最大似然函数</a:t>
            </a:r>
          </a:p>
        </p:txBody>
      </p:sp>
      <p:pic>
        <p:nvPicPr>
          <p:cNvPr id="4" name="Picture 3 2 1 1" descr="\documentclass{article}&#10;\usepackage{amsmath}&#10;\pagestyle{empty}&#10;\begin{document}&#10;&#10;$P(Y=y|x)=\pi(x)^y(1-\pi(x))^{1-y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656" y="2514255"/>
            <a:ext cx="5988207" cy="4372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/>
              <p:cNvSpPr txBox="1">
                <a:spLocks/>
              </p:cNvSpPr>
              <p:nvPr/>
            </p:nvSpPr>
            <p:spPr>
              <a:xfrm>
                <a:off x="1464872" y="1094550"/>
                <a:ext cx="5566248" cy="7145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考虑一般式子：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872" y="1094550"/>
                <a:ext cx="5566248" cy="714579"/>
              </a:xfrm>
              <a:prstGeom prst="rect">
                <a:avLst/>
              </a:prstGeom>
              <a:blipFill>
                <a:blip r:embed="rId6"/>
                <a:stretch>
                  <a:fillRect l="-1972" t="-188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39FB13F-D0D3-58D3-7239-9509A5FCE6E4}"/>
              </a:ext>
            </a:extLst>
          </p:cNvPr>
          <p:cNvCxnSpPr/>
          <p:nvPr/>
        </p:nvCxnSpPr>
        <p:spPr>
          <a:xfrm>
            <a:off x="2974796" y="2975995"/>
            <a:ext cx="0" cy="45300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\documentclass{article}&#10;\usepackage{amsmath}&#10;\pagestyle{empty}&#10;\begin{document}&#10;&#10;$P(y|x)=$&#10;&#10;&#10;\end{document}" title="IguanaTex Bitmap Display">
            <a:extLst>
              <a:ext uri="{FF2B5EF4-FFF2-40B4-BE49-F238E27FC236}">
                <a16:creationId xmlns:a16="http://schemas.microsoft.com/office/drawing/2014/main" id="{6E82E900-58D7-28E7-DC5F-CDCBD6435BF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662" y="3496409"/>
            <a:ext cx="1588961" cy="41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00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327712" y="883224"/>
                <a:ext cx="10302633" cy="141946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对样本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，设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zh-CN" i="1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表示样本</a:t>
                </a:r>
                <a:r>
                  <a:rPr lang="en-US" altLang="zh-CN" i="1" dirty="0"/>
                  <a:t>x</a:t>
                </a:r>
                <a:r>
                  <a:rPr lang="zh-CN" altLang="en-US" dirty="0"/>
                  <a:t>来自类别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的概率。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7712" y="883224"/>
                <a:ext cx="10302633" cy="1419467"/>
              </a:xfrm>
              <a:blipFill>
                <a:blip r:embed="rId9"/>
                <a:stretch>
                  <a:fillRect l="-1065" t="-9442" b="-9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/>
          <p:nvPr/>
        </p:nvSpPr>
        <p:spPr>
          <a:xfrm>
            <a:off x="53223" y="119123"/>
            <a:ext cx="10515600" cy="40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最大似然函数</a:t>
            </a:r>
          </a:p>
        </p:txBody>
      </p:sp>
      <p:pic>
        <p:nvPicPr>
          <p:cNvPr id="7" name="图片 6" descr="\documentclass{article}&#10;\usepackage{amsmath}&#10;\pagestyle{empty}&#10;\begin{document}&#10;&#10;$P(Y=y|x)=\pi(x)^y(1-\pi(x))^{1-y},y\in\{0,1\}$&#10;&#10;&#10;\end{document}" title="IguanaTex Bitmap Display">
            <a:extLst>
              <a:ext uri="{FF2B5EF4-FFF2-40B4-BE49-F238E27FC236}">
                <a16:creationId xmlns:a16="http://schemas.microsoft.com/office/drawing/2014/main" id="{EFBF88C0-7114-CB1C-E7EE-2AED8DC583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920" y="3061760"/>
            <a:ext cx="7140159" cy="3982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/>
              <p:cNvSpPr txBox="1">
                <a:spLocks/>
              </p:cNvSpPr>
              <p:nvPr/>
            </p:nvSpPr>
            <p:spPr>
              <a:xfrm>
                <a:off x="1327712" y="2367082"/>
                <a:ext cx="5566248" cy="7145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考虑一般式子：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712" y="2367082"/>
                <a:ext cx="5566248" cy="714579"/>
              </a:xfrm>
              <a:prstGeom prst="rect">
                <a:avLst/>
              </a:prstGeom>
              <a:blipFill>
                <a:blip r:embed="rId11"/>
                <a:stretch>
                  <a:fillRect l="-1972" t="-17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\documentclass{article}&#10;\usepackage{amsmath}&#10;\pagestyle{empty}&#10;\begin{document}&#10;&#10;$P(y_1|x_1)=\pi(x_1)^{y_1}(1-\pi(x_1))^{1-y_1}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92" y="4101677"/>
            <a:ext cx="3784092" cy="27127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3223" y="3452057"/>
            <a:ext cx="2160802" cy="440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似然函数构造</a:t>
            </a:r>
          </a:p>
        </p:txBody>
      </p:sp>
      <p:pic>
        <p:nvPicPr>
          <p:cNvPr id="9" name="图片 8" descr="\documentclass{article}&#10;\usepackage{amsmath}&#10;\pagestyle{empty}&#10;\begin{document}&#10;&#10;$P(y_2|x_2)=\pi(x_2)^{y_2}(1-\pi(x_2))^{1-y_2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92" y="4459876"/>
            <a:ext cx="3788664" cy="271272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P(y_3|x_3)=\pi(x_3)^{y_3}(1-\pi(x_3))^{1-y_3}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34" y="4797211"/>
            <a:ext cx="3790188" cy="271272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\cdots\cdots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63" y="5196187"/>
            <a:ext cx="589788" cy="27432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\begin{array}{ll}&#10;L(x;w)&amp;=\prod\limits_{i=1}^{n}P(y_i|x_i)\\&#10;&amp;=\prod\limits_{i=1}^n\pi(x_i)^{y_i}(1-\pi(x_i))^{1-y_i}&#10;\end{array}$&#10;&#10;&#10;\end{document}" title="IguanaTex Bitmap Display">
            <a:extLst>
              <a:ext uri="{FF2B5EF4-FFF2-40B4-BE49-F238E27FC236}">
                <a16:creationId xmlns:a16="http://schemas.microsoft.com/office/drawing/2014/main" id="{D1A966D9-6219-B465-0B87-0EA023A284F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325" y="4286613"/>
            <a:ext cx="5985362" cy="1653209"/>
          </a:xfrm>
          <a:prstGeom prst="rect">
            <a:avLst/>
          </a:prstGeom>
        </p:spPr>
      </p:pic>
      <p:sp>
        <p:nvSpPr>
          <p:cNvPr id="17" name="右大括号 16"/>
          <p:cNvSpPr/>
          <p:nvPr/>
        </p:nvSpPr>
        <p:spPr>
          <a:xfrm>
            <a:off x="4756935" y="4149151"/>
            <a:ext cx="102741" cy="1047036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944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6860" y="454983"/>
            <a:ext cx="1010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                                      ，考虑似然函数                                                       的负对数形式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对数似然函数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</a:p>
        </p:txBody>
      </p:sp>
      <p:pic>
        <p:nvPicPr>
          <p:cNvPr id="5" name="Picture 4 1" descr="\documentclass{article}&#10;\usepackage{amsmath}&#10;\pagestyle{empty}&#10;\begin{document}&#10;&#10;$\pi(x)=\frac{\exp(w\cdot x)}{1+\exp(w\cdot x)}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" y="450546"/>
            <a:ext cx="1905000" cy="388620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$&#10;\prod\limits_{i=1}^{n}\pi(x_i)^{y_i}(1-\pi(x_i))^{1-y_i}&#10;$$&#10;&#10;&#10;\end{document}" title="IguanaTex Bitmap Display">
            <a:extLst>
              <a:ext uri="{FF2B5EF4-FFF2-40B4-BE49-F238E27FC236}">
                <a16:creationId xmlns:a16="http://schemas.microsoft.com/office/drawing/2014/main" id="{3CE2D802-7B23-FDC0-25AF-F5B7C4A2F5D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095" y="275522"/>
            <a:ext cx="2765714" cy="693333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$&#10;\begin{array}{ll}&#10;L(w)&amp;=\log\prod\limits_{i=1}^{n}\pi(x_i)^{y_i}(1-\pi(x_i))^{1-y_i}\\&#10;&amp;=\sum\limits_{i=1}^{n}\left({y_i}\log\pi(x_i)+(1-y_i)\log(1-\pi(x_i))\right)\\&#10;&amp;=\sum\limits_{i=1}^{n}\left({y_i}\log\frac{\pi(x_i)}{1-\pi(x_i)}+\log(1-\pi(x_i))\right)\\&#10;&amp;=\sum\limits_{i=1}^{n}\left[{y_i}(w\cdot x_i)-\log(1+\exp(w\cdot x_i))\right]\\&#10;&#10;&#10;\end{array}&#10;$$&#10;&#10;&#10;\end{document}" title="IguanaTex Bitmap Display">
            <a:extLst>
              <a:ext uri="{FF2B5EF4-FFF2-40B4-BE49-F238E27FC236}">
                <a16:creationId xmlns:a16="http://schemas.microsoft.com/office/drawing/2014/main" id="{05747024-2FCB-CAD1-A300-63B180BAC3E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987" y="1009009"/>
            <a:ext cx="5537524" cy="2311619"/>
          </a:xfrm>
          <a:prstGeom prst="rect">
            <a:avLst/>
          </a:prstGeom>
        </p:spPr>
      </p:pic>
      <p:pic>
        <p:nvPicPr>
          <p:cNvPr id="2" name="图片 1" descr="\documentclass{article}&#10;\usepackage{amsmath}&#10;\pagestyle{empty}&#10;\begin{document}&#10;&#10;$$&#10;\arg\max\limits_{w}L(w)&#10;$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014" y="4121266"/>
            <a:ext cx="1434084" cy="34442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7960" y="3683102"/>
            <a:ext cx="1060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求解以下优化问题（极大化对数似然函数）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目标函数：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0" y="3613987"/>
            <a:ext cx="12136582" cy="4071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65703" y="4441643"/>
            <a:ext cx="2639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即可得到最优解</a:t>
            </a:r>
          </a:p>
        </p:txBody>
      </p:sp>
      <p:pic>
        <p:nvPicPr>
          <p:cNvPr id="23" name="图片 22" descr="\documentclass{article}&#10;\usepackage{amsmath}&#10;\pagestyle{empty}&#10;\begin{document}&#10;&#10;$$&#10;\hat{w}&#10;$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629" y="4549601"/>
            <a:ext cx="169164" cy="178308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4925060" y="3641999"/>
            <a:ext cx="25400" cy="21717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\documentclass{article}&#10;\usepackage{amsmath}&#10;\pagestyle{empty}&#10;\begin{document}&#10;&#10;$$&#10;\min_{w}\ell(w)=-\sum\limits_{i=1}^{N}\left[{y_i}(w\cdot x_i)-\log(1+\exp(w\cdot x_i))\right]&#10;$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137" y="4427735"/>
            <a:ext cx="6294524" cy="8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5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>
          <a:xfrm>
            <a:off x="26124" y="3092781"/>
            <a:ext cx="12136582" cy="4071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147030" y="3168310"/>
            <a:ext cx="783547" cy="4275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测试</a:t>
            </a:r>
          </a:p>
        </p:txBody>
      </p:sp>
      <p:pic>
        <p:nvPicPr>
          <p:cNvPr id="2" name="图片 1" descr="\documentclass{article}&#10;\usepackage{amsmath}&#10;\pagestyle{empty}&#10;\begin{document}&#10;&#10;$$&#10;\min_{w}\ell(w)=-\sum\limits_{i=1}^{N}\left[{y_i}(w\cdot x_i)-\log(1+\exp(w\cdot x_i))\right]&#10;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07" y="530473"/>
            <a:ext cx="5498592" cy="73914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108420" y="306981"/>
            <a:ext cx="914400" cy="384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573996" y="1454993"/>
                <a:ext cx="241401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计算梯度</a:t>
                </a:r>
                <a:endParaRPr lang="en-US" altLang="zh-CN" sz="2400" dirty="0"/>
              </a:p>
              <a:p>
                <a:r>
                  <a:rPr lang="zh-CN" altLang="en-US" sz="2400" dirty="0"/>
                  <a:t>给定初值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altLang="zh-CN" sz="2400" b="0" dirty="0"/>
                </a:br>
                <a:br>
                  <a:rPr lang="en-US" altLang="zh-CN" sz="2400" b="0" dirty="0"/>
                </a:b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2400" b="0" i="1" dirty="0"/>
                  <a:t>w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br>
                  <a:rPr lang="en-US" altLang="zh-CN" sz="2400" b="0" dirty="0"/>
                </a:br>
                <a:endParaRPr lang="en-US" altLang="zh-CN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996" y="1454993"/>
                <a:ext cx="2414016" cy="1938992"/>
              </a:xfrm>
              <a:prstGeom prst="rect">
                <a:avLst/>
              </a:prstGeom>
              <a:blipFill>
                <a:blip r:embed="rId7"/>
                <a:stretch>
                  <a:fillRect l="-3788" t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 descr="\documentclass{article}&#10;\usepackage{amsmath}&#10;\pagestyle{empty}&#10;\begin{document}&#10;&#10;$$\frac{\partial\ell}{\partial w}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669" y="1391271"/>
            <a:ext cx="336804" cy="531876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$\frac{\partial\ell}{\partial w}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21" y="2531223"/>
            <a:ext cx="336804" cy="5318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2129244" y="3595817"/>
                <a:ext cx="4549655" cy="666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244" y="3595817"/>
                <a:ext cx="4549655" cy="6669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2107908" y="4333433"/>
                <a:ext cx="4549655" cy="685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908" y="4333433"/>
                <a:ext cx="4549655" cy="6857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18751CF7-0E8E-A5FD-8190-BA4BA203B161}"/>
              </a:ext>
            </a:extLst>
          </p:cNvPr>
          <p:cNvSpPr txBox="1"/>
          <p:nvPr/>
        </p:nvSpPr>
        <p:spPr>
          <a:xfrm>
            <a:off x="1180307" y="3285309"/>
            <a:ext cx="317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对测试样本</a:t>
            </a:r>
            <a:r>
              <a:rPr lang="en-US" altLang="zh-CN" dirty="0"/>
              <a:t>x,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72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16C6D3-E3E5-0CE8-8E20-FBCE96F7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361C-1E48-8A1B-527D-B398177A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6" y="153233"/>
            <a:ext cx="5794626" cy="70204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练习：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7584C-110B-10C1-F0BF-95CCD410C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243" y="855274"/>
            <a:ext cx="11100371" cy="4400514"/>
          </a:xfrm>
        </p:spPr>
        <p:txBody>
          <a:bodyPr/>
          <a:lstStyle/>
          <a:p>
            <a:r>
              <a:rPr lang="zh-CN" altLang="en-US" dirty="0"/>
              <a:t>给定一组训练数据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其中                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是对上述标记数据建立</a:t>
            </a:r>
            <a:r>
              <a:rPr lang="en-US" altLang="zh-CN" dirty="0"/>
              <a:t>logistic regression</a:t>
            </a:r>
            <a:r>
              <a:rPr lang="zh-CN" altLang="en-US" dirty="0"/>
              <a:t>模型，并给出最大似然估计。</a:t>
            </a:r>
            <a:endParaRPr lang="en-US" altLang="zh-CN" dirty="0"/>
          </a:p>
        </p:txBody>
      </p:sp>
      <p:pic>
        <p:nvPicPr>
          <p:cNvPr id="7" name="图片 6" descr="\documentclass{article}&#10;\usepackage{amsmath}&#10;\pagestyle{empty}&#10;\begin{document}&#10;&#10;$$\mathcal{D}=\{(x_1,y_1),(x_2,y_2),\cdots,(x_N,y_N)\}$$&#10;&#10;&#10;\end{document}" title="IguanaTex Bitmap Display">
            <a:extLst>
              <a:ext uri="{FF2B5EF4-FFF2-40B4-BE49-F238E27FC236}">
                <a16:creationId xmlns:a16="http://schemas.microsoft.com/office/drawing/2014/main" id="{4757DBFF-960D-6504-91C5-A9DE157F5F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439789"/>
            <a:ext cx="5681777" cy="354178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$x_i\in\mathbf{R}^{n}$$&#10;&#10;&#10;\end{document}" title="IguanaTex Bitmap Display">
            <a:extLst>
              <a:ext uri="{FF2B5EF4-FFF2-40B4-BE49-F238E27FC236}">
                <a16:creationId xmlns:a16="http://schemas.microsoft.com/office/drawing/2014/main" id="{5122A7D4-A360-E7B1-D619-56194598A2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90" y="1920036"/>
            <a:ext cx="1214019" cy="311506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$y_i\in\{-1,1\}$$&#10;&#10;&#10;\end{document}" title="IguanaTex Bitmap Display">
            <a:extLst>
              <a:ext uri="{FF2B5EF4-FFF2-40B4-BE49-F238E27FC236}">
                <a16:creationId xmlns:a16="http://schemas.microsoft.com/office/drawing/2014/main" id="{C9EA0918-72E8-D8A1-7520-7DEFF92759A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924" y="1898700"/>
            <a:ext cx="1832763" cy="35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10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0688" y="1112430"/>
                <a:ext cx="10515600" cy="4351338"/>
              </a:xfrm>
            </p:spPr>
            <p:txBody>
              <a:bodyPr/>
              <a:lstStyle/>
              <a:p>
                <a:r>
                  <a:rPr lang="zh-CN" altLang="en-US" dirty="0"/>
                  <a:t>设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的取值集合为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1,2,⋯,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即当前数据包含了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个类别。</a:t>
                </a:r>
                <a:endParaRPr lang="en-US" altLang="zh-CN" dirty="0"/>
              </a:p>
              <a:p>
                <a:r>
                  <a:rPr lang="zh-CN" altLang="en-US" dirty="0"/>
                  <a:t>多项</a:t>
                </a:r>
                <a:r>
                  <a:rPr lang="en-US" altLang="zh-CN" dirty="0"/>
                  <a:t>logistic</a:t>
                </a:r>
                <a:r>
                  <a:rPr lang="zh-CN" altLang="en-US" dirty="0"/>
                  <a:t>回归模型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688" y="1112430"/>
                <a:ext cx="10515600" cy="4351338"/>
              </a:xfrm>
              <a:blipFill>
                <a:blip r:embed="rId7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/>
          <p:cNvSpPr txBox="1"/>
          <p:nvPr/>
        </p:nvSpPr>
        <p:spPr>
          <a:xfrm>
            <a:off x="-26298" y="-309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/>
              <a:t>多项</a:t>
            </a:r>
            <a:r>
              <a:rPr lang="en-US" altLang="zh-CN" sz="4000" dirty="0"/>
              <a:t>logistic</a:t>
            </a:r>
            <a:r>
              <a:rPr lang="zh-CN" altLang="en-US" sz="4000" dirty="0"/>
              <a:t>回归</a:t>
            </a:r>
          </a:p>
        </p:txBody>
      </p:sp>
      <p:pic>
        <p:nvPicPr>
          <p:cNvPr id="2" name="图片 1" descr="\documentclass{article}&#10;\usepackage{amsmath}&#10;\pagestyle{empty}&#10;\begin{document}&#10;&#10;$w_1,w_2,\cdots,w_{K-1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683" y="3374452"/>
            <a:ext cx="2426266" cy="2187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95071" y="328809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待学习参数：</a:t>
            </a:r>
          </a:p>
        </p:txBody>
      </p:sp>
      <p:pic>
        <p:nvPicPr>
          <p:cNvPr id="14" name="图片 13" descr="\documentclass{article}&#10;\usepackage{amsmath}&#10;\pagestyle{empty}&#10;\begin{document}&#10;&#10;$\begin{array}{l}P(Y=k|x)=\frac{\exp(w_k\cdot x)}{1+\sum\limits_{k=1}^{K-1}\exp(w_k\cdot x)}\\&#10;k=1,2,\cdots,K-1&#10;\end{array}$&#10;&#10;&#10;\end{document}" title="IguanaTex Bitmap Display">
            <a:extLst>
              <a:ext uri="{FF2B5EF4-FFF2-40B4-BE49-F238E27FC236}">
                <a16:creationId xmlns:a16="http://schemas.microsoft.com/office/drawing/2014/main" id="{9C8E73CC-7C58-1E24-9E37-E0CB9AAE31F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14" y="2166240"/>
            <a:ext cx="3574110" cy="1047818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P(Y=K|x)=\frac{1}{1+\sum\limits_{k=1}^{K-1}\exp(w_k\cdot x)}$&#10;&#10;&#10;\end{document}" title="IguanaTex Bitmap Display">
            <a:extLst>
              <a:ext uri="{FF2B5EF4-FFF2-40B4-BE49-F238E27FC236}">
                <a16:creationId xmlns:a16="http://schemas.microsoft.com/office/drawing/2014/main" id="{F3546AAA-A7D7-0803-F88B-0A98756226A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010" y="2235159"/>
            <a:ext cx="3811756" cy="713167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 title="IguanaTex Bitmap Display">
            <a:extLst>
              <a:ext uri="{FF2B5EF4-FFF2-40B4-BE49-F238E27FC236}">
                <a16:creationId xmlns:a16="http://schemas.microsoft.com/office/drawing/2014/main" id="{F2C4AF0B-7E4E-E901-5865-F7407E8A49A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000" y="4237412"/>
            <a:ext cx="6519672" cy="1670304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5FA9340-1B65-3485-1F38-4D622F4D6962}"/>
              </a:ext>
            </a:extLst>
          </p:cNvPr>
          <p:cNvCxnSpPr/>
          <p:nvPr/>
        </p:nvCxnSpPr>
        <p:spPr>
          <a:xfrm>
            <a:off x="0" y="3725447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 2" descr="\documentclass{article}&#10;\usepackage{amsmath}&#10;\pagestyle{empty}&#10;\begin{document}&#10;&#10;$y\in\{1,2,3,\cdots,K\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4" y="741815"/>
            <a:ext cx="2112264" cy="252984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P(Y=y|x)=?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3" y="1180540"/>
            <a:ext cx="1645920" cy="25298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0072" y="1595808"/>
            <a:ext cx="590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实例</a:t>
            </a:r>
            <a:r>
              <a:rPr lang="en-US" altLang="zh-CN" i="1" dirty="0"/>
              <a:t>x</a:t>
            </a:r>
            <a:r>
              <a:rPr lang="zh-CN" altLang="en-US" dirty="0"/>
              <a:t>可能属于</a:t>
            </a:r>
            <a:r>
              <a:rPr lang="en-US" altLang="zh-CN" dirty="0"/>
              <a:t>K</a:t>
            </a:r>
            <a:r>
              <a:rPr lang="zh-CN" altLang="en-US" dirty="0"/>
              <a:t>个类别中的某个类别，其可能性向量为：</a:t>
            </a:r>
          </a:p>
        </p:txBody>
      </p:sp>
      <p:pic>
        <p:nvPicPr>
          <p:cNvPr id="15" name="图片 14" descr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95" y="1992973"/>
            <a:ext cx="6519672" cy="1670304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P(Y=y|x)=?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17" y="4741166"/>
            <a:ext cx="1645920" cy="25298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" y="169568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似然函数</a:t>
            </a:r>
          </a:p>
        </p:txBody>
      </p:sp>
      <p:pic>
        <p:nvPicPr>
          <p:cNvPr id="22" name="图片 21" descr="\documentclass{article}&#10;\usepackage{amsmath}&#10;\pagestyle{empty}&#10;\begin{document}&#10;$$&#10;h_{w}(x)=&#10;$$&#10;&#10;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6" y="2653894"/>
            <a:ext cx="890016" cy="25298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&#10;\exp(w_K\cdot x),~~~w_K=0&#10;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768" y="3349247"/>
            <a:ext cx="2476500" cy="252984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$$&#10;=\frac{1}{1+\sum\limits_{k=1}^{K-1}\exp(w_k\cdot x)}\left[&#10;\begin{array}{c}&#10;\exp(w_1\cdot x)\\&#10;\exp(w_2\cdot x)\\&#10;\vdots\\&#10;\exp(w_{K-1}\cdot x)\\&#10;\exp(w_{K}\cdot x)&#10;\end{array}&#10;\right]&#10;$$&#10;&#10;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927" y="3929035"/>
            <a:ext cx="4546092" cy="1670304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8285017" y="3506258"/>
            <a:ext cx="114530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4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074" y="483318"/>
            <a:ext cx="6519672" cy="1670304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$&#10;P(Y=y|x)=(P(Y=1|x))^{I_{\{y=1\}}}\cdot (P(Y=2|x))^{I_{\{y=2\}}}\cdots (P(Y=K|x))^{I_{\{y=K\}}}&#10;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71" y="4079114"/>
            <a:ext cx="8564881" cy="2895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" y="6281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似然函数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127" y="2345443"/>
            <a:ext cx="406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定义示性函数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(Indicator function)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 descr="\documentclass{article}&#10;\usepackage{amsmath}&#10;\pagestyle{empty}&#10;\begin{document}&#10;&#10;$$&#10;I_{\{y=k\}}=\left\{\begin{array}{l}&#10;1,~~\mathrm{If}~~ y=k\\&#10;0,~~\mathrm{If}~~ y\neq k&#10;\end{array}&#10;\right.&#10;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452" y="2883008"/>
            <a:ext cx="2717292" cy="60807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4" y="2287188"/>
            <a:ext cx="121919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431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70" y="1473383"/>
            <a:ext cx="6519672" cy="1670304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$&#10;P(Y=y|x)=(P(Y=1|x))^{I_{\{y=1\}}}\cdot (P(Y=2|x))^{I_{\{y=2\}}}\cdots (P(Y=K|x))^{I_{\{y=K\}}}&#10;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71" y="4504103"/>
            <a:ext cx="8564881" cy="2895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3127" y="261243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似然函数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127" y="3345781"/>
            <a:ext cx="406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定义示性函数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(Indicator function)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 descr="\documentclass{article}&#10;\usepackage{amsmath}&#10;\pagestyle{empty}&#10;\begin{document}&#10;&#10;$$&#10;I_{\{y=k\}}=\left\{\begin{array}{l}&#10;1,~~\mathrm{If}~~ y=k\\&#10;0,~~\mathrm{If}~~ y\neq k&#10;\end{array}&#10;\right.&#10;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452" y="3739505"/>
            <a:ext cx="2717292" cy="60807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03200" y="5123732"/>
            <a:ext cx="1001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若</a:t>
            </a:r>
            <a:r>
              <a:rPr lang="en-US" altLang="zh-CN" dirty="0"/>
              <a:t>y=1</a:t>
            </a:r>
            <a:endParaRPr lang="zh-CN" altLang="en-US" dirty="0"/>
          </a:p>
        </p:txBody>
      </p:sp>
      <p:pic>
        <p:nvPicPr>
          <p:cNvPr id="4" name="图片 3" descr="\documentclass{article}&#10;\usepackage{amsmath}&#10;\pagestyle{empty}&#10;\begin{document}&#10;&#10;$$&#10;(P(Y=1|x))^{I_{\{y=1\}}}\cdot (P(Y=2|x))^{I_{\{y=2\}}}\cdots (P(Y=K|x))^{I_{\{y=K\}}}&#10;$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5171763"/>
            <a:ext cx="6929629" cy="289560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V="1">
            <a:off x="3611418" y="5539370"/>
            <a:ext cx="4895273" cy="1847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11764" y="5584352"/>
            <a:ext cx="1001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若</a:t>
            </a:r>
            <a:r>
              <a:rPr lang="en-US" altLang="zh-CN" dirty="0"/>
              <a:t>y=2</a:t>
            </a:r>
            <a:endParaRPr lang="zh-CN" altLang="en-US" dirty="0"/>
          </a:p>
        </p:txBody>
      </p:sp>
      <p:pic>
        <p:nvPicPr>
          <p:cNvPr id="11" name="图片 10" descr="\documentclass{article}&#10;\usepackage{amsmath}&#10;\pagestyle{empty}&#10;\begin{document}&#10;&#10;$$&#10;(P(Y=1|x))^{I_{\{y=1\}}}\cdot (P(Y=2|x))^{I_{\{y=2\}}}\cdot (P(Y=3|x))^{I_{\{y=3\}}}\cdots (P(Y=K|x))^{I_{\{y=K\}}}&#10;$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163" y="5632382"/>
            <a:ext cx="8974837" cy="289560"/>
          </a:xfrm>
          <a:prstGeom prst="rect">
            <a:avLst/>
          </a:prstGeom>
        </p:spPr>
      </p:pic>
      <p:cxnSp>
        <p:nvCxnSpPr>
          <p:cNvPr id="19" name="直接连接符 18"/>
          <p:cNvCxnSpPr/>
          <p:nvPr/>
        </p:nvCxnSpPr>
        <p:spPr>
          <a:xfrm>
            <a:off x="1349390" y="5987644"/>
            <a:ext cx="1948614" cy="1407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5703933" y="5987644"/>
            <a:ext cx="4724337" cy="85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96593" y="4412815"/>
            <a:ext cx="8643855" cy="49388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4" y="3225879"/>
            <a:ext cx="121919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7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\documentclass{article}&#10;\usepackage{amsmath}&#10;\pagestyle{empty}&#10;\begin{document}&#10;&#10;$$&#10;P(Y=y|x)=(P(Y=1|x))^{I_{\{y=1\}}}\cdot (P(Y=2|x))^{I_{\{y=2\}}}\cdots (P(Y=K|x))^{I_{\{y=K\}}}&#10;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968" y="713669"/>
            <a:ext cx="8564881" cy="2895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" y="154597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似然函数</a:t>
            </a:r>
          </a:p>
        </p:txBody>
      </p:sp>
      <p:sp>
        <p:nvSpPr>
          <p:cNvPr id="21" name="矩形 20"/>
          <p:cNvSpPr/>
          <p:nvPr/>
        </p:nvSpPr>
        <p:spPr>
          <a:xfrm>
            <a:off x="2753472" y="1372392"/>
            <a:ext cx="4274050" cy="83669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\documentclass{article}&#10;\usepackage{amsmath}&#10;\pagestyle{empty}&#10;\begin{document}&#10;&#10;$$&#10;P(Y=y|x)=\prod\limits_{k=1}^{K}(P(Y=y|x))^{I_{\{y=k\}}}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104" y="1390044"/>
            <a:ext cx="4041649" cy="743712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73642" y="2854989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似然函数</a:t>
            </a:r>
          </a:p>
        </p:txBody>
      </p:sp>
      <p:pic>
        <p:nvPicPr>
          <p:cNvPr id="4" name="图片 3" descr="\documentclass{article}&#10;\usepackage{amsmath}&#10;\pagestyle{empty}&#10;\begin{document}&#10;&#10;$$&#10;\prod\limits_{i=1}^{n}\prod\limits_{k=1}^{K}(P(Y=y_i|x_i))^{I_{\{y_i=k\}}}$$&#10;&#10;&#10;\end{document}" title="IguanaTex Bitmap Display">
            <a:extLst>
              <a:ext uri="{FF2B5EF4-FFF2-40B4-BE49-F238E27FC236}">
                <a16:creationId xmlns:a16="http://schemas.microsoft.com/office/drawing/2014/main" id="{F2D539B4-1CE6-824D-9197-7BEF2AF83EB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391" y="2723974"/>
            <a:ext cx="3027811" cy="743619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71933" y="3634110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对数似然函数</a:t>
            </a:r>
          </a:p>
        </p:txBody>
      </p:sp>
      <p:pic>
        <p:nvPicPr>
          <p:cNvPr id="12" name="图片 11" descr="\documentclass{article}&#10;\usepackage{amsmath}&#10;\pagestyle{empty}&#10;\begin{document}&#10;&#10;$$&#10;\begin{array}{ll}&#10;L(w)&amp;=\log\prod\limits_{i=1}^{n}\prod\limits_{k=1}^{K}(P(Y=y_i|x_i))^{I_{\{y_i=k\}}}\\&#10;&amp;=\sum\limits_{i=1}^n\sum\limits_{k=1}^K{I_{\{y_i=k\}}}\log P(Y=y_i|x_i)&#10;\end{array}&#10;$$&#10;&#10;\end{document}" title="IguanaTex Bitmap Display">
            <a:extLst>
              <a:ext uri="{FF2B5EF4-FFF2-40B4-BE49-F238E27FC236}">
                <a16:creationId xmlns:a16="http://schemas.microsoft.com/office/drawing/2014/main" id="{A49DB7EA-B7A2-9263-1050-0D91E70DD97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443" y="3606872"/>
            <a:ext cx="4472382" cy="1231238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$&#10;\arg\max\limits_{w}L(w)&#10;$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458" y="5304697"/>
            <a:ext cx="1434084" cy="34442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93512" y="5132424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最优化问题</a:t>
            </a:r>
          </a:p>
        </p:txBody>
      </p:sp>
      <p:pic>
        <p:nvPicPr>
          <p:cNvPr id="8" name="图片 7" descr="\documentclass{article}&#10;\usepackage{amsmath}&#10;\pagestyle{empty}&#10;\begin{document}&#10;$\begin{array}{l}&#10;P(Y=k|x)=\frac{\exp(w_k\cdot x)}{1+\sum\limits_{k=1}^{K-1}\exp(w_k\cdot x)}\\&#10;k=1,2,\cdots,K-1\\&#10;P(Y=k|x)=\frac{1}{1+\sum\limits_{k=1}^{K-1}\exp(w_k\cdot x)}&#10;\end{array}&#10;$&#10;&#10;&#10;&#10;&#10;\end{document}" title="IguanaTex Bitmap Display">
            <a:extLst>
              <a:ext uri="{FF2B5EF4-FFF2-40B4-BE49-F238E27FC236}">
                <a16:creationId xmlns:a16="http://schemas.microsoft.com/office/drawing/2014/main" id="{286B99F6-E1E7-00D8-1976-4AB667DADFF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316" y="2006031"/>
            <a:ext cx="3212190" cy="1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99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"/>
  <p:tag name="ORIGINALWIDTH" val="413.25"/>
  <p:tag name="LATEXADDIN" val="\documentclass{article}&#10;\usepackage{amsmath}&#10;\pagestyle{empty}&#10;\begin{document}&#10;&#10;$$\frac{1}{1+e^{-x}}$$&#10;&#10;&#10;\end{document}"/>
  <p:tag name="IGUANATEXSIZE" val="32"/>
  <p:tag name="IGUANATEXCURSOR" val="101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75"/>
  <p:tag name="ORIGINALWIDTH" val="1733.25"/>
  <p:tag name="LATEXADDIN" val="\documentclass{article}&#10;\usepackage{amsmath}&#10;\pagestyle{empty}&#10;\begin{document}&#10;&#10;$F(x)=P(X\leq x)=\frac{1}{1+e^{-(x-\mu)/\gamma}}$&#10;&#10;&#10;\end{document}"/>
  <p:tag name="IGUANATEXSIZE" val="36"/>
  <p:tag name="IGUANATEXCURSOR" val="128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3.25"/>
  <p:tag name="ORIGINALWIDTH" val="1182.75"/>
  <p:tag name="LATEXADDIN" val="\documentclass{article}&#10;\usepackage{amsmath}&#10;\pagestyle{empty}&#10;\begin{document}&#10;&#10;$f(x)=\frac{e^{-(x-\mu)/\gamma}}{\gamma(1+e^{-(x-\mu)/\gamma})^2}$&#10;&#10;&#10;\end{document}"/>
  <p:tag name="IGUANATEXSIZE" val="36"/>
  <p:tag name="IGUANATEXCURSOR" val="147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.4762"/>
  <p:tag name="ORIGINALWIDTH" val="1717.285"/>
  <p:tag name="LATEXADDIN" val="\documentclass{article}&#10;\usepackage{amsmath}&#10;\pagestyle{empty}&#10;\begin{document}&#10;&#10;$&#10;f(x)=F'(x)=\frac{\exp(-(x-\mu)/\gamma}{\gamma(\exp(-(x-\mu)/\gamma)^2}&#10;$&#10;\end{document}"/>
  <p:tag name="IGUANATEXSIZE" val="20"/>
  <p:tag name="IGUANATEXCURSOR" val="155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1789.276"/>
  <p:tag name="LATEXADDIN" val="\documentclass{article}&#10;\usepackage{amsmath}&#10;\pagestyle{empty}&#10;\begin{document}&#10;&#10;$&#10;F(-x+\mu)-\frac{1}{2}=-F(x-\mu)+\frac{1}{2}&#10;$&#10;\end{document}"/>
  <p:tag name="IGUANATEXSIZE" val="20"/>
  <p:tag name="IGUANATEXCURSOR" val="126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43.757"/>
  <p:tag name="LATEXADDIN" val="\documentclass{article}&#10;\usepackage{amsmath}&#10;\pagestyle{empty}&#10;\begin{document}&#10;&#10;$$\mathcal{D}=\{(x_1,y_1),(x_2,y_2),\cdots,(x_n,y_n)\}$$&#10;&#10;&#10;\end{document}"/>
  <p:tag name="IGUANATEXSIZE" val="28"/>
  <p:tag name="IGUANATEXCURSOR" val="13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419.1976"/>
  <p:tag name="LATEXADDIN" val="\documentclass{article}&#10;\usepackage{amsmath}&#10;\pagestyle{empty}&#10;\begin{document}&#10;&#10;$$x_i\in\mathbf{R}^{d}$$&#10;&#10;&#10;\end{document}"/>
  <p:tag name="IGUANATEXSIZE" val="28"/>
  <p:tag name="IGUANATEXCURSOR" val="10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546.75"/>
  <p:tag name="LATEXADDIN" val="\documentclass{article}&#10;\usepackage{amsmath}&#10;\pagestyle{empty}&#10;\begin{document}&#10;&#10;$$y_i\in\{0,1\}$$&#10;&#10;&#10;\end{document}"/>
  <p:tag name="IGUANATEXSIZE" val="28"/>
  <p:tag name="IGUANATEXCURSOR" val="95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516"/>
  <p:tag name="LATEXADDIN" val="\documentclass{article}&#10;\usepackage{amsmath}&#10;\pagestyle{empty}&#10;\begin{document}&#10;&#10;$$y^*=f(x)$$&#10;&#10;&#10;\end{document}"/>
  <p:tag name="IGUANATEXSIZE" val="28"/>
  <p:tag name="IGUANATEXCURSOR" val="91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.25"/>
  <p:tag name="ORIGINALWIDTH" val="186"/>
  <p:tag name="LATEXADDIN" val="\documentclass{article}&#10;\usepackage{amsmath}&#10;\pagestyle{empty}&#10;\begin{document}&#10;&#10;$$x^{(1)}$$&#10;&#10;&#10;\end{document}"/>
  <p:tag name="IGUANATEXSIZE" val="24"/>
  <p:tag name="IGUANATEXCURSOR" val="89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.25"/>
  <p:tag name="ORIGINALWIDTH" val="186"/>
  <p:tag name="LATEXADDIN" val="\documentclass{article}&#10;\usepackage{amsmath}&#10;\pagestyle{empty}&#10;\begin{document}&#10;&#10;$$x^{(2)}$$&#10;&#10;&#10;\end{document}"/>
  <p:tag name="IGUANATEXSIZE" val="24"/>
  <p:tag name="IGUANATEXCURSOR" val="88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.25"/>
  <p:tag name="ORIGINALWIDTH" val="186"/>
  <p:tag name="LATEXADDIN" val="\documentclass{article}&#10;\usepackage{amsmath}&#10;\pagestyle{empty}&#10;\begin{document}&#10;&#10;$$x^{(3)}$$&#10;&#10;&#10;\end{document}"/>
  <p:tag name="IGUANATEXSIZE" val="24"/>
  <p:tag name="IGUANATEXCURSOR" val="88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5"/>
  <p:tag name="ORIGINALWIDTH" val="142.5"/>
  <p:tag name="LATEXADDIN" val="\documentclass{article}&#10;\usepackage{amsmath}&#10;\pagestyle{empty}&#10;\begin{document}&#10;&#10;$$+1$$&#10;&#10;&#10;\end{document}"/>
  <p:tag name="IGUANATEXSIZE" val="24"/>
  <p:tag name="IGUANATEXCURSOR" val="85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.75"/>
  <p:tag name="ORIGINALWIDTH" val="375"/>
  <p:tag name="LATEXADDIN" val="\documentclass{article}&#10;\usepackage{amsmath}&#10;\pagestyle{empty}&#10;\begin{document}&#10;&#10;$$h_{w,b}(x)$$&#10;&#10;&#10;\end{document}"/>
  <p:tag name="IGUANATEXSIZE" val="32"/>
  <p:tag name="IGUANATEXCURSOR" val="93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25"/>
  <p:tag name="ORIGINALWIDTH" val="1159.5"/>
  <p:tag name="LATEXADDIN" val="\documentclass{article}&#10;\usepackage{amsmath}&#10;\pagestyle{empty}&#10;\begin{document}&#10;&#10;$$h_{w,b}(x)=f(w^Tx+b)$$&#10;&#10;&#10;\end{document}"/>
  <p:tag name="IGUANATEXSIZE" val="36"/>
  <p:tag name="IGUANATEXCURSOR" val="93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1073.116"/>
  <p:tag name="LATEXADDIN" val="\documentclass{article}&#10;\usepackage{amsmath}&#10;\pagestyle{empty}&#10;\begin{document}&#10;&#10;$$f(z)=\frac{1}{1+exp(-z)}$$&#10;&#10;&#10;\end{document}"/>
  <p:tag name="IGUANATEXSIZE" val="36"/>
  <p:tag name="IGUANATEXCURSOR" val="104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9674"/>
  <p:tag name="ORIGINALWIDTH" val="1454.818"/>
  <p:tag name="LATEXADDIN" val="\documentclass{article}&#10;\usepackage{amsmath}&#10;\pagestyle{empty}&#10;\begin{document}&#10;&#10;$\begin{array}{l}&#10;w=(w^{(1)},w^{(2)},\cdots,w^{(d)})^T\\&#10;b&#10;\end{array}$&#10;&#10;&#10;\end{document}"/>
  <p:tag name="IGUANATEXSIZE" val="20"/>
  <p:tag name="IGUANATEXCURSOR" val="135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.75"/>
  <p:tag name="ORIGINALWIDTH" val="179.25"/>
  <p:tag name="LATEXADDIN" val="\documentclass{article}&#10;\usepackage{amsmath}&#10;\pagestyle{empty}&#10;\begin{document}&#10;&#10;$\frac{p}{1-p}$&#10;&#10;&#10;\end{document}"/>
  <p:tag name="IGUANATEXSIZE" val="36"/>
  <p:tag name="IGUANATEXCURSOR" val="94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.75"/>
  <p:tag name="ORIGINALWIDTH" val="939.75"/>
  <p:tag name="LATEXADDIN" val="\documentclass{article}&#10;\usepackage{amsmath}&#10;\pagestyle{empty}&#10;\begin{document}&#10;&#10;$\mathrm{logit}(p)=\log\frac{p}{1-p}$&#10;&#10;&#10;\end{document}"/>
  <p:tag name="IGUANATEXSIZE" val="36"/>
  <p:tag name="IGUANATEXCURSOR" val="104"/>
  <p:tag name="TRANSPARENCY" val="True"/>
  <p:tag name="LATEXENGINEID" val="0"/>
  <p:tag name="TEMPFOLDER" val="F:\Njau\Course\"/>
  <p:tag name="LATEXFORMHEIGHT" val="327.25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5"/>
  <p:tag name="ORIGINALWIDTH" val="1320.75"/>
  <p:tag name="LATEXADDIN" val="\documentclass{article}&#10;\usepackage{amsmath}&#10;\pagestyle{empty}&#10;\begin{document}&#10;&#10;$P(Y=1|x)=\frac{\exp(w\cdot x)}{1+\exp(w\cdot x)}$&#10;&#10;&#10;\end{document}"/>
  <p:tag name="IGUANATEXSIZE" val="36"/>
  <p:tag name="IGUANATEXCURSOR" val="129"/>
  <p:tag name="TRANSPARENCY" val="True"/>
  <p:tag name="LATEXENGINEID" val="0"/>
  <p:tag name="TEMPFOLDER" val="F:\Njau\Course\"/>
  <p:tag name="LATEXFORMHEIGHT" val="327.25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.7285"/>
  <p:tag name="ORIGINALWIDTH" val="1320.585"/>
  <p:tag name="LATEXADDIN" val="\documentclass{article}&#10;\usepackage{amsmath}&#10;\pagestyle{empty}&#10;\begin{document}&#10;&#10;$P(Y=0|x)=\frac{1}{1+\exp(w\cdot x)}$&#10;&#10;&#10;\end{document}"/>
  <p:tag name="IGUANATEXSIZE" val="36"/>
  <p:tag name="IGUANATEXCURSOR" val="87"/>
  <p:tag name="TRANSPARENCY" val="True"/>
  <p:tag name="LATEXENGINEID" val="0"/>
  <p:tag name="TEMPFOLDER" val="D:\Tools\Office\"/>
  <p:tag name="LATEXFORMHEIGHT" val="327.25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5"/>
  <p:tag name="ORIGINALWIDTH" val="447"/>
  <p:tag name="LATEXADDIN" val="\documentclass{article}&#10;\usepackage{amsmath}&#10;\pagestyle{empty}&#10;\begin{document}&#10;&#10;$\frac{P(Y=1|x)}{P(Y=0|x)}$&#10;&#10;&#10;\end{document}"/>
  <p:tag name="IGUANATEXSIZE" val="36"/>
  <p:tag name="IGUANATEXCURSOR" val="103"/>
  <p:tag name="TRANSPARENCY" val="True"/>
  <p:tag name="LATEXENGINEID" val="0"/>
  <p:tag name="TEMPFOLDER" val="F:\Njau\Course\"/>
  <p:tag name="LATEXFORMHEIGHT" val="327.25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5"/>
  <p:tag name="ORIGINALWIDTH" val="639.75"/>
  <p:tag name="LATEXADDIN" val="\documentclass{article}&#10;\usepackage{amsmath}&#10;\pagestyle{empty}&#10;\begin{document}&#10;&#10;$\log\frac{P(Y=1|x)}{P(Y=0|x)}$&#10;&#10;&#10;\end{document}"/>
  <p:tag name="IGUANATEXSIZE" val="36"/>
  <p:tag name="IGUANATEXCURSOR" val="86"/>
  <p:tag name="TRANSPARENCY" val="True"/>
  <p:tag name="LATEXENGINEID" val="0"/>
  <p:tag name="TEMPFOLDER" val="F:\Njau\Course\"/>
  <p:tag name="LATEXFORMHEIGHT" val="327.25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525.75"/>
  <p:tag name="LATEXADDIN" val="\documentclass{article}&#10;\usepackage{amsmath}&#10;\pagestyle{empty}&#10;\begin{document}&#10;&#10;$\exp(w\cdot x)$&#10;&#10;&#10;\end{document}"/>
  <p:tag name="IGUANATEXSIZE" val="36"/>
  <p:tag name="IGUANATEXCURSOR" val="96"/>
  <p:tag name="TRANSPARENCY" val="True"/>
  <p:tag name="LATEXENGINEID" val="0"/>
  <p:tag name="TEMPFOLDER" val="F:\Njau\Course\"/>
  <p:tag name="LATEXFORMHEIGHT" val="327.25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5"/>
  <p:tag name="ORIGINALWIDTH" val="245.25"/>
  <p:tag name="LATEXADDIN" val="\documentclass{article}&#10;\usepackage{amsmath}&#10;\pagestyle{empty}&#10;\begin{document}&#10;&#10;$w\cdot x$&#10;&#10;&#10;\end{document}"/>
  <p:tag name="IGUANATEXSIZE" val="36"/>
  <p:tag name="IGUANATEXCURSOR" val="90"/>
  <p:tag name="TRANSPARENCY" val="True"/>
  <p:tag name="LATEXENGINEID" val="0"/>
  <p:tag name="TEMPFOLDER" val="F:\Njau\Course\"/>
  <p:tag name="LATEXFORMHEIGHT" val="327.25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43.757"/>
  <p:tag name="LATEXADDIN" val="\documentclass{article}&#10;\usepackage{amsmath}&#10;\pagestyle{empty}&#10;\begin{document}&#10;&#10;$$\mathcal{D}=\{(x_1,y_1),(x_2,y_2),\cdots,(x_n,y_n)\}$$&#10;&#10;&#10;\end{document}"/>
  <p:tag name="IGUANATEXSIZE" val="28"/>
  <p:tag name="IGUANATEXCURSOR" val="12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.5"/>
  <p:tag name="ORIGINALWIDTH" val="1828.5"/>
  <p:tag name="LATEXADDIN" val="\documentclass{article}&#10;\usepackage{amsmath}&#10;\pagestyle{empty}&#10;\begin{document}&#10;&#10;$P(Y=y|x)=\pi(x)^y(1-\pi(x))^{1-y}$&#10;&#10;&#10;\end{document}"/>
  <p:tag name="IGUANATEXSIZE" val="20"/>
  <p:tag name="IGUANATEXCURSOR" val="89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85.1894"/>
  <p:tag name="LATEXADDIN" val="\documentclass{article}&#10;\usepackage{amsmath}&#10;\pagestyle{empty}&#10;\begin{document}&#10;&#10;$P(y|x)=$&#10;&#10;&#10;\end{document}"/>
  <p:tag name="IGUANATEXSIZE" val="20"/>
  <p:tag name="IGUANATEXCURSOR" val="89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2406.449"/>
  <p:tag name="LATEXADDIN" val="\documentclass{article}&#10;\usepackage{amsmath}&#10;\pagestyle{empty}&#10;\begin{document}&#10;&#10;$P(Y=y|x)=\pi(x)^y(1-\pi(x))^{1-y},y\in\{0,1\}$&#10;&#10;&#10;\end{document}"/>
  <p:tag name="IGUANATEXSIZE" val="20"/>
  <p:tag name="IGUANATEXCURSOR" val="125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.5"/>
  <p:tag name="ORIGINALWIDTH" val="1862.25"/>
  <p:tag name="LATEXADDIN" val="\documentclass{article}&#10;\usepackage{amsmath}&#10;\pagestyle{empty}&#10;\begin{document}&#10;&#10;$P(y_1|x_1)=\pi(x_1)^{y_1}(1-\pi(x_1))^{1-y_1}$&#10;&#10;&#10;\end{document}"/>
  <p:tag name="IGUANATEXSIZE" val="20"/>
  <p:tag name="IGUANATEXCURSOR" val="117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.5"/>
  <p:tag name="ORIGINALWIDTH" val="1864.5"/>
  <p:tag name="LATEXADDIN" val="\documentclass{article}&#10;\usepackage{amsmath}&#10;\pagestyle{empty}&#10;\begin{document}&#10;&#10;$P(y_2|x_2)=\pi(x_2)^{y_2}(1-\pi(x_2))^{1-y_2}$&#10;&#10;&#10;\end{document}"/>
  <p:tag name="IGUANATEXSIZE" val="20"/>
  <p:tag name="IGUANATEXCURSOR" val="126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.5"/>
  <p:tag name="ORIGINALWIDTH" val="1865.25"/>
  <p:tag name="LATEXADDIN" val="\documentclass{article}&#10;\usepackage{amsmath}&#10;\pagestyle{empty}&#10;\begin{document}&#10;&#10;$P(y_3|x_3)=\pi(x_3)^{y_3}(1-\pi(x_3))^{1-y_3}$&#10;&#10;&#10;\end{document}"/>
  <p:tag name="IGUANATEXSIZE" val="20"/>
  <p:tag name="IGUANATEXCURSOR" val="126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.5"/>
  <p:tag name="ORIGINALWIDTH" val="290.25"/>
  <p:tag name="LATEXADDIN" val="\documentclass{article}&#10;\usepackage{amsmath}&#10;\pagestyle{empty}&#10;\begin{document}&#10;&#10;$\cdots\cdots$&#10;&#10;&#10;\end{document}"/>
  <p:tag name="IGUANATEXSIZE" val="20"/>
  <p:tag name="IGUANATEXCURSOR" val="94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7.1803"/>
  <p:tag name="ORIGINALWIDTH" val="2017.248"/>
  <p:tag name="LATEXADDIN" val="\documentclass{article}&#10;\usepackage{amsmath}&#10;\pagestyle{empty}&#10;\begin{document}&#10;&#10;$\begin{array}{ll}&#10;L(x;w)&amp;=\prod\limits_{i=1}^{n}P(y_i|x_i)\\&#10;&amp;=\prod\limits_{i=1}^n\pi(x_i)^{y_i}(1-\pi(x_i))^{1-y_i}&#10;\end{array}$&#10;&#10;&#10;\end{document}"/>
  <p:tag name="IGUANATEXSIZE" val="20"/>
  <p:tag name="IGUANATEXCURSOR" val="165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5"/>
  <p:tag name="ORIGINALWIDTH" val="937.5"/>
  <p:tag name="LATEXADDIN" val="\documentclass{article}&#10;\usepackage{amsmath}&#10;\pagestyle{empty}&#10;\begin{document}&#10;&#10;$\pi(x)=\frac{\exp(w\cdot x)}{1+\exp(w\cdot x)}$&#10;&#10;\end{document}"/>
  <p:tag name="IGUANATEXSIZE" val="20"/>
  <p:tag name="IGUANATEXCURSOR" val="12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361.08"/>
  <p:tag name="LATEXADDIN" val="\documentclass{article}&#10;\usepackage{amsmath}&#10;\pagestyle{empty}&#10;\begin{document}&#10;&#10;$$&#10;\prod\limits_{i=1}^{n}\pi(x_i)^{y_i}(1-\pi(x_i))^{1-y_i}&#10;$$&#10;&#10;&#10;\end{document}"/>
  <p:tag name="IGUANATEXSIZE" val="20"/>
  <p:tag name="IGUANATEXCURSOR" val="105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7.608"/>
  <p:tag name="ORIGINALWIDTH" val="2725.159"/>
  <p:tag name="LATEXADDIN" val="\documentclass{article}&#10;\usepackage{amsmath}&#10;\pagestyle{empty}&#10;\begin{document}&#10;&#10;$$&#10;\begin{array}{ll}&#10;L(w)&amp;=\log\prod\limits_{i=1}^{n}\pi(x_i)^{y_i}(1-\pi(x_i))^{1-y_i}\\&#10;&amp;=\sum\limits_{i=1}^{n}\left({y_i}\log\pi(x_i)+(1-y_i)\log(1-\pi(x_i))\right)\\&#10;&amp;=\sum\limits_{i=1}^{n}\left({y_i}\log\frac{\pi(x_i)}{1-\pi(x_i)}+\log(1-\pi(x_i))\right)\\&#10;&amp;=\sum\limits_{i=1}^{n}\left[{y_i}(w\cdot x_i)-\log(1+\exp(w\cdot x_i))\right]\\&#10;&#10;&#10;\end{array}&#10;$$&#10;&#10;&#10;\end{document}"/>
  <p:tag name="IGUANATEXSIZE" val="20"/>
  <p:tag name="IGUANATEXCURSOR" val="365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9.5"/>
  <p:tag name="ORIGINALWIDTH" val="705.75"/>
  <p:tag name="LATEXADDIN" val="\documentclass{article}&#10;\usepackage{amsmath}&#10;\pagestyle{empty}&#10;\begin{document}&#10;&#10;$$&#10;\arg\max\limits_{w}L(w)&#10;$$&#10;&#10;&#10;\end{document}"/>
  <p:tag name="IGUANATEXSIZE" val="20"/>
  <p:tag name="IGUANATEXCURSOR" val="92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5"/>
  <p:tag name="ORIGINALWIDTH" val="83.25"/>
  <p:tag name="LATEXADDIN" val="\documentclass{article}&#10;\usepackage{amsmath}&#10;\pagestyle{empty}&#10;\begin{document}&#10;&#10;$$&#10;\hat{w}&#10;$$&#10;&#10;&#10;\end{document}"/>
  <p:tag name="IGUANATEXSIZE" val="20"/>
  <p:tag name="IGUANATEXCURSOR" val="91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3.75"/>
  <p:tag name="ORIGINALWIDTH" val="2706"/>
  <p:tag name="LATEXADDIN" val="\documentclass{article}&#10;\usepackage{amsmath}&#10;\pagestyle{empty}&#10;\begin{document}&#10;&#10;$$&#10;\min_{w}\ell(w)=-\sum\limits_{i=1}^{N}\left[{y_i}(w\cdot x_i)-\log(1+\exp(w\cdot x_i))\right]&#10;$$&#10;&#10;&#10;\end{document}"/>
  <p:tag name="IGUANATEXSIZE" val="20"/>
  <p:tag name="IGUANATEXCURSOR" val="153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3.75"/>
  <p:tag name="ORIGINALWIDTH" val="2706"/>
  <p:tag name="LATEXADDIN" val="\documentclass{article}&#10;\usepackage{amsmath}&#10;\pagestyle{empty}&#10;\begin{document}&#10;&#10;$$&#10;\min_{w}\ell(w)=-\sum\limits_{i=1}^{N}\left[{y_i}(w\cdot x_i)-\log(1+\exp(w\cdot x_i))\right]&#10;$$&#10;&#10;&#10;\end{document}"/>
  <p:tag name="IGUANATEXSIZE" val="20"/>
  <p:tag name="IGUANATEXCURSOR" val="153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5"/>
  <p:tag name="ORIGINALWIDTH" val="165.75"/>
  <p:tag name="LATEXADDIN" val="\documentclass{article}&#10;\usepackage{amsmath}&#10;\pagestyle{empty}&#10;\begin{document}&#10;&#10;$$\frac{\partial\ell}{\partial w}$$&#10;&#10;&#10;\end{document}"/>
  <p:tag name="IGUANATEXSIZE" val="20"/>
  <p:tag name="IGUANATEXCURSOR" val="113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5"/>
  <p:tag name="ORIGINALWIDTH" val="165.75"/>
  <p:tag name="LATEXADDIN" val="\documentclass{article}&#10;\usepackage{amsmath}&#10;\pagestyle{empty}&#10;\begin{document}&#10;&#10;$$\frac{\partial\ell}{\partial w}$$&#10;&#10;&#10;\end{document}"/>
  <p:tag name="IGUANATEXSIZE" val="20"/>
  <p:tag name="IGUANATEXCURSOR" val="113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1997.25"/>
  <p:tag name="LATEXADDIN" val="\documentclass{article}&#10;\usepackage{amsmath}&#10;\pagestyle{empty}&#10;\begin{document}&#10;&#10;$$\mathcal{D}=\{(x_1,y_1),(x_2,y_2),\cdots,(x_N,y_N)\}$$&#10;&#10;&#10;\end{document}"/>
  <p:tag name="IGUANATEXSIZE" val="28"/>
  <p:tag name="IGUANATEXCURSOR" val="94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5"/>
  <p:tag name="ORIGINALWIDTH" val="426.75"/>
  <p:tag name="LATEXADDIN" val="\documentclass{article}&#10;\usepackage{amsmath}&#10;\pagestyle{empty}&#10;\begin{document}&#10;&#10;$$x_i\in\mathbf{R}^{n}$$&#10;&#10;&#10;\end{document}"/>
  <p:tag name="IGUANATEXSIZE" val="28"/>
  <p:tag name="IGUANATEXCURSOR" val="89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644.25"/>
  <p:tag name="LATEXADDIN" val="\documentclass{article}&#10;\usepackage{amsmath}&#10;\pagestyle{empty}&#10;\begin{document}&#10;&#10;$$y_i\in\{-1,1\}$$&#10;&#10;&#10;\end{document}"/>
  <p:tag name="IGUANATEXSIZE" val="28"/>
  <p:tag name="IGUANATEXCURSOR" val="93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5"/>
  <p:tag name="ORIGINALWIDTH" val="938.25"/>
  <p:tag name="LATEXADDIN" val="\documentclass{article}&#10;\usepackage{amsmath}&#10;\pagestyle{empty}&#10;\begin{document}&#10;&#10;$w_1,w_2,\cdots,w_{K-1}$&#10;&#10;&#10;\end{document}"/>
  <p:tag name="IGUANATEXSIZE" val="20"/>
  <p:tag name="IGUANATEXCURSOR" val="104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3.5"/>
  <p:tag name="ORIGINALWIDTH" val="1581"/>
  <p:tag name="LATEXADDIN" val="\documentclass{article}&#10;\usepackage{amsmath}&#10;\pagestyle{empty}&#10;\begin{document}&#10;&#10;$\begin{array}{l}P(Y=k|x)=\frac{\exp(w_k\cdot x)}{1+\sum\limits_{k=1}^{K-1}\exp(w_k\cdot x)}\\&#10;k=1,2,\cdots,K-1&#10;\end{array}$&#10;&#10;&#10;\end{document}"/>
  <p:tag name="IGUANATEXSIZE" val="36"/>
  <p:tag name="IGUANATEXCURSOR" val="204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5"/>
  <p:tag name="ORIGINALWIDTH" val="1627.5"/>
  <p:tag name="LATEXADDIN" val="\documentclass{article}&#10;\usepackage{amsmath}&#10;\pagestyle{empty}&#10;\begin{document}&#10;&#10;$P(Y=K|x)=\frac{1}{1+\sum\limits_{k=1}^{K-1}\exp(w_k\cdot x)}$&#10;&#10;&#10;\end{document}"/>
  <p:tag name="IGUANATEXSIZE" val="36"/>
  <p:tag name="IGUANATEXCURSOR" val="98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2"/>
  <p:tag name="ORIGINALWIDTH" val="3208.5"/>
  <p:tag name="LATEXADDIN" val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/>
  <p:tag name="IGUANATEXSIZE" val="20"/>
  <p:tag name="IGUANATEXCURSOR" val="28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1039.5"/>
  <p:tag name="LATEXADDIN" val="\documentclass{article}&#10;\usepackage{amsmath}&#10;\pagestyle{empty}&#10;\begin{document}&#10;&#10;$y\in\{1,2,3,\cdots,K\}$&#10;&#10;&#10;\end{document}"/>
  <p:tag name="IGUANATEXSIZE" val="20"/>
  <p:tag name="IGUANATEXCURSOR" val="102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810"/>
  <p:tag name="LATEXADDIN" val="\documentclass{article}&#10;\usepackage{amsmath}&#10;\pagestyle{empty}&#10;\begin{document}&#10;&#10;$P(Y=y|x)=?$&#10;&#10;&#10;\end{document}"/>
  <p:tag name="IGUANATEXSIZE" val="20"/>
  <p:tag name="IGUANATEXCURSOR" val="8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2"/>
  <p:tag name="ORIGINALWIDTH" val="3208.5"/>
  <p:tag name="LATEXADDIN" val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/>
  <p:tag name="IGUANATEXSIZE" val="20"/>
  <p:tag name="IGUANATEXCURSOR" val="28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810"/>
  <p:tag name="LATEXADDIN" val="\documentclass{article}&#10;\usepackage{amsmath}&#10;\pagestyle{empty}&#10;\begin{document}&#10;&#10;$P(Y=y|x)=?$&#10;&#10;&#10;\end{document}"/>
  <p:tag name="IGUANATEXSIZE" val="20"/>
  <p:tag name="IGUANATEXCURSOR" val="8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438"/>
  <p:tag name="LATEXADDIN" val="\documentclass{article}&#10;\usepackage{amsmath}&#10;\pagestyle{empty}&#10;\begin{document}&#10;$$&#10;h_{w}(x)=&#10;$$&#10;&#10;&#10;&#10;&#10;\end{document}"/>
  <p:tag name="IGUANATEXSIZE" val="20"/>
  <p:tag name="IGUANATEXCURSOR" val="92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1218.75"/>
  <p:tag name="LATEXADDIN" val="\documentclass{article}&#10;\usepackage{amsmath}&#10;\pagestyle{empty}&#10;\begin{document}&#10;&#10;$&#10;\exp(w_K\cdot x),~~~w_K=0&#10;$&#10;&#10;&#10;\end{document}"/>
  <p:tag name="IGUANATEXSIZE" val="20"/>
  <p:tag name="IGUANATEXCURSOR" val="99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2"/>
  <p:tag name="ORIGINALWIDTH" val="2237.25"/>
  <p:tag name="LATEXADDIN" val="\documentclass{article}&#10;\usepackage{amsmath}&#10;\pagestyle{empty}&#10;\begin{document}&#10;$$&#10;=\frac{1}{1+\sum\limits_{k=1}^{K-1}\exp(w_k\cdot x)}\left[&#10;\begin{array}{c}&#10;\exp(w_1\cdot x)\\&#10;\exp(w_2\cdot x)\\&#10;\vdots\\&#10;\exp(w_{K-1}\cdot x)\\&#10;\exp(w_{K}\cdot x)&#10;\end{array}&#10;\right]&#10;$$&#10;&#10;&#10;&#10;&#10;\end{document}"/>
  <p:tag name="IGUANATEXSIZE" val="20"/>
  <p:tag name="IGUANATEXCURSOR" val="84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2"/>
  <p:tag name="ORIGINALWIDTH" val="3208.5"/>
  <p:tag name="LATEXADDIN" val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/>
  <p:tag name="IGUANATEXSIZE" val="20"/>
  <p:tag name="IGUANATEXCURSOR" val="28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5"/>
  <p:tag name="ORIGINALWIDTH" val="4215"/>
  <p:tag name="LATEXADDIN" val="\documentclass{article}&#10;\usepackage{amsmath}&#10;\pagestyle{empty}&#10;\begin{document}&#10;&#10;$$&#10;P(Y=y|x)=(P(Y=1|x))^{I_{\{y=1\}}}\cdot (P(Y=2|x))^{I_{\{y=2\}}}\cdots (P(Y=K|x))^{I_{\{y=K\}}}&#10;$$&#10;&#10;&#10;\end{document}"/>
  <p:tag name="IGUANATEXSIZE" val="20"/>
  <p:tag name="IGUANATEXCURSOR" val="174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1337.25"/>
  <p:tag name="LATEXADDIN" val="\documentclass{article}&#10;\usepackage{amsmath}&#10;\pagestyle{empty}&#10;\begin{document}&#10;&#10;$$&#10;I_{\{y=k\}}=\left\{\begin{array}{l}&#10;1,~~\mathrm{If}~~ y=k\\&#10;0,~~\mathrm{If}~~ y\neq k&#10;\end{array}&#10;\right.&#10;$$&#10;&#10;&#10;\end{document}"/>
  <p:tag name="IGUANATEXSIZE" val="20"/>
  <p:tag name="IGUANATEXCURSOR" val="161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2"/>
  <p:tag name="ORIGINALWIDTH" val="3208.5"/>
  <p:tag name="LATEXADDIN" val="\documentclass{article}&#10;\usepackage{amsmath}&#10;\pagestyle{empty}&#10;\begin{document}&#10;$$&#10;\left[&#10;\begin{array}{c}&#10;P(Y=1|x)\\&#10;P(Y=2|x)\\&#10;\vdots\\&#10;P(Y=K|x)&#10;\end{array}\right]=\frac{1}{1+\sum\limits_{k=1}^{K-1}\exp(w_k\cdot x)}\left[&#10;\begin{array}{c}&#10;\exp(w_1\cdot x)\\&#10;\exp(w_2\cdot x)\\&#10;\vdots\\&#10;\exp(w_{K-1}\cdot x)\\&#10;1&#10;\end{array}&#10;\right]&#10;$$&#10;&#10;&#10;&#10;&#10;\end{document}"/>
  <p:tag name="IGUANATEXSIZE" val="20"/>
  <p:tag name="IGUANATEXCURSOR" val="28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5"/>
  <p:tag name="ORIGINALWIDTH" val="4215"/>
  <p:tag name="LATEXADDIN" val="\documentclass{article}&#10;\usepackage{amsmath}&#10;\pagestyle{empty}&#10;\begin{document}&#10;&#10;$$&#10;P(Y=y|x)=(P(Y=1|x))^{I_{\{y=1\}}}\cdot (P(Y=2|x))^{I_{\{y=2\}}}\cdots (P(Y=K|x))^{I_{\{y=K\}}}&#10;$$&#10;&#10;&#10;\end{document}"/>
  <p:tag name="IGUANATEXSIZE" val="20"/>
  <p:tag name="IGUANATEXCURSOR" val="174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1337.25"/>
  <p:tag name="LATEXADDIN" val="\documentclass{article}&#10;\usepackage{amsmath}&#10;\pagestyle{empty}&#10;\begin{document}&#10;&#10;$$&#10;I_{\{y=k\}}=\left\{\begin{array}{l}&#10;1,~~\mathrm{If}~~ y=k\\&#10;0,~~\mathrm{If}~~ y\neq k&#10;\end{array}&#10;\right.&#10;$$&#10;&#10;&#10;\end{document}"/>
  <p:tag name="IGUANATEXSIZE" val="20"/>
  <p:tag name="IGUANATEXCURSOR" val="161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5"/>
  <p:tag name="ORIGINALWIDTH" val="3410.25"/>
  <p:tag name="LATEXADDIN" val="\documentclass{article}&#10;\usepackage{amsmath}&#10;\pagestyle{empty}&#10;\begin{document}&#10;&#10;$$&#10;(P(Y=1|x))^{I_{\{y=1\}}}\cdot (P(Y=2|x))^{I_{\{y=2\}}}\cdots (P(Y=K|x))^{I_{\{y=K\}}}&#10;$$&#10;&#10;&#10;\end{document}"/>
  <p:tag name="IGUANATEXSIZE" val="20"/>
  <p:tag name="IGUANATEXCURSOR" val="84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5"/>
  <p:tag name="ORIGINALWIDTH" val="4416.75"/>
  <p:tag name="LATEXADDIN" val="\documentclass{article}&#10;\usepackage{amsmath}&#10;\pagestyle{empty}&#10;\begin{document}&#10;&#10;$$&#10;(P(Y=1|x))^{I_{\{y=1\}}}\cdot (P(Y=2|x))^{I_{\{y=2\}}}\cdot (P(Y=3|x))^{I_{\{y=3\}}}\cdots (P(Y=K|x))^{I_{\{y=K\}}}&#10;$$&#10;&#10;&#10;\end{document}"/>
  <p:tag name="IGUANATEXSIZE" val="20"/>
  <p:tag name="IGUANATEXCURSOR" val="164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5"/>
  <p:tag name="ORIGINALWIDTH" val="4215"/>
  <p:tag name="LATEXADDIN" val="\documentclass{article}&#10;\usepackage{amsmath}&#10;\pagestyle{empty}&#10;\begin{document}&#10;&#10;$$&#10;P(Y=y|x)=(P(Y=1|x))^{I_{\{y=1\}}}\cdot (P(Y=2|x))^{I_{\{y=2\}}}\cdots (P(Y=K|x))^{I_{\{y=K\}}}&#10;$$&#10;&#10;&#10;\end{document}"/>
  <p:tag name="IGUANATEXSIZE" val="20"/>
  <p:tag name="IGUANATEXCURSOR" val="174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"/>
  <p:tag name="ORIGINALWIDTH" val="1989"/>
  <p:tag name="LATEXADDIN" val="\documentclass{article}&#10;\usepackage{amsmath}&#10;\pagestyle{empty}&#10;\begin{document}&#10;&#10;$$&#10;P(Y=y|x)=\prod\limits_{k=1}^{K}(P(Y=y|x))^{I_{\{y=k\}}}$$&#10;&#10;&#10;\end{document}"/>
  <p:tag name="IGUANATEXSIZE" val="20"/>
  <p:tag name="IGUANATEXCURSOR" val="121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1490.064"/>
  <p:tag name="LATEXADDIN" val="\documentclass{article}&#10;\usepackage{amsmath}&#10;\pagestyle{empty}&#10;\begin{document}&#10;&#10;$$&#10;\prod\limits_{i=1}^{n}\prod\limits_{k=1}^{K}(P(Y=y_i|x_i))^{I_{\{y_i=k\}}}$$&#10;&#10;&#10;\end{document}"/>
  <p:tag name="IGUANATEXSIZE" val="20"/>
  <p:tag name="IGUANATEXCURSOR" val="105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5.9243"/>
  <p:tag name="ORIGINALWIDTH" val="2200.975"/>
  <p:tag name="LATEXADDIN" val="\documentclass{article}&#10;\usepackage{amsmath}&#10;\pagestyle{empty}&#10;\begin{document}&#10;&#10;$$&#10;\begin{array}{ll}&#10;L(w)&amp;=\log\prod\limits_{i=1}^{n}\prod\limits_{k=1}^{K}(P(Y=y_i|x_i))^{I_{\{y_i=k\}}}\\&#10;&amp;=\sum\limits_{i=1}^n\sum\limits_{k=1}^K{I_{\{y_i=k\}}}\log P(Y=y_i|x_i)&#10;\end{array}&#10;$$&#10;&#10;\end{document}"/>
  <p:tag name="IGUANATEXSIZE" val="20"/>
  <p:tag name="IGUANATEXCURSOR" val="133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9.5"/>
  <p:tag name="ORIGINALWIDTH" val="705.75"/>
  <p:tag name="LATEXADDIN" val="\documentclass{article}&#10;\usepackage{amsmath}&#10;\pagestyle{empty}&#10;\begin{document}&#10;&#10;$$&#10;\arg\max\limits_{w}L(w)&#10;$$&#10;&#10;&#10;\end{document}"/>
  <p:tag name="IGUANATEXSIZE" val="20"/>
  <p:tag name="IGUANATEXCURSOR" val="92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5.9017"/>
  <p:tag name="ORIGINALWIDTH" val="1580.802"/>
  <p:tag name="LATEXADDIN" val="\documentclass{article}&#10;\usepackage{amsmath}&#10;\pagestyle{empty}&#10;\begin{document}&#10;$\begin{array}{l}&#10;P(Y=k|x)=\frac{\exp(w_k\cdot x)}{1+\sum\limits_{k=1}^{K-1}\exp(w_k\cdot x)}\\&#10;k=1,2,\cdots,K-1\\&#10;P(Y=k|x)=\frac{1}{1+\sum\limits_{k=1}^{K-1}\exp(w_k\cdot x)}&#10;\end{array}&#10;$&#10;&#10;&#10;&#10;&#10;\end{document}"/>
  <p:tag name="IGUANATEXSIZE" val="20"/>
  <p:tag name="IGUANATEXCURSOR" val="211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3701</TotalTime>
  <Words>719</Words>
  <Application>Microsoft Office PowerPoint</Application>
  <PresentationFormat>宽屏</PresentationFormat>
  <Paragraphs>216</Paragraphs>
  <Slides>24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问题</vt:lpstr>
      <vt:lpstr>PowerPoint 演示文稿</vt:lpstr>
      <vt:lpstr>问题定义</vt:lpstr>
      <vt:lpstr>逻辑斯蒂回归</vt:lpstr>
      <vt:lpstr>PowerPoint 演示文稿</vt:lpstr>
      <vt:lpstr>PowerPoint 演示文稿</vt:lpstr>
      <vt:lpstr>模型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songwentao</dc:creator>
  <cp:lastModifiedBy>xin shu</cp:lastModifiedBy>
  <cp:revision>173</cp:revision>
  <dcterms:created xsi:type="dcterms:W3CDTF">2021-09-09T08:07:39Z</dcterms:created>
  <dcterms:modified xsi:type="dcterms:W3CDTF">2026-09-02T09:29:52Z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